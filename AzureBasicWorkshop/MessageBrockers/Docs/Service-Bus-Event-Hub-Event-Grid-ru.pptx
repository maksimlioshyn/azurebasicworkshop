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170" autoAdjust="0"/>
  </p:normalViewPr>
  <p:slideViewPr>
    <p:cSldViewPr snapToGrid="0" snapToObjects="1">
      <p:cViewPr varScale="1">
        <p:scale>
          <a:sx n="64" d="100"/>
          <a:sy n="64" d="100"/>
        </p:scale>
        <p:origin x="67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9189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Титульный слайд. На слайдах размещены только опорные тезисы, развернутая теория находится в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Service Bus, Event Hub и Event Grid закрывают разные классы интеграционных задач в Azure. В совокупности эти сервисы позволяют строить event-driven архитектуру, где компоненты обмениваются сообщениями без жесткой связности. Это повышает масштабируемость, устойчивость к сбоям и скорость развития системы.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Storage Queue предназначена для простых сценариев очередей без сложной маршрутизации. Service Bus предоставляет enterprise-возможности: очереди, топики, подписки, dead-letter, duplicate detection и расширенный контроль доставки. Event Hub оптимизирован под потоковую телеметрию и ingestion с высокой пропускной способностью. Event Grid решает задачу маршрутизации событий между источниками и подписчиками в push-модели. Выбор зависит от типа данных, требований к порядку, масштабу и SLA.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Service Bus выбирают, когда важны гарантии доставки и управление жизненным циклом сообщения. Этот сервис подходит для бизнес-команд, где сообщения могут быть критичными, а обработка - транзакционной. Наличие dead-letter очередей и расширенных механизмов маршрутизации делает Service Bus надежной основой для интеграций между Web App, Function App и другими backend-компонентами.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Queue в Service Bus реализует point-to-point модель: один обработчик получает сообщение для выполнения работы. Topic реализует publish/subscribe: одно сообщение может быть доставлено нескольким подпискам с разной логикой обработки. Relay используется для гибридных сценариев и доступа к локальным ресурсам через облако без прямой публикации on-prem конечных точек в интернет.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Namespace в Service Bus -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логический</a:t>
            </a:r>
            <a:r>
              <a:rPr dirty="0"/>
              <a:t> </a:t>
            </a:r>
            <a:r>
              <a:rPr dirty="0" err="1"/>
              <a:t>контейнер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создаются</a:t>
            </a:r>
            <a:r>
              <a:rPr dirty="0"/>
              <a:t> </a:t>
            </a:r>
            <a:r>
              <a:rPr dirty="0" err="1"/>
              <a:t>очереди</a:t>
            </a:r>
            <a:r>
              <a:rPr dirty="0"/>
              <a:t> и </a:t>
            </a:r>
            <a:r>
              <a:rPr dirty="0" err="1"/>
              <a:t>топики</a:t>
            </a:r>
            <a:r>
              <a:rPr dirty="0"/>
              <a:t>.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конфигурации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выбрать</a:t>
            </a:r>
            <a:r>
              <a:rPr dirty="0"/>
              <a:t> </a:t>
            </a:r>
            <a:r>
              <a:rPr dirty="0" err="1"/>
              <a:t>подходящий</a:t>
            </a:r>
            <a:r>
              <a:rPr dirty="0"/>
              <a:t> tier, </a:t>
            </a:r>
            <a:r>
              <a:rPr dirty="0" err="1"/>
              <a:t>регион</a:t>
            </a:r>
            <a:r>
              <a:rPr dirty="0"/>
              <a:t> </a:t>
            </a:r>
            <a:r>
              <a:rPr dirty="0" err="1"/>
              <a:t>размещения</a:t>
            </a:r>
            <a:r>
              <a:rPr dirty="0"/>
              <a:t> и </a:t>
            </a:r>
            <a:r>
              <a:rPr dirty="0" err="1"/>
              <a:t>сетевую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. </a:t>
            </a: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настраиваться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RBAC и managed identity,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исключить</a:t>
            </a:r>
            <a:r>
              <a:rPr dirty="0"/>
              <a:t> </a:t>
            </a:r>
            <a:r>
              <a:rPr dirty="0" err="1"/>
              <a:t>хранение</a:t>
            </a:r>
            <a:r>
              <a:rPr dirty="0"/>
              <a:t> </a:t>
            </a:r>
            <a:r>
              <a:rPr dirty="0" err="1"/>
              <a:t>секретов</a:t>
            </a:r>
            <a:r>
              <a:rPr dirty="0"/>
              <a:t> в </a:t>
            </a:r>
            <a:r>
              <a:rPr dirty="0" err="1"/>
              <a:t>коде</a:t>
            </a:r>
            <a:r>
              <a:rPr dirty="0"/>
              <a:t>.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создаются</a:t>
            </a:r>
            <a:r>
              <a:rPr dirty="0"/>
              <a:t> </a:t>
            </a:r>
            <a:r>
              <a:rPr dirty="0" err="1"/>
              <a:t>сущности</a:t>
            </a:r>
            <a:r>
              <a:rPr dirty="0"/>
              <a:t> </a:t>
            </a:r>
            <a:r>
              <a:rPr dirty="0" err="1"/>
              <a:t>обмена</a:t>
            </a:r>
            <a:r>
              <a:rPr dirty="0"/>
              <a:t> </a:t>
            </a:r>
            <a:r>
              <a:rPr dirty="0" err="1"/>
              <a:t>сообщениями</a:t>
            </a:r>
            <a:r>
              <a:rPr dirty="0"/>
              <a:t>: queue, topic и subscriptions.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практической реализации Web App публикует сообщения в Service Bus, а Function App получает их через триггеры. Это разделяет слой приема HTTP-запросов и слой фоновой обработки, что повышает устойчивость при пиках нагрузки. Retry-policy при отправке обязателен для корректной обработки кратковременных сетевых и платформенных ошибок.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Event Hub является высокопроизводительным сервисом ingestion для больших потоков событий, например телеметрии устройств, логов приложений и операционных метрик. Он ориентирован на throughput, а не на сложную бизнес-маршрутизацию каждого отдельного сообщения. В результате Event Hub хорошо подходит для аналитических и observability-сценариев.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Event Hub можно полностью подготовить через Azure CLI: создать namespace, event hub и consumer group. В приложении .NET producer отправляет события пакетами, а consumer читает их в своей группе потребителей. Качество работы контролируется в Azure Portal по метрикам входящего потока, задержек обработки и распределению нагрузки.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Partitions в Event Hub обеспечивают параллельность обработки и масштабирование по горизонтали. Consumer Groups позволяют нескольким независимым приложениям читать один и тот же поток событий без конфликтов. Это критично, когда разные команды или подсистемы используют один источник телеметрии для разных задач.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Event Grid реализует событийную маршрутизацию в push-модели. Источники событий публикуют факт изменения состояния, а подписчики получают уведомление практически в реальном времени. Сервис эффективен для реактивных сценариев, например "создан файл", "изменен ресурс", "создан доменный заказ" с последующим запуском Function App или Logic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Связка Event Grid и Logic Apps позволяет быстро собрать автоматизированный процесс без написания большого объема кода. Event Grid запускает Logic App по подписке, а Logic App выполняет шаги интеграции: трансформацию данных, вызов API, уведомления, обработку ошибок и маршрутизацию в другие системы.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191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460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8769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581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126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871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319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163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344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946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235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610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Service Bus, Event Hub, Event Grid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Bus, Event Hub, Event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Интеграция и event-driven архитектура в Azure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Сравнение сервисов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Storage Queue - простая очередь</a:t>
            </a:r>
          </a:p>
          <a:p>
            <a:pPr>
              <a:defRPr sz="2200"/>
            </a:pPr>
            <a:r>
              <a:t>Service Bus - enterprise messaging</a:t>
            </a:r>
          </a:p>
          <a:p>
            <a:pPr>
              <a:defRPr sz="2200"/>
            </a:pPr>
            <a:r>
              <a:t>Event Hub - поток телеметрии</a:t>
            </a:r>
          </a:p>
          <a:p>
            <a:pPr>
              <a:defRPr sz="2200"/>
            </a:pPr>
            <a:r>
              <a:t>Event Grid - маршрутизация событий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2A4B30-77D7-4FFB-8B53-A88BD68CA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80" y="804519"/>
            <a:ext cx="4325112" cy="1049235"/>
          </a:xfrm>
        </p:spPr>
        <p:txBody>
          <a:bodyPr>
            <a:normAutofit/>
          </a:bodyPr>
          <a:lstStyle/>
          <a:p>
            <a:r>
              <a:rPr lang="ru-RU" sz="2800"/>
              <a:t>Когда выбирать </a:t>
            </a:r>
            <a:r>
              <a:rPr lang="en-US" sz="2800"/>
              <a:t>Service Bus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3AAE2E-5D6B-4952-A4BB-546C49F8D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432511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1E4D783-AD45-49E7-B6C7-BBACB8290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4325113" cy="4074172"/>
          </a:xfrm>
        </p:spPr>
        <p:txBody>
          <a:bodyPr>
            <a:normAutofit/>
          </a:bodyPr>
          <a:lstStyle/>
          <a:p>
            <a:pPr>
              <a:defRPr sz="2600"/>
            </a:pPr>
            <a:r>
              <a:rPr dirty="0" err="1"/>
              <a:t>Надежная</a:t>
            </a:r>
            <a:r>
              <a:rPr dirty="0"/>
              <a:t> </a:t>
            </a:r>
            <a:r>
              <a:rPr dirty="0" err="1"/>
              <a:t>доставка</a:t>
            </a:r>
            <a:r>
              <a:rPr dirty="0"/>
              <a:t> </a:t>
            </a:r>
            <a:r>
              <a:rPr dirty="0" err="1"/>
              <a:t>сообщений</a:t>
            </a:r>
            <a:endParaRPr dirty="0"/>
          </a:p>
          <a:p>
            <a:pPr>
              <a:defRPr sz="2200"/>
            </a:pPr>
            <a:r>
              <a:rPr dirty="0"/>
              <a:t>Dead-letter и </a:t>
            </a:r>
            <a:r>
              <a:rPr dirty="0" err="1"/>
              <a:t>транзакционные</a:t>
            </a:r>
            <a:r>
              <a:rPr dirty="0"/>
              <a:t> </a:t>
            </a:r>
            <a:r>
              <a:rPr dirty="0" err="1"/>
              <a:t>сценарии</a:t>
            </a:r>
            <a:endParaRPr dirty="0"/>
          </a:p>
          <a:p>
            <a:pPr>
              <a:defRPr sz="2200"/>
            </a:pPr>
            <a:r>
              <a:rPr dirty="0" err="1"/>
              <a:t>Сложная</a:t>
            </a:r>
            <a:r>
              <a:rPr dirty="0"/>
              <a:t> </a:t>
            </a:r>
            <a:r>
              <a:rPr dirty="0" err="1"/>
              <a:t>маршрутизация</a:t>
            </a:r>
            <a:r>
              <a:rPr dirty="0"/>
              <a:t> и </a:t>
            </a:r>
            <a:r>
              <a:rPr dirty="0" err="1"/>
              <a:t>подписки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270041-1643-C3CE-CE05-3E93D2B1A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733" y="1128652"/>
            <a:ext cx="4637119" cy="46371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5C76AC0-BB6B-419E-A327-AFA297500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3E0B6A3-E197-43D6-82D5-7455DAB1A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79647" y="1847088"/>
            <a:ext cx="41587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9648" y="804520"/>
            <a:ext cx="4158749" cy="1049235"/>
          </a:xfrm>
        </p:spPr>
        <p:txBody>
          <a:bodyPr>
            <a:normAutofit/>
          </a:bodyPr>
          <a:lstStyle/>
          <a:p>
            <a:r>
              <a:t>Queue, Topic, Relay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0E4246-09B8-46D7-A0D2-4D264863A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EEE89F-0ED3-633A-724D-AA5B2E548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553" y="805583"/>
            <a:ext cx="3635394" cy="466076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9647" y="2015732"/>
            <a:ext cx="4158750" cy="3450613"/>
          </a:xfrm>
        </p:spPr>
        <p:txBody>
          <a:bodyPr>
            <a:normAutofit/>
          </a:bodyPr>
          <a:lstStyle/>
          <a:p>
            <a:pPr>
              <a:defRPr sz="2600"/>
            </a:pPr>
            <a:r>
              <a:rPr dirty="0"/>
              <a:t>Queue - point-to-point</a:t>
            </a:r>
          </a:p>
          <a:p>
            <a:pPr>
              <a:defRPr sz="2200"/>
            </a:pPr>
            <a:r>
              <a:rPr dirty="0"/>
              <a:t>Topic - pub/sub</a:t>
            </a:r>
          </a:p>
          <a:p>
            <a:pPr>
              <a:defRPr sz="2200"/>
            </a:pPr>
            <a:r>
              <a:rPr dirty="0"/>
              <a:t>Relay - </a:t>
            </a:r>
            <a:r>
              <a:rPr dirty="0" err="1"/>
              <a:t>гибридный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к on-prem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50C8D8D-B32F-4194-8321-164EC4427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BD24D8B-8573-4260-B700-E860AD6D2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Namespace и базовая конфигурация Service 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Tier, регион, сеть</a:t>
            </a:r>
          </a:p>
          <a:p>
            <a:pPr>
              <a:defRPr sz="2200"/>
            </a:pPr>
            <a:r>
              <a:t>RBAC и Managed Identity</a:t>
            </a:r>
          </a:p>
          <a:p>
            <a:pPr>
              <a:defRPr sz="2200"/>
            </a:pPr>
            <a:r>
              <a:t>Очереди, топики, подписки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Bus в проекте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Отправка из Web App</a:t>
            </a:r>
          </a:p>
          <a:p>
            <a:pPr>
              <a:defRPr sz="2200"/>
            </a:pPr>
            <a:r>
              <a:t>Получение в Function App</a:t>
            </a:r>
          </a:p>
          <a:p>
            <a:pPr>
              <a:defRPr sz="2200"/>
            </a:pPr>
            <a:r>
              <a:t>Retry-policy при отправке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5C76AC0-BB6B-419E-A327-AFA297500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E0B6A3-E197-43D6-82D5-7455DAB1A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79647" y="1847088"/>
            <a:ext cx="41587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9648" y="804520"/>
            <a:ext cx="4158749" cy="1049235"/>
          </a:xfrm>
        </p:spPr>
        <p:txBody>
          <a:bodyPr>
            <a:normAutofit/>
          </a:bodyPr>
          <a:lstStyle/>
          <a:p>
            <a:r>
              <a:t>Event Hub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0E4246-09B8-46D7-A0D2-4D264863A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C5312C-559C-C291-AECB-2934A6AA7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029" y="2011299"/>
            <a:ext cx="4960442" cy="224932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9647" y="2015732"/>
            <a:ext cx="4158750" cy="3450613"/>
          </a:xfrm>
        </p:spPr>
        <p:txBody>
          <a:bodyPr>
            <a:normAutofit/>
          </a:bodyPr>
          <a:lstStyle/>
          <a:p>
            <a:pPr>
              <a:defRPr sz="2600"/>
            </a:pPr>
            <a:r>
              <a:rPr dirty="0" err="1"/>
              <a:t>Прием</a:t>
            </a:r>
            <a:r>
              <a:rPr dirty="0"/>
              <a:t> </a:t>
            </a:r>
            <a:r>
              <a:rPr dirty="0" err="1"/>
              <a:t>больших</a:t>
            </a:r>
            <a:r>
              <a:rPr dirty="0"/>
              <a:t> </a:t>
            </a:r>
            <a:r>
              <a:rPr dirty="0" err="1"/>
              <a:t>потоков</a:t>
            </a:r>
            <a:r>
              <a:rPr dirty="0"/>
              <a:t> </a:t>
            </a:r>
            <a:r>
              <a:rPr dirty="0" err="1"/>
              <a:t>событий</a:t>
            </a:r>
            <a:endParaRPr dirty="0"/>
          </a:p>
          <a:p>
            <a:pPr>
              <a:defRPr sz="2200"/>
            </a:pPr>
            <a:r>
              <a:rPr dirty="0" err="1"/>
              <a:t>Высокая</a:t>
            </a:r>
            <a:r>
              <a:rPr dirty="0"/>
              <a:t> </a:t>
            </a:r>
            <a:r>
              <a:rPr dirty="0" err="1"/>
              <a:t>пропускная</a:t>
            </a:r>
            <a:r>
              <a:rPr dirty="0"/>
              <a:t> </a:t>
            </a:r>
            <a:r>
              <a:rPr dirty="0" err="1"/>
              <a:t>способность</a:t>
            </a:r>
            <a:endParaRPr dirty="0"/>
          </a:p>
          <a:p>
            <a:pPr>
              <a:defRPr sz="2200"/>
            </a:pPr>
            <a:r>
              <a:rPr dirty="0" err="1"/>
              <a:t>Низкая</a:t>
            </a:r>
            <a:r>
              <a:rPr dirty="0"/>
              <a:t> </a:t>
            </a:r>
            <a:r>
              <a:rPr dirty="0" err="1"/>
              <a:t>стоимость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событие</a:t>
            </a:r>
            <a:endParaRPr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50C8D8D-B32F-4194-8321-164EC4427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BD24D8B-8573-4260-B700-E860AD6D2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Hub CLI и приложение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Создание namespace/hub через Azure CLI</a:t>
            </a:r>
          </a:p>
          <a:p>
            <a:pPr>
              <a:defRPr sz="2200"/>
            </a:pPr>
            <a:r>
              <a:t>Producer и consumer в .NET</a:t>
            </a:r>
          </a:p>
          <a:p>
            <a:pPr>
              <a:defRPr sz="2200"/>
            </a:pPr>
            <a:r>
              <a:t>Наблюдаемость в Azure Portal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Partitions и Consumer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Параллелизм чтения</a:t>
            </a:r>
          </a:p>
          <a:p>
            <a:pPr>
              <a:defRPr sz="2200"/>
            </a:pPr>
            <a:r>
              <a:t>Изоляция потребителей</a:t>
            </a:r>
          </a:p>
          <a:p>
            <a:pPr>
              <a:defRPr sz="2200"/>
            </a:pPr>
            <a:r>
              <a:t>Горизонтальное масштабирование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События платформы и домена</a:t>
            </a:r>
          </a:p>
          <a:p>
            <a:pPr>
              <a:defRPr sz="2200"/>
            </a:pPr>
            <a:r>
              <a:t>Push-модель доставки</a:t>
            </a:r>
          </a:p>
          <a:p>
            <a:pPr>
              <a:defRPr sz="2200"/>
            </a:pPr>
            <a:r>
              <a:t>Интеграция с Function и Logic Apps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Grid + Logic Apps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Подписка на события</a:t>
            </a:r>
          </a:p>
          <a:p>
            <a:pPr>
              <a:defRPr sz="2200"/>
            </a:pPr>
            <a:r>
              <a:t>Триггер Logic App</a:t>
            </a:r>
          </a:p>
          <a:p>
            <a:pPr>
              <a:defRPr sz="2200"/>
            </a:pPr>
            <a:r>
              <a:t>Оркестрация без кода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4932F5-BE21-C19E-9509-166FAF04D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575177"/>
              </p:ext>
            </p:extLst>
          </p:nvPr>
        </p:nvGraphicFramePr>
        <p:xfrm>
          <a:off x="0" y="342195"/>
          <a:ext cx="12192000" cy="556725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25053">
                  <a:extLst>
                    <a:ext uri="{9D8B030D-6E8A-4147-A177-3AD203B41FA5}">
                      <a16:colId xmlns:a16="http://schemas.microsoft.com/office/drawing/2014/main" val="3848980427"/>
                    </a:ext>
                  </a:extLst>
                </a:gridCol>
                <a:gridCol w="3308684">
                  <a:extLst>
                    <a:ext uri="{9D8B030D-6E8A-4147-A177-3AD203B41FA5}">
                      <a16:colId xmlns:a16="http://schemas.microsoft.com/office/drawing/2014/main" val="2106071181"/>
                    </a:ext>
                  </a:extLst>
                </a:gridCol>
                <a:gridCol w="4030579">
                  <a:extLst>
                    <a:ext uri="{9D8B030D-6E8A-4147-A177-3AD203B41FA5}">
                      <a16:colId xmlns:a16="http://schemas.microsoft.com/office/drawing/2014/main" val="1156534308"/>
                    </a:ext>
                  </a:extLst>
                </a:gridCol>
                <a:gridCol w="2927684">
                  <a:extLst>
                    <a:ext uri="{9D8B030D-6E8A-4147-A177-3AD203B41FA5}">
                      <a16:colId xmlns:a16="http://schemas.microsoft.com/office/drawing/2014/main" val="293439807"/>
                    </a:ext>
                  </a:extLst>
                </a:gridCol>
              </a:tblGrid>
              <a:tr h="81237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Event 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Event Hubs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Service 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418427"/>
                  </a:ext>
                </a:extLst>
              </a:tr>
              <a:tr h="812371">
                <a:tc>
                  <a:txBody>
                    <a:bodyPr/>
                    <a:lstStyle/>
                    <a:p>
                      <a:r>
                        <a:rPr lang="ru-RU" dirty="0"/>
                        <a:t>Основная цель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Маршрутизация событий, реактивное программирование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Прием и потоковая передача огромных объемов данных (Big Data).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Надежная передача сообщений, транзакции, упорядочивание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926824"/>
                  </a:ext>
                </a:extLst>
              </a:tr>
              <a:tr h="812371">
                <a:tc>
                  <a:txBody>
                    <a:bodyPr/>
                    <a:lstStyle/>
                    <a:p>
                      <a:r>
                        <a:rPr lang="ru-RU" dirty="0"/>
                        <a:t>Сценарий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"Что-то случилось, нужно отреагировать" (например, файл загружен в Storage -&gt; запустить Azure </a:t>
                      </a:r>
                      <a:r>
                        <a:rPr lang="ru-RU" dirty="0" err="1"/>
                        <a:t>Function</a:t>
                      </a:r>
                      <a:r>
                        <a:rPr lang="ru-RU" dirty="0"/>
                        <a:t>).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Телеметрия, логи, </a:t>
                      </a:r>
                      <a:r>
                        <a:rPr lang="ru-RU" dirty="0" err="1"/>
                        <a:t>IoT</a:t>
                      </a:r>
                      <a:r>
                        <a:rPr lang="ru-RU" dirty="0"/>
                        <a:t>, потоковая аналитика в реальном времени.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Заказы, платежи, критически важные бизнес-процессы, где нельзя потерять сообщение.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932433"/>
                  </a:ext>
                </a:extLst>
              </a:tr>
              <a:tr h="812371">
                <a:tc>
                  <a:txBody>
                    <a:bodyPr/>
                    <a:lstStyle/>
                    <a:p>
                      <a:r>
                        <a:rPr lang="ru-RU" dirty="0"/>
                        <a:t>Как работает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Публикация/подписка. Event Grid отправляет событие подписчику (</a:t>
                      </a:r>
                      <a:r>
                        <a:rPr lang="ru-RU" dirty="0" err="1"/>
                        <a:t>push</a:t>
                      </a:r>
                      <a:r>
                        <a:rPr lang="ru-RU" dirty="0"/>
                        <a:t>).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Паттерн «</a:t>
                      </a:r>
                      <a:r>
                        <a:rPr lang="ru-RU" dirty="0" err="1"/>
                        <a:t>партиционированный</a:t>
                      </a:r>
                      <a:r>
                        <a:rPr lang="ru-RU" dirty="0"/>
                        <a:t> журнал». Потребители (</a:t>
                      </a:r>
                      <a:r>
                        <a:rPr lang="ru-RU" dirty="0" err="1"/>
                        <a:t>consumers</a:t>
                      </a:r>
                      <a:r>
                        <a:rPr lang="ru-RU" dirty="0"/>
                        <a:t>) сами считывают данные из </a:t>
                      </a:r>
                      <a:r>
                        <a:rPr lang="ru-RU" dirty="0" err="1"/>
                        <a:t>партиций</a:t>
                      </a:r>
                      <a:r>
                        <a:rPr lang="ru-RU" dirty="0"/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Очереди и топики (</a:t>
                      </a:r>
                      <a:r>
                        <a:rPr lang="ru-RU" dirty="0" err="1"/>
                        <a:t>pub</a:t>
                      </a:r>
                      <a:r>
                        <a:rPr lang="ru-RU" dirty="0"/>
                        <a:t>/</a:t>
                      </a:r>
                      <a:r>
                        <a:rPr lang="ru-RU" dirty="0" err="1"/>
                        <a:t>sub</a:t>
                      </a:r>
                      <a:r>
                        <a:rPr lang="ru-RU" dirty="0"/>
                        <a:t>). Точная доставка (</a:t>
                      </a:r>
                      <a:r>
                        <a:rPr lang="ru-RU" dirty="0" err="1"/>
                        <a:t>at-least-once</a:t>
                      </a:r>
                      <a:r>
                        <a:rPr lang="ru-RU" dirty="0"/>
                        <a:t>, FIFO)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758827"/>
                  </a:ext>
                </a:extLst>
              </a:tr>
              <a:tr h="812371">
                <a:tc>
                  <a:txBody>
                    <a:bodyPr/>
                    <a:lstStyle/>
                    <a:p>
                      <a:r>
                        <a:rPr lang="ru-RU" dirty="0"/>
                        <a:t>Особенности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Очень низкая задержка, доставка событий к разным </a:t>
                      </a:r>
                      <a:r>
                        <a:rPr lang="ru-RU" dirty="0" err="1"/>
                        <a:t>эндпоинтам</a:t>
                      </a:r>
                      <a:r>
                        <a:rPr lang="ru-RU" dirty="0"/>
                        <a:t> (</a:t>
                      </a:r>
                      <a:r>
                        <a:rPr lang="ru-RU" dirty="0" err="1"/>
                        <a:t>webhooks</a:t>
                      </a:r>
                      <a:r>
                        <a:rPr lang="ru-RU" dirty="0"/>
                        <a:t>, Azure </a:t>
                      </a:r>
                      <a:r>
                        <a:rPr lang="ru-RU" dirty="0" err="1"/>
                        <a:t>Functions</a:t>
                      </a:r>
                      <a:r>
                        <a:rPr lang="ru-RU" dirty="0"/>
                        <a:t>, Logic </a:t>
                      </a:r>
                      <a:r>
                        <a:rPr lang="ru-RU" dirty="0" err="1"/>
                        <a:t>Apps</a:t>
                      </a:r>
                      <a:r>
                        <a:rPr lang="ru-RU" dirty="0"/>
                        <a:t>).</a:t>
                      </a:r>
                    </a:p>
                    <a:p>
                      <a:r>
                        <a:rPr lang="ru-RU" dirty="0"/>
                        <a:t>Не хранит события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Высокая пропускная способность, возможность многократного чтения одного потока.</a:t>
                      </a:r>
                    </a:p>
                    <a:p>
                      <a:r>
                        <a:rPr lang="ru-RU" dirty="0"/>
                        <a:t>Хранит данные от 1 до 90 дней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Длительное хранение, поддержка сессий, транзакции, обработка ошибок (</a:t>
                      </a:r>
                      <a:r>
                        <a:rPr lang="ru-RU" dirty="0" err="1"/>
                        <a:t>dead-lettering</a:t>
                      </a:r>
                      <a:r>
                        <a:rPr lang="ru-RU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610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33282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27</TotalTime>
  <Words>952</Words>
  <Application>Microsoft Office PowerPoint</Application>
  <PresentationFormat>Widescreen</PresentationFormat>
  <Paragraphs>77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Gallery</vt:lpstr>
      <vt:lpstr>Service Bus, Event Hub, Event Grid</vt:lpstr>
      <vt:lpstr>Service Bus, Event Hub, Event Grid</vt:lpstr>
      <vt:lpstr>Сравнение сервисов</vt:lpstr>
      <vt:lpstr>Когда выбирать Service Bus</vt:lpstr>
      <vt:lpstr>Queue, Topic, Relay</vt:lpstr>
      <vt:lpstr>Namespace и базовая конфигурация Service Bus</vt:lpstr>
      <vt:lpstr>Service Bus в проекте</vt:lpstr>
      <vt:lpstr>Event Hub</vt:lpstr>
      <vt:lpstr>Event Hub CLI и приложение</vt:lpstr>
      <vt:lpstr>Partitions и Consumer Groups</vt:lpstr>
      <vt:lpstr>Event Grid</vt:lpstr>
      <vt:lpstr>Event Grid + Logic Apps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Maksim Lioshyn</cp:lastModifiedBy>
  <cp:revision>6</cp:revision>
  <dcterms:created xsi:type="dcterms:W3CDTF">2013-01-27T09:14:16Z</dcterms:created>
  <dcterms:modified xsi:type="dcterms:W3CDTF">2026-05-08T11:33:38Z</dcterms:modified>
  <cp:category/>
</cp:coreProperties>
</file>