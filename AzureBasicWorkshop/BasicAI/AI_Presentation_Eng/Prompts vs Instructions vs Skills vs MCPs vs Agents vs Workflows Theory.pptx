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82"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9976" autoAdjust="0"/>
  </p:normalViewPr>
  <p:slideViewPr>
    <p:cSldViewPr snapToGrid="0" snapToObjects="1">
      <p:cViewPr varScale="1">
        <p:scale>
          <a:sx n="57" d="100"/>
          <a:sy n="57" d="100"/>
        </p:scale>
        <p:origin x="21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12195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Terms: AI architecture — the organization of layers, data, and rules. Maturity — the degree of controllability and reproducibility.</a:t>
            </a:r>
          </a:p>
          <a:p>
            <a:endParaRPr dirty="0"/>
          </a:p>
          <a:p>
            <a:r>
              <a:rPr dirty="0"/>
              <a:t>Mechanics: The core principle: we do not choose one technology — we design a combination of layers for the task. </a:t>
            </a:r>
            <a:r>
              <a:rPr lang="en-US" dirty="0"/>
              <a:t>First,</a:t>
            </a:r>
            <a:r>
              <a:rPr dirty="0"/>
              <a:t> we define the goal of the process and the cost of failure, then we select the minimum sufficient level, and then we incrementally add control and reliability tools. It is important to keep in focus that moving between layers is a managed evolution, not a sudden replacement of everything.</a:t>
            </a:r>
          </a:p>
          <a:p>
            <a:endParaRPr dirty="0"/>
          </a:p>
          <a:p>
            <a:r>
              <a:rPr dirty="0"/>
              <a:t>Practical example: An internal team started with prompts for quick tasks, then added policies, integrations, and a workflow as requirements grew</a:t>
            </a:r>
            <a:r>
              <a:rPr lang="en-US" dirty="0"/>
              <a: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Terms: Autonomy — the ability to perform actions without manual control. Reliability — predictability of the result when repeated.</a:t>
            </a:r>
          </a:p>
          <a:p>
            <a:endParaRPr dirty="0"/>
          </a:p>
          <a:p>
            <a:r>
              <a:rPr dirty="0"/>
              <a:t>Mechanics: The complexity ladder defines the trade-off axis. On the left is a low startup threshold and high experiment speed; on the right is higher operational discipline and control. The story for this slide is a route: prompts cover quick launch, instructions provide a consistent behavior standard, skills scale repeatable expertise, MCP connects real data and actions, agents add adaptive planning, workflows ensure a stable operational process. </a:t>
            </a:r>
          </a:p>
          <a:p>
            <a:endParaRPr dirty="0"/>
          </a:p>
          <a:p>
            <a:r>
              <a:rPr dirty="0"/>
              <a:t>Practical example: For one-</a:t>
            </a:r>
            <a:r>
              <a:rPr lang="en-US" dirty="0"/>
              <a:t>time</a:t>
            </a:r>
            <a:r>
              <a:rPr dirty="0"/>
              <a:t> text generation, prompts are enough; for regular customer support with SLA, you need a workflow with integrations.</a:t>
            </a:r>
          </a:p>
          <a:p>
            <a:endParaRPr dirty="0"/>
          </a:p>
          <a:p>
            <a:r>
              <a:rPr dirty="0"/>
              <a:t>Limitations: If moving right as mandatory for every case</a:t>
            </a:r>
            <a:r>
              <a:rPr lang="en-US" dirty="0"/>
              <a:t>s</a:t>
            </a:r>
            <a:r>
              <a:rPr dirty="0"/>
              <a:t>, the team gets over-engineering and rising costs. If stuck on left-side levels when quality requirements are high, operational risk appears. Organizational maturity is also a constraint: the further right the layer, the more demands on process owners, monitoring, and change management.</a:t>
            </a:r>
          </a:p>
          <a:p>
            <a:endParaRPr dirty="0"/>
          </a:p>
          <a:p>
            <a:r>
              <a:rPr dirty="0"/>
              <a:t>Conclusion: The ladder is not for maximizing complexity, but for making a justified choice of the next layer based on the task's requirements.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Terms: Prompt — a text task statement to the model. Zero-shot/few-shot</a:t>
            </a:r>
            <a:r>
              <a:rPr lang="en-US" dirty="0"/>
              <a:t>s</a:t>
            </a:r>
            <a:r>
              <a:rPr dirty="0"/>
              <a:t> — execution without examples or with examples.</a:t>
            </a:r>
          </a:p>
          <a:p>
            <a:endParaRPr dirty="0"/>
          </a:p>
          <a:p>
            <a:r>
              <a:rPr dirty="0"/>
              <a:t>Mechanics: The mechanics of the prompt approach are simple: the user provides context, goal, constraints, and desired format. Quality increases when the request is structured: model role, input data, success criteria, format, and constraints. One case shows this: first the request 'Write a letter to a customer about a delay', then the improved version 'You are a support specialist. Write a short polite letter about a 2-day order delay, state the new date and compensation', then a few-shot with one successful example. This shows how result quality can be significantly improved without changing the model. In workflows, prompts often serve as a quick pre-stage for drafts and hypotheses.</a:t>
            </a:r>
          </a:p>
          <a:p>
            <a:endParaRPr dirty="0"/>
          </a:p>
          <a:p>
            <a:r>
              <a:rPr dirty="0"/>
              <a:t>Practical example: A support specialist gets a draft response to a customer about a delivery delay in one minute and edits it for context.</a:t>
            </a:r>
          </a:p>
          <a:p>
            <a:endParaRPr dirty="0"/>
          </a:p>
          <a:p>
            <a:r>
              <a:rPr dirty="0"/>
              <a:t>Limitations: The prompt approach is limited in tasks requiring strict repeatability, auditing, and policy control. Responses can be unstable between runs. No built-in access to current internal data without integrations. At scale, quality also heavily depends on the individual prompt engineering skill of each team member.</a:t>
            </a:r>
          </a:p>
          <a:p>
            <a:endParaRPr dirty="0"/>
          </a:p>
          <a:p>
            <a:r>
              <a:rPr dirty="0"/>
              <a:t>Conclusion: Prompts are effective as a fast start and prototyping layer, but are rarely sufficient for production use.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Terms: Instructions — system-level rules that apply on top of user requests. Guardrails — protective constraints on model behavior.</a:t>
            </a:r>
          </a:p>
          <a:p>
            <a:endParaRPr dirty="0"/>
          </a:p>
          <a:p>
            <a:r>
              <a:rPr dirty="0"/>
              <a:t>Mechanics: The mechanics of instructions is a centralized policy layer. Here you define required tone, response format, prohibitions, handling of sensitive topics, and security rules. In practice, this reduces the quality variance between team members and makes assistant behavior predictable. A clear example: the same request 'Reply to the customer about their order' without instructions produces arbitrary style, but with rules 'reply formally, no jargon, do not invent order status, end with a Next Step block' produces a consistent corporate response. It is critical</a:t>
            </a:r>
            <a:r>
              <a:rPr lang="en-US" dirty="0"/>
              <a:t>. I</a:t>
            </a:r>
            <a:r>
              <a:rPr dirty="0"/>
              <a:t>nstructions are not a one-time setting but a managed artifact with versioning and regular review.</a:t>
            </a:r>
          </a:p>
          <a:p>
            <a:endParaRPr dirty="0"/>
          </a:p>
          <a:p>
            <a:r>
              <a:rPr dirty="0"/>
              <a:t>Practical example: The internal HR assistant always replies formally, does not disclose PII, and in disputed questions refers to approved policy.</a:t>
            </a:r>
          </a:p>
          <a:p>
            <a:endParaRPr dirty="0"/>
          </a:p>
          <a:p>
            <a:r>
              <a:rPr dirty="0"/>
              <a:t>Limitations: Instructions do not provide access to live data and do not replace integrations. Rules that are too strict reduce usefulness and response variety; rules too loose bring back chaos. Many conflicting rules without priorities cause inconsistent model behavior. There is also a risk of policy becoming outdated if there is no owner and update process.</a:t>
            </a:r>
          </a:p>
          <a:p>
            <a:endParaRPr dirty="0"/>
          </a:p>
          <a:p>
            <a:r>
              <a:rPr dirty="0"/>
              <a:t>Conclusion: Instructions provide behavioral stability and a base control layer, but for real value they need to be combined with data and processes</a:t>
            </a:r>
            <a:r>
              <a:rPr lang="en-US" dirty="0"/>
              <a:t> and they need a </a:t>
            </a:r>
            <a:r>
              <a:rPr lang="en-US" dirty="0" err="1"/>
              <a:t>mantaince</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Terms: Skill — a formalized module for solving a repeatable task. Versioning — controlled update of behavior.</a:t>
            </a:r>
          </a:p>
          <a:p>
            <a:endParaRPr dirty="0"/>
          </a:p>
          <a:p>
            <a:r>
              <a:rPr dirty="0"/>
              <a:t>Mechanics: The mechanics of skills starts with identifying repeatable task classes. Each skill gets a clear contract: input, processing steps, quality criteria, and expected output. Skills then form a library of team competencies and are used as building blocks in different processes. A clear example: the team first manually asks AI for a code review, then defines a standard format for Security, Correctness, and Maintainability findings and formalizes it as a separate skill used by all developers. A good practice is to assign a skill owner and regularly verify its relevance.</a:t>
            </a:r>
          </a:p>
          <a:p>
            <a:endParaRPr dirty="0"/>
          </a:p>
          <a:p>
            <a:r>
              <a:rPr dirty="0"/>
              <a:t>Practical example: In an engineering team, separate skills handle diff review, analyze build errors, and generate structured release notes.</a:t>
            </a:r>
          </a:p>
          <a:p>
            <a:endParaRPr dirty="0"/>
          </a:p>
          <a:p>
            <a:r>
              <a:rPr dirty="0"/>
              <a:t>Limitations: The key limitation is the tendency to create ‘</a:t>
            </a:r>
            <a:r>
              <a:rPr lang="en-US" dirty="0"/>
              <a:t>God</a:t>
            </a:r>
            <a:r>
              <a:rPr dirty="0"/>
              <a:t>' skills with multiple roles at once, which breaks testability and maintenance. Without versioning, updates cause unexpected regressions in processes. Without a catalog and usage rules, users lose track of which skill to choose. Skills also require continuous maintenance as product components.</a:t>
            </a:r>
          </a:p>
          <a:p>
            <a:endParaRPr dirty="0"/>
          </a:p>
          <a:p>
            <a:r>
              <a:rPr dirty="0"/>
              <a:t>Conclusion: Skills scale team expertise when managed with discipline and clear ownership boundaries.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Terms: MCP — the protocol for connecting the model to external tools. Least privilege — the minimum sufficient access rights.</a:t>
            </a:r>
          </a:p>
          <a:p>
            <a:endParaRPr dirty="0"/>
          </a:p>
          <a:p>
            <a:r>
              <a:rPr dirty="0"/>
              <a:t>Mechanics: the model makes a tool call, receives actual data or executes a permitted action, then builds a response on real context.</a:t>
            </a:r>
            <a:r>
              <a:rPr lang="en-US" dirty="0"/>
              <a:t> T</a:t>
            </a:r>
            <a:r>
              <a:rPr dirty="0"/>
              <a:t>he request lifecycle is important: request -&gt; rights check -&gt; operation execution -&gt; data return -&gt; logging. This layer moves AI from guessing mode to working with facts. </a:t>
            </a:r>
            <a:endParaRPr lang="en-US" dirty="0"/>
          </a:p>
          <a:p>
            <a:endParaRPr dirty="0"/>
          </a:p>
          <a:p>
            <a:r>
              <a:rPr dirty="0"/>
              <a:t>Practical example: A support assistant reads order status from the CRM and composes a personalized customer response based on current data.</a:t>
            </a:r>
          </a:p>
          <a:p>
            <a:endParaRPr dirty="0"/>
          </a:p>
          <a:p>
            <a:r>
              <a:rPr dirty="0"/>
              <a:t>Limitations: </a:t>
            </a:r>
            <a:endParaRPr lang="en-US" dirty="0"/>
          </a:p>
          <a:p>
            <a:r>
              <a:rPr dirty="0"/>
              <a:t>MCP limitations are primarily about security: over-privileged access, no audit trail, mixing test and production channels. </a:t>
            </a:r>
            <a:endParaRPr lang="en-US" dirty="0"/>
          </a:p>
          <a:p>
            <a:r>
              <a:rPr dirty="0"/>
              <a:t>The second group of limitations is external service reliability: API unavailability must have fallback logic. </a:t>
            </a:r>
            <a:endParaRPr lang="en-US" dirty="0"/>
          </a:p>
          <a:p>
            <a:r>
              <a:rPr dirty="0"/>
              <a:t>Third is governance: without clear read/write rules and approval for critical operations the system becomes vulnerable. Also important to account for the cost and maintenance of integrations.</a:t>
            </a:r>
          </a:p>
          <a:p>
            <a:endParaRPr dirty="0"/>
          </a:p>
          <a:p>
            <a:r>
              <a:rPr dirty="0"/>
              <a:t>Conclusion: MCP makes AI truly applied, but requires a mature access model, monitoring, and fault tolerance.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Terms: Agent — an autonomous executor of a chain of steps toward a goal. Human-in-the-loop — mandatory human involvement in critical actions.</a:t>
            </a:r>
          </a:p>
          <a:p>
            <a:endParaRPr dirty="0"/>
          </a:p>
          <a:p>
            <a:r>
              <a:rPr dirty="0"/>
              <a:t>Mechanics: Agent mechanics are built on the cycle: task analysis, planning, executing actions via tools, checking results, and adjusting the plan. </a:t>
            </a:r>
            <a:endParaRPr lang="en-US" dirty="0"/>
          </a:p>
          <a:p>
            <a:endParaRPr lang="en-US" dirty="0"/>
          </a:p>
          <a:p>
            <a:r>
              <a:rPr dirty="0"/>
              <a:t>A clear example: the agent is given the goal 'compile a review of five competitors', after which it searches for sources, identifies comparison criteria, builds a difference table, and separately marks zones of uncertainty. It is important to present the agent as a controlled system, not a 'self-directed intelligence with no limits'. Mandatory constraints here are concrete: step limit, cost limit, timeout, list of prohibited actions, and logging. </a:t>
            </a:r>
            <a:endParaRPr lang="en-US" dirty="0"/>
          </a:p>
          <a:p>
            <a:endParaRPr dirty="0"/>
          </a:p>
          <a:p>
            <a:r>
              <a:rPr dirty="0"/>
              <a:t>Practical example: An agent prepares a competitive review: gathers data from multiple sources, aligns criteria, and produces an analytical summary.</a:t>
            </a:r>
          </a:p>
          <a:p>
            <a:endParaRPr dirty="0"/>
          </a:p>
          <a:p>
            <a:r>
              <a:rPr dirty="0"/>
              <a:t>Limitations: Agent limitations include the possibility of looping, unnecessary tool calls, and rising costs. Insufficient source verification can lead to incorrect conclusions. Without human-in-the-loop, critical operations become risky. Testing agent scenarios is harder than workflows, so telemetry and incident analysis requirements are higher. In organizations with low process maturity, the agent layer may create more risks than value.</a:t>
            </a:r>
          </a:p>
          <a:p>
            <a:endParaRPr dirty="0"/>
          </a:p>
          <a:p>
            <a:r>
              <a:rPr dirty="0"/>
              <a:t>Conclusion: Agents provide flexibility for complex tasks but are safe only within a strict managed control boundary.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Terms: Workflow — a formally defined process route. SLA — target metrics for time, quality, and availability.</a:t>
            </a:r>
          </a:p>
          <a:p>
            <a:endParaRPr dirty="0"/>
          </a:p>
          <a:p>
            <a:r>
              <a:rPr dirty="0"/>
              <a:t>Mechanics: the process is split into sequential stages with transition conditions, retry policy, checkpoints, and escalation. Unlike the agent approach, the key advantage is predictability and auditability. </a:t>
            </a:r>
            <a:endParaRPr lang="en-US" dirty="0"/>
          </a:p>
          <a:p>
            <a:endParaRPr lang="en-US" dirty="0"/>
          </a:p>
          <a:p>
            <a:r>
              <a:rPr dirty="0"/>
              <a:t>A clear example: a customer request goes through classification, data reading via MCP, response generation, confidence score check, and then either auto-send or escalation. It is immediately clear where a delay occurred, where there is an error, and where manual processing is needed. The hybrid variant adds an agent only in nodes that require adaptive decisions, keeping the overall deterministic framework.</a:t>
            </a:r>
          </a:p>
          <a:p>
            <a:endParaRPr dirty="0"/>
          </a:p>
          <a:p>
            <a:r>
              <a:rPr dirty="0"/>
              <a:t>Practical example: Request processing: request classification -&gt; data extraction -&gt; response generation -&gt; policy check -&gt; send or escalate.</a:t>
            </a:r>
          </a:p>
          <a:p>
            <a:endParaRPr dirty="0"/>
          </a:p>
          <a:p>
            <a:r>
              <a:rPr dirty="0"/>
              <a:t>Limitations: an overly rigid workflow handles non-standard cases poorly if there are no exception branches. Complex process graphs are hard to maintain without visualization and an owner model. Without per-stage metrics it is impossible to understand the causes of SLA degradation. Also, frequent business rule changes require constant workflow updates, otherwise the process becomes formally stable but practically outdated.</a:t>
            </a:r>
          </a:p>
          <a:p>
            <a:endParaRPr dirty="0"/>
          </a:p>
          <a:p>
            <a:r>
              <a:rPr dirty="0"/>
              <a:t>Conclusion: Workflow is the foundational layer for production reliability, and maximum value comes from combining it with adaptive nodes.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Terms: Prompt — a one-shot text task without a persistent rules layer.</a:t>
            </a:r>
          </a:p>
          <a:p>
            <a:endParaRPr dirty="0"/>
          </a:p>
          <a:p>
            <a:r>
              <a:rPr dirty="0"/>
              <a:t>Mechanics: The most visual demonstration here is to compare two requests side by side. </a:t>
            </a:r>
            <a:endParaRPr lang="en-US" dirty="0"/>
          </a:p>
          <a:p>
            <a:endParaRPr lang="en-US" dirty="0"/>
          </a:p>
          <a:p>
            <a:r>
              <a:rPr dirty="0"/>
              <a:t>First: 'Write a letter to the customer about an order delay’. </a:t>
            </a:r>
            <a:endParaRPr lang="en-US" dirty="0"/>
          </a:p>
          <a:p>
            <a:endParaRPr lang="en-US" dirty="0"/>
          </a:p>
          <a:p>
            <a:r>
              <a:rPr dirty="0"/>
              <a:t>Second: 'You are a customer support specialist. Write a short polite letter about a 2-day order delay. Structure: apology, reason without technical details, new date, 10 percent compensation'. </a:t>
            </a:r>
            <a:endParaRPr lang="en-US" dirty="0"/>
          </a:p>
          <a:p>
            <a:endParaRPr dirty="0"/>
          </a:p>
          <a:p>
            <a:r>
              <a:rPr dirty="0"/>
              <a:t>Practical example: This example works especially well in a live Copilot chat because the difference is visible instantly.</a:t>
            </a:r>
          </a:p>
          <a:p>
            <a:endParaRPr dirty="0"/>
          </a:p>
          <a:p>
            <a:r>
              <a:rPr dirty="0"/>
              <a:t>Limitations: Even a good prompt does not solve the problem of uniform rules for the team and does not connect real order data.</a:t>
            </a:r>
          </a:p>
          <a:p>
            <a:endParaRPr dirty="0"/>
          </a:p>
          <a:p>
            <a:r>
              <a:rPr dirty="0"/>
              <a:t>Conclusion: Prompt is the best starting point for testing an idea, but not the final process 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Terms: Instructions — system rules that act on top of user requests.</a:t>
            </a:r>
          </a:p>
          <a:p>
            <a:endParaRPr dirty="0"/>
          </a:p>
          <a:p>
            <a:r>
              <a:rPr dirty="0"/>
              <a:t>Mechanics: In practice, show the same request 'Reply to the customer about the order', first without system rules, then with instructions: 'Always answer in English. Do not use jargon. Do not invent order status. End with a Next Step block'. The response becomes predictable and corporate in form.</a:t>
            </a:r>
          </a:p>
          <a:p>
            <a:endParaRPr dirty="0"/>
          </a:p>
          <a:p>
            <a:r>
              <a:rPr dirty="0"/>
              <a:t>Practical example: This is the clearest way to show that instructions do not replace the prompt, but discipline its use.</a:t>
            </a:r>
          </a:p>
          <a:p>
            <a:endParaRPr dirty="0"/>
          </a:p>
          <a:p>
            <a:r>
              <a:rPr dirty="0"/>
              <a:t>Limitations: Instructions on their own do not fetch facts from CRM and do not create a reusable skill module.</a:t>
            </a:r>
          </a:p>
          <a:p>
            <a:endParaRPr dirty="0"/>
          </a:p>
          <a:p>
            <a:r>
              <a:rPr dirty="0"/>
              <a:t>Conclusion: This level is especially important for general-purpose assistants and corporate copilot scenarios.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Terms: Skill — a formalized module for a repeatable task with a clear input, procedure, and output format.</a:t>
            </a:r>
          </a:p>
          <a:p>
            <a:endParaRPr/>
          </a:p>
          <a:p>
            <a:r>
              <a:t>Mechanics: A useful example: the team first manually asks AI to review a diff, then defines a standard checklist and comment format, and formalizes it into SKILL.md as 'AI Code Review'. Second example — 'Incident Summary', where logs and an error are the input and a brief root cause, impact, and diagnostic steps are the output.</a:t>
            </a:r>
          </a:p>
          <a:p>
            <a:endParaRPr/>
          </a:p>
          <a:p>
            <a:r>
              <a:t>Practical example: This shows the audience how a successful prompt plus instructions produces a library-level skill.</a:t>
            </a:r>
          </a:p>
          <a:p>
            <a:endParaRPr/>
          </a:p>
          <a:p>
            <a:r>
              <a:t>Limitations: If everything is packed into one skill, it becomes hard to maintain and loses clear ownership boundaries.</a:t>
            </a:r>
          </a:p>
          <a:p>
            <a:endParaRPr/>
          </a:p>
          <a:p>
            <a:r>
              <a:t>Conclusion: Skills are especially useful where the team wants consistent quality and fast onboarding of new members.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Terms: MCP — the protocol through which the model connects to tools and external data sources.</a:t>
            </a:r>
          </a:p>
          <a:p>
            <a:endParaRPr/>
          </a:p>
          <a:p>
            <a:r>
              <a:t>Mechanics: First clear example: the user enters an order number, the assistant reads the status from CRM via MCP and forms a response with the current delivery date. Second example: the assistant reads the list of open pull requests via MCP and compiles a short daily summary of blockers. In both cases the model no longer relies only on its internal memory.</a:t>
            </a:r>
          </a:p>
          <a:p>
            <a:endParaRPr/>
          </a:p>
          <a:p>
            <a:r>
              <a:t>Practical example: This helps the audience clearly separate the concepts of skill and MCP: one defines the way to work, the other provides real context.</a:t>
            </a:r>
          </a:p>
          <a:p>
            <a:endParaRPr/>
          </a:p>
          <a:p>
            <a:r>
              <a:t>Limitations: The most common mistake here is giving the model too broad access rights or not logging tool calls.</a:t>
            </a:r>
          </a:p>
          <a:p>
            <a:endParaRPr/>
          </a:p>
          <a:p>
            <a:r>
              <a:t>Conclusion: MCP makes AI applied, but this is exactly where security and governance requirements grow the most.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Terms: Agent — an autonomous executor that chooses the next step toward a set goal within constraints.</a:t>
            </a:r>
          </a:p>
          <a:p>
            <a:endParaRPr/>
          </a:p>
          <a:p>
            <a:r>
              <a:t>Mechanics: The clearest example is a research agent: given the task of compiling a review of five competitors, it goes through a cycle of finding sources, identifying comparison criteria, building a table, and formulating conclusions. Another example: an agent that builds a 3-month team learning plan based on the current stack and competency gaps.</a:t>
            </a:r>
          </a:p>
          <a:p>
            <a:endParaRPr/>
          </a:p>
          <a:p>
            <a:r>
              <a:t>Practical example: These examples clearly show why an agent needs both instructions and skills and, when available, MCP.</a:t>
            </a:r>
          </a:p>
          <a:p>
            <a:endParaRPr/>
          </a:p>
          <a:p>
            <a:r>
              <a:t>Limitations: Without step limits, budget controls, and an action log, the agent quickly becomes an expensive and risky component.</a:t>
            </a:r>
          </a:p>
          <a:p>
            <a:endParaRPr/>
          </a:p>
          <a:p>
            <a:r>
              <a:t>Conclusion: An agent is useful not everywhere, but where adaptability genuinely provides value.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Terms: Workflow — a deterministic process skeleton into which AI is embedded as one or more steps.</a:t>
            </a:r>
          </a:p>
          <a:p>
            <a:endParaRPr/>
          </a:p>
          <a:p>
            <a:r>
              <a:t>Mechanics: First example: a request-processing pipeline where classification comes first, then data reading via MCP, then response generation, confidence score check, and either auto-send or human escalation. Second example: weekly job market analytics where collection, normalization, quality control, and publishing stages run on a schedule.</a:t>
            </a:r>
          </a:p>
          <a:p>
            <a:endParaRPr/>
          </a:p>
          <a:p>
            <a:r>
              <a:t>Practical example: This shows the audience that workflow does not compete with the agent but frames it where needed.</a:t>
            </a:r>
          </a:p>
          <a:p>
            <a:endParaRPr/>
          </a:p>
          <a:p>
            <a:r>
              <a:t>Limitations: An overly rigid workflow without exception branches handles non-standard cases poorly and becomes outdated quickly.</a:t>
            </a:r>
          </a:p>
          <a:p>
            <a:endParaRPr/>
          </a:p>
          <a:p>
            <a:r>
              <a:t>Conclusion: In production scenarios, workflow most often becomes the foundation of reliability and observability.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Terms: Anti-pattern — a typical solution that initially looks convenient but systematically degrades architecture.</a:t>
            </a:r>
          </a:p>
          <a:p>
            <a:endParaRPr/>
          </a:p>
          <a:p>
            <a:r>
              <a:t>Mechanics: The clearest set for this slide: the team wants an 'agent for everything' and faces rising costs; the team keeps only prompts in production and loses quality control; the team gives MCP excessive rights and gets incident risk. After that, immediately give the countermeasure: workflow for standard steps, instructions and skills for stability, least privilege for tools.</a:t>
            </a:r>
          </a:p>
          <a:p>
            <a:endParaRPr/>
          </a:p>
          <a:p>
            <a:r>
              <a:t>Practical example: This slide works especially well before the comparison and selection block because the audience already understands not only the capabilities but also the cost of mistakes.</a:t>
            </a:r>
          </a:p>
          <a:p>
            <a:endParaRPr/>
          </a:p>
          <a:p>
            <a:r>
              <a:t>Limitations: If anti-patterns are only shown at the end, listeners have often already mentally chosen an overly complex solution and then resist simplification.</a:t>
            </a:r>
          </a:p>
          <a:p>
            <a:endParaRPr/>
          </a:p>
          <a:p>
            <a:r>
              <a:t>Conclusion: Good architecture starts not with maximum power, but with the discipline of selection and constraints.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Terms: Predictability — stability of result for the same input. Combined architecture — multiple layers working together.</a:t>
            </a:r>
          </a:p>
          <a:p>
            <a:endParaRPr/>
          </a:p>
          <a:p>
            <a:r>
              <a:t>Mechanics: The comparison mechanics is built through shared criteria: startup speed, control level, data access, cost of error, maintenance cost. Each layer covers different requirements, so evaluating 'better/worse' without the process context is incorrect. In the 45-minute structure, this slide acts as a synthesis: it connects theory and cases into a single decision matrix. It is useful to walk through one process and show where each layer applies.</a:t>
            </a:r>
          </a:p>
          <a:p>
            <a:endParaRPr/>
          </a:p>
          <a:p>
            <a:r>
              <a:t>Practical example: In a helpdesk: instructions for style, skills for template tasks, MCP for data, and workflow for the processing route; an agent is enabled only for non-standard cases.</a:t>
            </a:r>
          </a:p>
          <a:p>
            <a:endParaRPr/>
          </a:p>
          <a:p>
            <a:r>
              <a:t>Limitations: Comparison limitations: if evaluation criteria are set formally, the selection tree gives a false result. If available resources and team maturity are ignored, the chosen architecture does not get implemented. Also, when the process changes, the decision tree must be revised, otherwise the choice becomes outdated quickly.</a:t>
            </a:r>
          </a:p>
          <a:p>
            <a:endParaRPr/>
          </a:p>
          <a:p>
            <a:r>
              <a:t>Conclusion: The best choice is not one tool, but a coordinated combination of layers for the specific process and constraints.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13335" y="802299"/>
            <a:ext cx="6477805" cy="2541431"/>
          </a:xfrm>
        </p:spPr>
        <p:txBody>
          <a:bodyPr bIns="0" anchor="b">
            <a:normAutofit/>
          </a:bodyPr>
          <a:lstStyle>
            <a:lvl1pPr algn="l">
              <a:defRPr sz="4950"/>
            </a:lvl1pPr>
          </a:lstStyle>
          <a:p>
            <a:r>
              <a:rPr lang="en-US"/>
              <a:t>Click to edit Master title style</a:t>
            </a:r>
            <a:endParaRPr lang="en-US" dirty="0"/>
          </a:p>
        </p:txBody>
      </p:sp>
      <p:sp>
        <p:nvSpPr>
          <p:cNvPr id="3" name="Subtitle 2"/>
          <p:cNvSpPr>
            <a:spLocks noGrp="1"/>
          </p:cNvSpPr>
          <p:nvPr>
            <p:ph type="subTitle" idx="1"/>
          </p:nvPr>
        </p:nvSpPr>
        <p:spPr>
          <a:xfrm>
            <a:off x="1813335" y="3531205"/>
            <a:ext cx="6477804" cy="977621"/>
          </a:xfrm>
        </p:spPr>
        <p:txBody>
          <a:bodyPr tIns="91440" bIns="91440">
            <a:normAutofit/>
          </a:bodyPr>
          <a:lstStyle>
            <a:lvl1pPr marL="0" indent="0" algn="l">
              <a:buNone/>
              <a:defRPr sz="1350" b="0" cap="all" baseline="0">
                <a:solidFill>
                  <a:schemeClr val="tx1"/>
                </a:solidFill>
              </a:defRPr>
            </a:lvl1pPr>
            <a:lvl2pPr marL="342900" indent="0" algn="ctr">
              <a:buNone/>
              <a:defRPr sz="135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a:xfrm>
            <a:off x="1812376" y="329308"/>
            <a:ext cx="3730436" cy="309201"/>
          </a:xfrm>
        </p:spPr>
        <p:txBody>
          <a:bodyPr/>
          <a:lstStyle/>
          <a:p>
            <a:endParaRPr lang="en-US"/>
          </a:p>
        </p:txBody>
      </p:sp>
      <p:sp>
        <p:nvSpPr>
          <p:cNvPr id="6" name="Slide Number Placeholder 5"/>
          <p:cNvSpPr>
            <a:spLocks noGrp="1"/>
          </p:cNvSpPr>
          <p:nvPr>
            <p:ph type="sldNum" sz="quarter" idx="12"/>
          </p:nvPr>
        </p:nvSpPr>
        <p:spPr>
          <a:xfrm>
            <a:off x="1078249" y="798973"/>
            <a:ext cx="608264" cy="503578"/>
          </a:xfrm>
        </p:spPr>
        <p:txBody>
          <a:bodyPr/>
          <a:lstStyle/>
          <a:p>
            <a:fld id="{C1FF6DA9-008F-8B48-92A6-B652298478BF}" type="slidenum">
              <a:rPr lang="en-US" smtClean="0"/>
              <a:t>‹#›</a:t>
            </a:fld>
            <a:endParaRPr lang="en-US"/>
          </a:p>
        </p:txBody>
      </p:sp>
      <p:cxnSp>
        <p:nvCxnSpPr>
          <p:cNvPr id="15" name="Straight Connector 14"/>
          <p:cNvCxnSpPr/>
          <p:nvPr/>
        </p:nvCxnSpPr>
        <p:spPr>
          <a:xfrm>
            <a:off x="1813335" y="3528542"/>
            <a:ext cx="647780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34482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090422" y="1847088"/>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807719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90679" y="1756130"/>
            <a:ext cx="6482366" cy="1887950"/>
          </a:xfrm>
        </p:spPr>
        <p:txBody>
          <a:bodyPr anchor="b">
            <a:normAutofit/>
          </a:bodyPr>
          <a:lstStyle>
            <a:lvl1pPr algn="l">
              <a:defRPr sz="2700"/>
            </a:lvl1pPr>
          </a:lstStyle>
          <a:p>
            <a:r>
              <a:rPr lang="en-US"/>
              <a:t>Click to edit Master title style</a:t>
            </a:r>
            <a:endParaRPr lang="en-US" dirty="0"/>
          </a:p>
        </p:txBody>
      </p:sp>
      <p:sp>
        <p:nvSpPr>
          <p:cNvPr id="3" name="Text Placeholder 2"/>
          <p:cNvSpPr>
            <a:spLocks noGrp="1"/>
          </p:cNvSpPr>
          <p:nvPr>
            <p:ph type="body" idx="1"/>
          </p:nvPr>
        </p:nvSpPr>
        <p:spPr>
          <a:xfrm>
            <a:off x="1090679" y="3806196"/>
            <a:ext cx="6472835" cy="1012929"/>
          </a:xfrm>
        </p:spPr>
        <p:txBody>
          <a:bodyPr tIns="91440">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090679" y="3804985"/>
            <a:ext cx="647283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00946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86913" y="804890"/>
            <a:ext cx="7204226"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85498" y="2010879"/>
            <a:ext cx="3483864"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10328" y="2017343"/>
            <a:ext cx="3483864"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5" name="Straight Connector 34"/>
          <p:cNvCxnSpPr/>
          <p:nvPr/>
        </p:nvCxnSpPr>
        <p:spPr>
          <a:xfrm>
            <a:off x="1090422" y="1847088"/>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96650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85394" y="804164"/>
            <a:ext cx="7205746"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85393" y="2019550"/>
            <a:ext cx="3483864" cy="801943"/>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085393" y="2824270"/>
            <a:ext cx="3483864"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09272" y="2023004"/>
            <a:ext cx="3483864" cy="802237"/>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09272" y="2821491"/>
            <a:ext cx="3483864"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6/29/2026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cxnSp>
        <p:nvCxnSpPr>
          <p:cNvPr id="29" name="Straight Connector 28"/>
          <p:cNvCxnSpPr/>
          <p:nvPr/>
        </p:nvCxnSpPr>
        <p:spPr>
          <a:xfrm>
            <a:off x="1090422" y="1847088"/>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125907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6/29/2026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cxnSp>
        <p:nvCxnSpPr>
          <p:cNvPr id="25" name="Straight Connector 24"/>
          <p:cNvCxnSpPr/>
          <p:nvPr/>
        </p:nvCxnSpPr>
        <p:spPr>
          <a:xfrm>
            <a:off x="1090422" y="1847088"/>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788803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157619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3504" y="798973"/>
            <a:ext cx="2454824" cy="2247117"/>
          </a:xfrm>
        </p:spPr>
        <p:txBody>
          <a:bodyPr anchor="b">
            <a:normAutofit/>
          </a:bodyPr>
          <a:lstStyle>
            <a:lvl1pPr algn="l">
              <a:defRPr sz="1800"/>
            </a:lvl1pPr>
          </a:lstStyle>
          <a:p>
            <a:r>
              <a:rPr lang="en-US"/>
              <a:t>Click to edit Master title style</a:t>
            </a:r>
            <a:endParaRPr lang="en-US" dirty="0"/>
          </a:p>
        </p:txBody>
      </p:sp>
      <p:sp>
        <p:nvSpPr>
          <p:cNvPr id="3" name="Content Placeholder 2"/>
          <p:cNvSpPr>
            <a:spLocks noGrp="1"/>
          </p:cNvSpPr>
          <p:nvPr>
            <p:ph idx="1"/>
          </p:nvPr>
        </p:nvSpPr>
        <p:spPr>
          <a:xfrm>
            <a:off x="3782785" y="798974"/>
            <a:ext cx="4509353"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83504" y="3205492"/>
            <a:ext cx="2456260" cy="2248181"/>
          </a:xfrm>
        </p:spPr>
        <p:txBody>
          <a:bodyPr/>
          <a:lstStyle>
            <a:lvl1pPr marL="0" indent="0" algn="l">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7" name="Straight Connector 16"/>
          <p:cNvCxnSpPr/>
          <p:nvPr/>
        </p:nvCxnSpPr>
        <p:spPr>
          <a:xfrm>
            <a:off x="1086210" y="3205491"/>
            <a:ext cx="2452118"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709637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5608041" y="482171"/>
            <a:ext cx="3055900"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088405" y="1129513"/>
            <a:ext cx="4149246" cy="1830584"/>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3292" y="1122543"/>
            <a:ext cx="2093378"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087747" y="3145992"/>
            <a:ext cx="4143303" cy="2003742"/>
          </a:xfrm>
        </p:spPr>
        <p:txBody>
          <a:bodyPr>
            <a:normAutofit/>
          </a:bodyPr>
          <a:lstStyle>
            <a:lvl1pPr marL="0" indent="0" algn="l">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085537" y="5469857"/>
            <a:ext cx="4145513" cy="320123"/>
          </a:xfrm>
        </p:spPr>
        <p:txBody>
          <a:bodyPr/>
          <a:lstStyle>
            <a:lvl1pPr algn="l">
              <a:defRPr/>
            </a:lvl1pPr>
          </a:lstStyle>
          <a:p>
            <a:fld id="{5BCAD085-E8A6-8845-BD4E-CB4CCA059FC4}" type="datetimeFigureOut">
              <a:rPr lang="en-US" smtClean="0"/>
              <a:t>6/29/2026</a:t>
            </a:fld>
            <a:endParaRPr lang="en-US"/>
          </a:p>
        </p:txBody>
      </p:sp>
      <p:sp>
        <p:nvSpPr>
          <p:cNvPr id="6" name="Footer Placeholder 5"/>
          <p:cNvSpPr>
            <a:spLocks noGrp="1"/>
          </p:cNvSpPr>
          <p:nvPr>
            <p:ph type="ftr" sz="quarter" idx="11"/>
          </p:nvPr>
        </p:nvSpPr>
        <p:spPr>
          <a:xfrm>
            <a:off x="1085537" y="318641"/>
            <a:ext cx="4155753" cy="320931"/>
          </a:xfrm>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1" name="Straight Connector 30"/>
          <p:cNvCxnSpPr/>
          <p:nvPr/>
        </p:nvCxnSpPr>
        <p:spPr>
          <a:xfrm>
            <a:off x="1085537" y="3143605"/>
            <a:ext cx="414551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18156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26" name="Straight Connector 25"/>
          <p:cNvCxnSpPr/>
          <p:nvPr/>
        </p:nvCxnSpPr>
        <p:spPr>
          <a:xfrm>
            <a:off x="1090422" y="1847088"/>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12724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79333" y="798974"/>
            <a:ext cx="1211807"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83504" y="798974"/>
            <a:ext cx="5871623"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7079333"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34250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7"/>
            <a:ext cx="9144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9144000" cy="742950"/>
          </a:xfrm>
          <a:prstGeom prst="rect">
            <a:avLst/>
          </a:prstGeom>
        </p:spPr>
      </p:pic>
      <p:sp>
        <p:nvSpPr>
          <p:cNvPr id="2" name="Title Placeholder 1"/>
          <p:cNvSpPr>
            <a:spLocks noGrp="1"/>
          </p:cNvSpPr>
          <p:nvPr>
            <p:ph type="title"/>
          </p:nvPr>
        </p:nvSpPr>
        <p:spPr>
          <a:xfrm>
            <a:off x="1088685" y="804520"/>
            <a:ext cx="7202456"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088685" y="2015733"/>
            <a:ext cx="7202456"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65604" y="330370"/>
            <a:ext cx="2625536" cy="309201"/>
          </a:xfrm>
          <a:prstGeom prst="rect">
            <a:avLst/>
          </a:prstGeom>
        </p:spPr>
        <p:txBody>
          <a:bodyPr vert="horz" lIns="91440" tIns="45720" rIns="91440" bIns="45720" rtlCol="0" anchor="ctr"/>
          <a:lstStyle>
            <a:lvl1pPr algn="r">
              <a:defRPr sz="750">
                <a:solidFill>
                  <a:schemeClr val="tx1">
                    <a:tint val="75000"/>
                  </a:schemeClr>
                </a:solidFill>
              </a:defRPr>
            </a:lvl1pPr>
          </a:lstStyle>
          <a:p>
            <a:fld id="{5BCAD085-E8A6-8845-BD4E-CB4CCA059FC4}" type="datetimeFigureOut">
              <a:rPr lang="en-US" smtClean="0"/>
              <a:t>6/29/2026</a:t>
            </a:fld>
            <a:endParaRPr lang="en-US"/>
          </a:p>
        </p:txBody>
      </p:sp>
      <p:sp>
        <p:nvSpPr>
          <p:cNvPr id="5" name="Footer Placeholder 4"/>
          <p:cNvSpPr>
            <a:spLocks noGrp="1"/>
          </p:cNvSpPr>
          <p:nvPr>
            <p:ph type="ftr" sz="quarter" idx="3"/>
          </p:nvPr>
        </p:nvSpPr>
        <p:spPr>
          <a:xfrm>
            <a:off x="1088684" y="329308"/>
            <a:ext cx="4454127" cy="309201"/>
          </a:xfrm>
          <a:prstGeom prst="rect">
            <a:avLst/>
          </a:prstGeom>
        </p:spPr>
        <p:txBody>
          <a:bodyPr vert="horz" lIns="91440" tIns="45720" rIns="91440" bIns="45720" rtlCol="0" anchor="ctr"/>
          <a:lstStyle>
            <a:lvl1pPr algn="l">
              <a:defRPr sz="7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60046" y="798973"/>
            <a:ext cx="608264" cy="503578"/>
          </a:xfrm>
          <a:prstGeom prst="rect">
            <a:avLst/>
          </a:prstGeom>
        </p:spPr>
        <p:txBody>
          <a:bodyPr vert="horz" lIns="91440" tIns="45720" rIns="91440" bIns="45720" rtlCol="0" anchor="t"/>
          <a:lstStyle>
            <a:lvl1pPr algn="r">
              <a:defRPr sz="2100">
                <a:solidFill>
                  <a:schemeClr val="accent1"/>
                </a:solidFill>
              </a:defRPr>
            </a:lvl1pPr>
          </a:lstStyle>
          <a:p>
            <a:fld id="{C1FF6DA9-008F-8B48-92A6-B652298478BF}" type="slidenum">
              <a:rPr lang="en-US" smtClean="0"/>
              <a:t>‹#›</a:t>
            </a:fld>
            <a:endParaRPr lang="en-US"/>
          </a:p>
        </p:txBody>
      </p:sp>
      <p:cxnSp>
        <p:nvCxnSpPr>
          <p:cNvPr id="10" name="Straight Connector 9"/>
          <p:cNvCxnSpPr/>
          <p:nvPr/>
        </p:nvCxnSpPr>
        <p:spPr>
          <a:xfrm>
            <a:off x="0" y="6128413"/>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51678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2400" b="0" i="0" kern="1200" cap="all">
          <a:solidFill>
            <a:schemeClr val="tx1"/>
          </a:solidFill>
          <a:effectLst/>
          <a:latin typeface="+mj-lt"/>
          <a:ea typeface="+mj-ea"/>
          <a:cs typeface="+mj-cs"/>
        </a:defRPr>
      </a:lvl1pPr>
    </p:titleStyle>
    <p:bodyStyle>
      <a:lvl1pPr marL="171450" indent="-171450" algn="l" defTabSz="685800" rtl="0" eaLnBrk="1" latinLnBrk="0" hangingPunct="1">
        <a:lnSpc>
          <a:spcPct val="120000"/>
        </a:lnSpc>
        <a:spcBef>
          <a:spcPts val="750"/>
        </a:spcBef>
        <a:buClr>
          <a:schemeClr val="accent1"/>
        </a:buClr>
        <a:buSzPct val="100000"/>
        <a:buFont typeface="Arial" panose="020B0604020202020204" pitchFamily="34" charset="0"/>
        <a:buChar char="•"/>
        <a:defRPr sz="1500" kern="1200">
          <a:solidFill>
            <a:schemeClr val="tx1"/>
          </a:solidFill>
          <a:effectLst/>
          <a:latin typeface="+mn-lt"/>
          <a:ea typeface="+mn-ea"/>
          <a:cs typeface="+mn-cs"/>
        </a:defRPr>
      </a:lvl1pPr>
      <a:lvl2pPr marL="5143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350" kern="1200" cap="none" baseline="0">
          <a:solidFill>
            <a:schemeClr val="tx1"/>
          </a:solidFill>
          <a:effectLst/>
          <a:latin typeface="+mn-lt"/>
          <a:ea typeface="+mn-ea"/>
          <a:cs typeface="+mn-cs"/>
        </a:defRPr>
      </a:lvl2pPr>
      <a:lvl3pPr marL="8572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3pPr>
      <a:lvl4pPr marL="12001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050" kern="1200" cap="none" baseline="0">
          <a:solidFill>
            <a:schemeClr val="tx1"/>
          </a:solidFill>
          <a:effectLst/>
          <a:latin typeface="+mn-lt"/>
          <a:ea typeface="+mn-ea"/>
          <a:cs typeface="+mn-cs"/>
        </a:defRPr>
      </a:lvl4pPr>
      <a:lvl5pPr marL="15430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5pPr>
      <a:lvl6pPr marL="18859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6pPr>
      <a:lvl7pPr marL="22288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7pPr>
      <a:lvl8pPr marL="25717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8pPr>
      <a:lvl9pPr marL="29146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pic>
        <p:nvPicPr>
          <p:cNvPr id="5122" name="Picture 2" descr="Кот-дирижер симфонического оркестра» — картинка создана в Шедевруме">
            <a:extLst>
              <a:ext uri="{FF2B5EF4-FFF2-40B4-BE49-F238E27FC236}">
                <a16:creationId xmlns:a16="http://schemas.microsoft.com/office/drawing/2014/main" id="{7CFA7A27-36D9-B084-CC42-E1F50F3992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6895" r="-2" b="8102"/>
          <a:stretch>
            <a:fillRect/>
          </a:stretch>
        </p:blipFill>
        <p:spPr bwMode="auto">
          <a:xfrm>
            <a:off x="1" y="10"/>
            <a:ext cx="9143771" cy="6857990"/>
          </a:xfrm>
          <a:prstGeom prst="rect">
            <a:avLst/>
          </a:prstGeom>
          <a:noFill/>
          <a:extLst>
            <a:ext uri="{909E8E84-426E-40DD-AFC4-6F175D3DCCD1}">
              <a14:hiddenFill xmlns:a14="http://schemas.microsoft.com/office/drawing/2010/main">
                <a:solidFill>
                  <a:srgbClr val="FFFFFF"/>
                </a:solidFill>
              </a14:hiddenFill>
            </a:ext>
          </a:extLst>
        </p:spPr>
      </p:pic>
      <p:sp>
        <p:nvSpPr>
          <p:cNvPr id="5127" name="Rectangle 5126">
            <a:extLst>
              <a:ext uri="{FF2B5EF4-FFF2-40B4-BE49-F238E27FC236}">
                <a16:creationId xmlns:a16="http://schemas.microsoft.com/office/drawing/2014/main" id="{6A0FFA78-985C-4F50-B21A-77045C7DF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22589" y="3064931"/>
            <a:ext cx="6221411"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3049133" y="3236470"/>
            <a:ext cx="5124375" cy="1252601"/>
          </a:xfrm>
        </p:spPr>
        <p:txBody>
          <a:bodyPr>
            <a:normAutofit/>
          </a:bodyPr>
          <a:lstStyle/>
          <a:p>
            <a:r>
              <a:rPr lang="en-US" sz="2900" b="1">
                <a:solidFill>
                  <a:srgbClr val="FFFFFE"/>
                </a:solidFill>
                <a:latin typeface="Calibri"/>
              </a:rPr>
              <a:t>Prompts vs Instructions vs Skills vs MCPs vs Agents vs Workflows</a:t>
            </a:r>
          </a:p>
        </p:txBody>
      </p:sp>
      <p:sp>
        <p:nvSpPr>
          <p:cNvPr id="3" name="Subtitle 2"/>
          <p:cNvSpPr>
            <a:spLocks noGrp="1"/>
          </p:cNvSpPr>
          <p:nvPr>
            <p:ph type="subTitle" idx="1"/>
          </p:nvPr>
        </p:nvSpPr>
        <p:spPr>
          <a:xfrm>
            <a:off x="3049133" y="4669144"/>
            <a:ext cx="5124374" cy="716529"/>
          </a:xfrm>
        </p:spPr>
        <p:txBody>
          <a:bodyPr>
            <a:normAutofit/>
          </a:bodyPr>
          <a:lstStyle/>
          <a:p>
            <a:r>
              <a:rPr lang="en-US" sz="1400">
                <a:solidFill>
                  <a:srgbClr val="FFFFFE"/>
                </a:solidFill>
                <a:latin typeface="Calibri"/>
              </a:rPr>
              <a:t>How to design AI systems: from a single request to full automation</a:t>
            </a:r>
          </a:p>
        </p:txBody>
      </p:sp>
      <p:cxnSp>
        <p:nvCxnSpPr>
          <p:cNvPr id="5129" name="Straight Connector 5128">
            <a:extLst>
              <a:ext uri="{FF2B5EF4-FFF2-40B4-BE49-F238E27FC236}">
                <a16:creationId xmlns:a16="http://schemas.microsoft.com/office/drawing/2014/main" id="{65409EC7-69B1-45CC-8FB7-1964C1AB672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049131" y="4666480"/>
            <a:ext cx="5124375" cy="0"/>
          </a:xfrm>
          <a:prstGeom prst="line">
            <a:avLst/>
          </a:prstGeom>
          <a:ln w="31750">
            <a:solidFill>
              <a:srgbClr val="C38C34"/>
            </a:solidFill>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b="1">
                <a:latin typeface="Calibri"/>
              </a:rPr>
              <a:t>The Complexity Ladder</a:t>
            </a:r>
          </a:p>
        </p:txBody>
      </p:sp>
      <p:sp>
        <p:nvSpPr>
          <p:cNvPr id="3" name="Content Placeholder 2"/>
          <p:cNvSpPr>
            <a:spLocks noGrp="1"/>
          </p:cNvSpPr>
          <p:nvPr>
            <p:ph idx="1"/>
          </p:nvPr>
        </p:nvSpPr>
        <p:spPr/>
        <p:txBody>
          <a:bodyPr/>
          <a:lstStyle/>
          <a:p>
            <a:r>
              <a:rPr sz="2000">
                <a:latin typeface="Calibri"/>
              </a:rPr>
              <a:t>Prompts -&gt; Instructions -&gt; Skills -&gt; MCPs -&gt; Agents -&gt; Workflows</a:t>
            </a:r>
          </a:p>
          <a:p>
            <a:r>
              <a:rPr sz="2000">
                <a:latin typeface="Calibri"/>
              </a:rPr>
              <a:t>Left: simpler and faster to start</a:t>
            </a:r>
          </a:p>
          <a:p>
            <a:r>
              <a:rPr sz="2000">
                <a:latin typeface="Calibri"/>
              </a:rPr>
              <a:t>Right: higher autonomy and reliability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88684" y="804519"/>
            <a:ext cx="7202456" cy="1049235"/>
          </a:xfrm>
        </p:spPr>
        <p:txBody>
          <a:bodyPr>
            <a:normAutofit/>
          </a:bodyPr>
          <a:lstStyle/>
          <a:p>
            <a:r>
              <a:rPr lang="en-US" b="1">
                <a:latin typeface="Calibri"/>
              </a:rPr>
              <a:t>Prompts</a:t>
            </a:r>
          </a:p>
        </p:txBody>
      </p:sp>
      <p:sp>
        <p:nvSpPr>
          <p:cNvPr id="3" name="Content Placeholder 2"/>
          <p:cNvSpPr>
            <a:spLocks noGrp="1"/>
          </p:cNvSpPr>
          <p:nvPr>
            <p:ph idx="1"/>
          </p:nvPr>
        </p:nvSpPr>
        <p:spPr>
          <a:xfrm>
            <a:off x="1088684" y="2015734"/>
            <a:ext cx="4216713" cy="3450613"/>
          </a:xfrm>
        </p:spPr>
        <p:txBody>
          <a:bodyPr>
            <a:normAutofit/>
          </a:bodyPr>
          <a:lstStyle/>
          <a:p>
            <a:r>
              <a:rPr lang="en-US">
                <a:latin typeface="Calibri"/>
              </a:rPr>
              <a:t>A one-shot text request to AI</a:t>
            </a:r>
          </a:p>
          <a:p>
            <a:r>
              <a:rPr lang="en-US">
                <a:latin typeface="Calibri"/>
              </a:rPr>
              <a:t>Pros: speed, flexibility, minimal entry barrier</a:t>
            </a:r>
          </a:p>
          <a:p>
            <a:r>
              <a:rPr lang="en-US">
                <a:latin typeface="Calibri"/>
              </a:rPr>
              <a:t>Cons: no stability and no access to live data</a:t>
            </a:r>
          </a:p>
          <a:p>
            <a:r>
              <a:rPr lang="en-US">
                <a:latin typeface="Calibri"/>
              </a:rPr>
              <a:t>Best for quick one-off tasks</a:t>
            </a:r>
          </a:p>
        </p:txBody>
      </p:sp>
      <p:pic>
        <p:nvPicPr>
          <p:cNvPr id="1026" name="Picture 2" descr="52 Writing Prompts About Cats | Imagine Forest">
            <a:extLst>
              <a:ext uri="{FF2B5EF4-FFF2-40B4-BE49-F238E27FC236}">
                <a16:creationId xmlns:a16="http://schemas.microsoft.com/office/drawing/2014/main" id="{F229D109-C975-8C48-0123-ABA8ABE3734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827646" y="2015734"/>
            <a:ext cx="2301452" cy="34506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88684" y="804519"/>
            <a:ext cx="7202456" cy="1049235"/>
          </a:xfrm>
        </p:spPr>
        <p:txBody>
          <a:bodyPr>
            <a:normAutofit/>
          </a:bodyPr>
          <a:lstStyle/>
          <a:p>
            <a:r>
              <a:rPr lang="en-US" b="1">
                <a:latin typeface="Calibri"/>
              </a:rPr>
              <a:t>Instructions</a:t>
            </a:r>
          </a:p>
        </p:txBody>
      </p:sp>
      <p:sp>
        <p:nvSpPr>
          <p:cNvPr id="3" name="Content Placeholder 2"/>
          <p:cNvSpPr>
            <a:spLocks noGrp="1"/>
          </p:cNvSpPr>
          <p:nvPr>
            <p:ph idx="1"/>
          </p:nvPr>
        </p:nvSpPr>
        <p:spPr>
          <a:xfrm>
            <a:off x="1088684" y="2015734"/>
            <a:ext cx="4216713" cy="3450613"/>
          </a:xfrm>
        </p:spPr>
        <p:txBody>
          <a:bodyPr>
            <a:normAutofit/>
          </a:bodyPr>
          <a:lstStyle/>
          <a:p>
            <a:r>
              <a:rPr lang="en-US">
                <a:latin typeface="Calibri"/>
              </a:rPr>
              <a:t>Persistent behavioral rules for the model (system prompt)</a:t>
            </a:r>
          </a:p>
          <a:p>
            <a:r>
              <a:rPr lang="en-US">
                <a:latin typeface="Calibri"/>
              </a:rPr>
              <a:t>Ensure consistent style and response boundaries</a:t>
            </a:r>
          </a:p>
          <a:p>
            <a:r>
              <a:rPr lang="en-US">
                <a:latin typeface="Calibri"/>
              </a:rPr>
              <a:t>Important for corporate assistants</a:t>
            </a:r>
          </a:p>
          <a:p>
            <a:r>
              <a:rPr lang="en-US">
                <a:latin typeface="Calibri"/>
              </a:rPr>
              <a:t>Do not replace data access — that is the role of MCP</a:t>
            </a:r>
          </a:p>
        </p:txBody>
      </p:sp>
      <p:pic>
        <p:nvPicPr>
          <p:cNvPr id="2050" name="Picture 2" descr="Instructions unclear 🥴 Cat now runs the house 😹 I genuinely thought I was  doing things right. But apparently you're not supposed to hold them like a  sack of potatoes, or scoop">
            <a:extLst>
              <a:ext uri="{FF2B5EF4-FFF2-40B4-BE49-F238E27FC236}">
                <a16:creationId xmlns:a16="http://schemas.microsoft.com/office/drawing/2014/main" id="{0FC80C1C-E31A-7DEC-70A0-260CA7C03FF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665604" y="2428272"/>
            <a:ext cx="2625536" cy="262553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88684" y="804519"/>
            <a:ext cx="7202456" cy="1049235"/>
          </a:xfrm>
        </p:spPr>
        <p:txBody>
          <a:bodyPr>
            <a:normAutofit/>
          </a:bodyPr>
          <a:lstStyle/>
          <a:p>
            <a:r>
              <a:rPr lang="en-US" b="1">
                <a:latin typeface="Calibri"/>
              </a:rPr>
              <a:t>Skills</a:t>
            </a:r>
          </a:p>
        </p:txBody>
      </p:sp>
      <p:pic>
        <p:nvPicPr>
          <p:cNvPr id="5" name="Picture 4">
            <a:extLst>
              <a:ext uri="{FF2B5EF4-FFF2-40B4-BE49-F238E27FC236}">
                <a16:creationId xmlns:a16="http://schemas.microsoft.com/office/drawing/2014/main" id="{48B918F7-7E7F-FB13-B0D3-B2B01142A15D}"/>
              </a:ext>
            </a:extLst>
          </p:cNvPr>
          <p:cNvPicPr>
            <a:picLocks noChangeAspect="1"/>
          </p:cNvPicPr>
          <p:nvPr/>
        </p:nvPicPr>
        <p:blipFill>
          <a:blip r:embed="rId3"/>
          <a:stretch>
            <a:fillRect/>
          </a:stretch>
        </p:blipFill>
        <p:spPr>
          <a:xfrm>
            <a:off x="1314122" y="2015734"/>
            <a:ext cx="3269455" cy="3450613"/>
          </a:xfrm>
          <a:prstGeom prst="rect">
            <a:avLst/>
          </a:prstGeom>
        </p:spPr>
      </p:pic>
      <p:sp>
        <p:nvSpPr>
          <p:cNvPr id="3" name="Content Placeholder 2"/>
          <p:cNvSpPr>
            <a:spLocks noGrp="1"/>
          </p:cNvSpPr>
          <p:nvPr>
            <p:ph idx="1"/>
          </p:nvPr>
        </p:nvSpPr>
        <p:spPr>
          <a:xfrm>
            <a:off x="5169224" y="2015734"/>
            <a:ext cx="3121916" cy="3450613"/>
          </a:xfrm>
        </p:spPr>
        <p:txBody>
          <a:bodyPr>
            <a:normAutofit/>
          </a:bodyPr>
          <a:lstStyle/>
          <a:p>
            <a:r>
              <a:rPr lang="en-US">
                <a:latin typeface="Calibri"/>
              </a:rPr>
              <a:t>Reusable competency modules</a:t>
            </a:r>
          </a:p>
          <a:p>
            <a:r>
              <a:rPr lang="en-US">
                <a:latin typeface="Calibri"/>
              </a:rPr>
              <a:t>Examples: code review, error analysis, report formatting</a:t>
            </a:r>
          </a:p>
          <a:p>
            <a:r>
              <a:rPr lang="en-US">
                <a:latin typeface="Calibri"/>
              </a:rPr>
              <a:t>Pros: standardization and scaling</a:t>
            </a:r>
          </a:p>
          <a:p>
            <a:r>
              <a:rPr lang="en-US">
                <a:latin typeface="Calibri"/>
              </a:rPr>
              <a:t>Require maintenance and versioning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b="1">
                <a:latin typeface="Calibri"/>
              </a:rPr>
              <a:t>MCPs</a:t>
            </a:r>
          </a:p>
        </p:txBody>
      </p:sp>
      <p:sp>
        <p:nvSpPr>
          <p:cNvPr id="3" name="Content Placeholder 2"/>
          <p:cNvSpPr>
            <a:spLocks noGrp="1"/>
          </p:cNvSpPr>
          <p:nvPr>
            <p:ph idx="1"/>
          </p:nvPr>
        </p:nvSpPr>
        <p:spPr/>
        <p:txBody>
          <a:bodyPr/>
          <a:lstStyle/>
          <a:p>
            <a:r>
              <a:rPr sz="2000">
                <a:latin typeface="Calibri"/>
              </a:rPr>
              <a:t>Model Context Protocol: the standard for connecting tools</a:t>
            </a:r>
          </a:p>
          <a:p>
            <a:r>
              <a:rPr sz="2000">
                <a:latin typeface="Calibri"/>
              </a:rPr>
              <a:t>Provides access to files, databases, APIs, GitHub</a:t>
            </a:r>
          </a:p>
          <a:p>
            <a:r>
              <a:rPr sz="2000">
                <a:latin typeface="Calibri"/>
              </a:rPr>
              <a:t>Analogy: a USB port for AI</a:t>
            </a:r>
          </a:p>
          <a:p>
            <a:r>
              <a:rPr sz="2000">
                <a:latin typeface="Calibri"/>
              </a:rPr>
              <a:t>Requires a strict access control model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88684" y="804519"/>
            <a:ext cx="7202456" cy="1049235"/>
          </a:xfrm>
        </p:spPr>
        <p:txBody>
          <a:bodyPr>
            <a:normAutofit/>
          </a:bodyPr>
          <a:lstStyle/>
          <a:p>
            <a:r>
              <a:rPr lang="en-US" b="1">
                <a:latin typeface="Calibri"/>
              </a:rPr>
              <a:t>Agents</a:t>
            </a:r>
          </a:p>
        </p:txBody>
      </p:sp>
      <p:sp>
        <p:nvSpPr>
          <p:cNvPr id="3" name="Content Placeholder 2"/>
          <p:cNvSpPr>
            <a:spLocks noGrp="1"/>
          </p:cNvSpPr>
          <p:nvPr>
            <p:ph idx="1"/>
          </p:nvPr>
        </p:nvSpPr>
        <p:spPr>
          <a:xfrm>
            <a:off x="1088684" y="2015734"/>
            <a:ext cx="4216713" cy="3450613"/>
          </a:xfrm>
        </p:spPr>
        <p:txBody>
          <a:bodyPr>
            <a:normAutofit/>
          </a:bodyPr>
          <a:lstStyle/>
          <a:p>
            <a:r>
              <a:rPr lang="en-US">
                <a:latin typeface="Calibri"/>
              </a:rPr>
              <a:t>Autonomous cycle: perception -&gt; plan -&gt; action -&gt; reflection</a:t>
            </a:r>
          </a:p>
          <a:p>
            <a:r>
              <a:rPr lang="en-US">
                <a:latin typeface="Calibri"/>
              </a:rPr>
              <a:t>Strong for non-standard multi-step tasks</a:t>
            </a:r>
          </a:p>
          <a:p>
            <a:r>
              <a:rPr lang="en-US">
                <a:latin typeface="Calibri"/>
              </a:rPr>
              <a:t>Risks: loops, hallucinations, cost</a:t>
            </a:r>
          </a:p>
          <a:p>
            <a:r>
              <a:rPr lang="en-US">
                <a:latin typeface="Calibri"/>
              </a:rPr>
              <a:t>Need limits, logs, and human-in-the-loop</a:t>
            </a:r>
          </a:p>
        </p:txBody>
      </p:sp>
      <p:pic>
        <p:nvPicPr>
          <p:cNvPr id="3074" name="Picture 2" descr="James Bond Cat Wall Art for Sale | Redbubble">
            <a:extLst>
              <a:ext uri="{FF2B5EF4-FFF2-40B4-BE49-F238E27FC236}">
                <a16:creationId xmlns:a16="http://schemas.microsoft.com/office/drawing/2014/main" id="{A1D1D690-BE3D-DE2F-A340-D5705AB704D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665604" y="2428272"/>
            <a:ext cx="2625536" cy="262553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b="1">
                <a:latin typeface="Calibri"/>
              </a:rPr>
              <a:t>Workflows</a:t>
            </a:r>
          </a:p>
        </p:txBody>
      </p:sp>
      <p:sp>
        <p:nvSpPr>
          <p:cNvPr id="3" name="Content Placeholder 2"/>
          <p:cNvSpPr>
            <a:spLocks noGrp="1"/>
          </p:cNvSpPr>
          <p:nvPr>
            <p:ph idx="1"/>
          </p:nvPr>
        </p:nvSpPr>
        <p:spPr/>
        <p:txBody>
          <a:bodyPr/>
          <a:lstStyle/>
          <a:p>
            <a:r>
              <a:rPr sz="2000">
                <a:latin typeface="Calibri"/>
              </a:rPr>
              <a:t>Deterministic sequence of steps</a:t>
            </a:r>
          </a:p>
          <a:p>
            <a:r>
              <a:rPr sz="2000">
                <a:latin typeface="Calibri"/>
              </a:rPr>
              <a:t>Pros: predictability, auditability, recoverability</a:t>
            </a:r>
          </a:p>
          <a:p>
            <a:r>
              <a:rPr sz="2000">
                <a:latin typeface="Calibri"/>
              </a:rPr>
              <a:t>Better for regular business processes</a:t>
            </a:r>
          </a:p>
          <a:p>
            <a:r>
              <a:rPr sz="2000">
                <a:latin typeface="Calibri"/>
              </a:rPr>
              <a:t>Hybrid: workflow shell + agent on complex steps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sz="4000" b="1">
                <a:latin typeface="Calibri"/>
              </a:rPr>
              <a:t>Examples by Level</a:t>
            </a:r>
          </a:p>
        </p:txBody>
      </p:sp>
      <p:sp>
        <p:nvSpPr>
          <p:cNvPr id="3" name="Subtitle 2"/>
          <p:cNvSpPr>
            <a:spLocks noGrp="1"/>
          </p:cNvSpPr>
          <p:nvPr>
            <p:ph type="subTitle" idx="1"/>
          </p:nvPr>
        </p:nvSpPr>
        <p:spPr/>
        <p:txBody>
          <a:bodyPr/>
          <a:lstStyle/>
          <a:p>
            <a:r>
              <a:rPr sz="2200">
                <a:latin typeface="Calibri"/>
              </a:rPr>
              <a:t>From a single prompt to workflow and anti-patterns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88684" y="804519"/>
            <a:ext cx="7202456" cy="1049235"/>
          </a:xfrm>
        </p:spPr>
        <p:txBody>
          <a:bodyPr>
            <a:normAutofit/>
          </a:bodyPr>
          <a:lstStyle/>
          <a:p>
            <a:r>
              <a:rPr lang="en-US" b="1">
                <a:latin typeface="Calibri"/>
              </a:rPr>
              <a:t>Example: Prompts</a:t>
            </a:r>
          </a:p>
        </p:txBody>
      </p:sp>
      <p:sp>
        <p:nvSpPr>
          <p:cNvPr id="3" name="Content Placeholder 2"/>
          <p:cNvSpPr>
            <a:spLocks noGrp="1"/>
          </p:cNvSpPr>
          <p:nvPr>
            <p:ph idx="1"/>
          </p:nvPr>
        </p:nvSpPr>
        <p:spPr>
          <a:xfrm>
            <a:off x="1088684" y="2015734"/>
            <a:ext cx="4216713" cy="3450613"/>
          </a:xfrm>
        </p:spPr>
        <p:txBody>
          <a:bodyPr>
            <a:normAutofit fontScale="92500" lnSpcReduction="10000"/>
          </a:bodyPr>
          <a:lstStyle/>
          <a:p>
            <a:r>
              <a:rPr lang="en-US" dirty="0">
                <a:latin typeface="Calibri"/>
              </a:rPr>
              <a:t>Situation: notify a customer about an order delay</a:t>
            </a:r>
          </a:p>
          <a:p>
            <a:r>
              <a:rPr lang="en-US" dirty="0">
                <a:latin typeface="Calibri"/>
              </a:rPr>
              <a:t>Basic prompt: 'Write a letter to the customer about the order delay'</a:t>
            </a:r>
          </a:p>
          <a:p>
            <a:r>
              <a:rPr lang="en-US" dirty="0">
                <a:latin typeface="Calibri"/>
              </a:rPr>
              <a:t>Improved prompt: role, deadline, structure, tone, compensation. </a:t>
            </a:r>
          </a:p>
          <a:p>
            <a:r>
              <a:rPr lang="en-US" dirty="0">
                <a:latin typeface="Calibri"/>
              </a:rPr>
              <a:t>Improved prompt: You are a customer support specialist. Write a short polite letter about a 2-day order delay. Structure: apology, reason without technical details, new date, 10 percent compensation'</a:t>
            </a:r>
          </a:p>
          <a:p>
            <a:r>
              <a:rPr lang="en-US" dirty="0">
                <a:latin typeface="Calibri"/>
              </a:rPr>
              <a:t>Conclusion: prompt is good for a quick draft but does not guarantee a consistent standard</a:t>
            </a:r>
          </a:p>
        </p:txBody>
      </p:sp>
      <p:pic>
        <p:nvPicPr>
          <p:cNvPr id="4098" name="Picture 2" descr="Кот в ужасе делает селфи» — картинка создана в Шедевруме">
            <a:extLst>
              <a:ext uri="{FF2B5EF4-FFF2-40B4-BE49-F238E27FC236}">
                <a16:creationId xmlns:a16="http://schemas.microsoft.com/office/drawing/2014/main" id="{A935BFC9-6FB1-6D9F-A6A9-FAEE515729B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665604" y="2116232"/>
            <a:ext cx="2625536" cy="262553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b="1">
                <a:latin typeface="Calibri"/>
              </a:rPr>
              <a:t>Example: Instructions</a:t>
            </a:r>
          </a:p>
        </p:txBody>
      </p:sp>
      <p:sp>
        <p:nvSpPr>
          <p:cNvPr id="3" name="Content Placeholder 2"/>
          <p:cNvSpPr>
            <a:spLocks noGrp="1"/>
          </p:cNvSpPr>
          <p:nvPr>
            <p:ph idx="1"/>
          </p:nvPr>
        </p:nvSpPr>
        <p:spPr/>
        <p:txBody>
          <a:bodyPr/>
          <a:lstStyle/>
          <a:p>
            <a:r>
              <a:rPr sz="2000">
                <a:latin typeface="Calibri"/>
              </a:rPr>
              <a:t>The same request, but now with persistent behavioral rules</a:t>
            </a:r>
          </a:p>
          <a:p>
            <a:r>
              <a:rPr sz="2000">
                <a:latin typeface="Calibri"/>
              </a:rPr>
              <a:t>Rules: English language, formal tone, do not invent order status</a:t>
            </a:r>
          </a:p>
          <a:p>
            <a:r>
              <a:rPr sz="2000">
                <a:latin typeface="Calibri"/>
              </a:rPr>
              <a:t>Every response ends with a 'Next Step' block</a:t>
            </a:r>
          </a:p>
          <a:p>
            <a:r>
              <a:rPr sz="2000">
                <a:latin typeface="Calibri"/>
              </a:rPr>
              <a:t>Conclusion: instructions stabilize the response style and policy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b="1">
                <a:latin typeface="Calibri"/>
              </a:rPr>
              <a:t>Example: Skills</a:t>
            </a:r>
          </a:p>
        </p:txBody>
      </p:sp>
      <p:sp>
        <p:nvSpPr>
          <p:cNvPr id="3" name="Content Placeholder 2"/>
          <p:cNvSpPr>
            <a:spLocks noGrp="1"/>
          </p:cNvSpPr>
          <p:nvPr>
            <p:ph idx="1"/>
          </p:nvPr>
        </p:nvSpPr>
        <p:spPr/>
        <p:txBody>
          <a:bodyPr/>
          <a:lstStyle/>
          <a:p>
            <a:r>
              <a:rPr sz="2000">
                <a:latin typeface="Calibri"/>
              </a:rPr>
              <a:t>Repeatable logic can be packaged into a skill</a:t>
            </a:r>
          </a:p>
          <a:p>
            <a:r>
              <a:rPr sz="2000">
                <a:latin typeface="Calibri"/>
              </a:rPr>
              <a:t>Example: skill 'AI Code Review' with Security, Correctness, Maintainability categories</a:t>
            </a:r>
          </a:p>
          <a:p>
            <a:r>
              <a:rPr sz="2000">
                <a:latin typeface="Calibri"/>
              </a:rPr>
              <a:t>Example 2: skill 'Incident Summary' for on-call team</a:t>
            </a:r>
          </a:p>
          <a:p>
            <a:r>
              <a:rPr sz="2000">
                <a:latin typeface="Calibri"/>
              </a:rPr>
              <a:t>Conclusion: a skill turns a successful practice into a reusable module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b="1">
                <a:latin typeface="Calibri"/>
              </a:rPr>
              <a:t>Example: MCP</a:t>
            </a:r>
          </a:p>
        </p:txBody>
      </p:sp>
      <p:sp>
        <p:nvSpPr>
          <p:cNvPr id="3" name="Content Placeholder 2"/>
          <p:cNvSpPr>
            <a:spLocks noGrp="1"/>
          </p:cNvSpPr>
          <p:nvPr>
            <p:ph idx="1"/>
          </p:nvPr>
        </p:nvSpPr>
        <p:spPr/>
        <p:txBody>
          <a:bodyPr/>
          <a:lstStyle/>
          <a:p>
            <a:r>
              <a:rPr sz="2000">
                <a:latin typeface="Calibri"/>
              </a:rPr>
              <a:t>Scenario 1: customer support + CRM via MCP</a:t>
            </a:r>
          </a:p>
          <a:p>
            <a:r>
              <a:rPr sz="2000">
                <a:latin typeface="Calibri"/>
              </a:rPr>
              <a:t>Scenario 2: Dev Assistant + GitHub summary of open PRs</a:t>
            </a:r>
          </a:p>
          <a:p>
            <a:r>
              <a:rPr sz="2000">
                <a:latin typeface="Calibri"/>
              </a:rPr>
              <a:t>Main idea: AI gets real facts instead of guessing</a:t>
            </a:r>
          </a:p>
          <a:p>
            <a:r>
              <a:rPr sz="2000">
                <a:latin typeface="Calibri"/>
              </a:rPr>
              <a:t>Conclusion: MCP handles data and action access, not response style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88684" y="804519"/>
            <a:ext cx="7202456" cy="1049235"/>
          </a:xfrm>
        </p:spPr>
        <p:txBody>
          <a:bodyPr>
            <a:normAutofit/>
          </a:bodyPr>
          <a:lstStyle/>
          <a:p>
            <a:r>
              <a:rPr lang="en-US" b="1">
                <a:latin typeface="Calibri"/>
              </a:rPr>
              <a:t>Example: Agents</a:t>
            </a:r>
          </a:p>
        </p:txBody>
      </p:sp>
      <p:sp>
        <p:nvSpPr>
          <p:cNvPr id="3" name="Content Placeholder 2"/>
          <p:cNvSpPr>
            <a:spLocks noGrp="1"/>
          </p:cNvSpPr>
          <p:nvPr>
            <p:ph idx="1"/>
          </p:nvPr>
        </p:nvSpPr>
        <p:spPr>
          <a:xfrm>
            <a:off x="1088684" y="2015734"/>
            <a:ext cx="4076800" cy="3450613"/>
          </a:xfrm>
        </p:spPr>
        <p:txBody>
          <a:bodyPr>
            <a:normAutofit/>
          </a:bodyPr>
          <a:lstStyle/>
          <a:p>
            <a:r>
              <a:rPr lang="en-US">
                <a:latin typeface="Calibri"/>
              </a:rPr>
              <a:t>Competitive analysis agent: 5 competitors in 20 minutes</a:t>
            </a:r>
          </a:p>
          <a:p>
            <a:r>
              <a:rPr lang="en-US">
                <a:latin typeface="Calibri"/>
              </a:rPr>
              <a:t>Steps: find sources, compare criteria, build difference table, draw conclusions</a:t>
            </a:r>
          </a:p>
          <a:p>
            <a:r>
              <a:rPr lang="en-US">
                <a:latin typeface="Calibri"/>
              </a:rPr>
              <a:t>Learning plan agent: analyze stack, find gaps, produce week-by-week roadmap</a:t>
            </a:r>
          </a:p>
          <a:p>
            <a:r>
              <a:rPr lang="en-US">
                <a:latin typeface="Calibri"/>
              </a:rPr>
              <a:t>Conclusion: an agent is justified where the action order cannot be fully fixed in advance</a:t>
            </a:r>
          </a:p>
        </p:txBody>
      </p:sp>
      <p:grpSp>
        <p:nvGrpSpPr>
          <p:cNvPr id="6151" name="Group 6150">
            <a:extLst>
              <a:ext uri="{FF2B5EF4-FFF2-40B4-BE49-F238E27FC236}">
                <a16:creationId xmlns:a16="http://schemas.microsoft.com/office/drawing/2014/main" id="{FEB7DF70-0A31-4A61-9C8B-3333776A15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542809" y="2012810"/>
            <a:ext cx="2751052" cy="3453535"/>
            <a:chOff x="7807230" y="2012810"/>
            <a:chExt cx="3251252" cy="3459865"/>
          </a:xfrm>
        </p:grpSpPr>
        <p:sp>
          <p:nvSpPr>
            <p:cNvPr id="6152" name="Rectangle 6151">
              <a:extLst>
                <a:ext uri="{FF2B5EF4-FFF2-40B4-BE49-F238E27FC236}">
                  <a16:creationId xmlns:a16="http://schemas.microsoft.com/office/drawing/2014/main" id="{47926867-8D58-4875-8B76-E87E5BE825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153" name="Rectangle 6152">
              <a:extLst>
                <a:ext uri="{FF2B5EF4-FFF2-40B4-BE49-F238E27FC236}">
                  <a16:creationId xmlns:a16="http://schemas.microsoft.com/office/drawing/2014/main" id="{A9F6663C-0F32-4FB9-B549-C2757F49F9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gradFill>
              <a:gsLst>
                <a:gs pos="0">
                  <a:srgbClr val="DADADA"/>
                </a:gs>
                <a:gs pos="100000">
                  <a:srgbClr val="FFFFFE"/>
                </a:gs>
              </a:gsLst>
              <a:lin ang="16200000" scaled="0"/>
            </a:gra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6146" name="Picture 2" descr="Catastrophe | Cool Cat Explosion&quot; Greeting Card for Sale by MeowMerch |  Redbubble">
            <a:extLst>
              <a:ext uri="{FF2B5EF4-FFF2-40B4-BE49-F238E27FC236}">
                <a16:creationId xmlns:a16="http://schemas.microsoft.com/office/drawing/2014/main" id="{83F36519-5209-5236-8468-8118EB28E6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761" r="12136" b="2"/>
          <a:stretch>
            <a:fillRect/>
          </a:stretch>
        </p:blipFill>
        <p:spPr bwMode="auto">
          <a:xfrm>
            <a:off x="5665604" y="2174242"/>
            <a:ext cx="2502742" cy="31243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b="1">
                <a:latin typeface="Calibri"/>
              </a:rPr>
              <a:t>Example: Workflows</a:t>
            </a:r>
          </a:p>
        </p:txBody>
      </p:sp>
      <p:sp>
        <p:nvSpPr>
          <p:cNvPr id="3" name="Content Placeholder 2"/>
          <p:cNvSpPr>
            <a:spLocks noGrp="1"/>
          </p:cNvSpPr>
          <p:nvPr>
            <p:ph idx="1"/>
          </p:nvPr>
        </p:nvSpPr>
        <p:spPr/>
        <p:txBody>
          <a:bodyPr/>
          <a:lstStyle/>
          <a:p>
            <a:r>
              <a:rPr sz="2000">
                <a:latin typeface="Calibri"/>
              </a:rPr>
              <a:t>Request workflow: classify -&gt; MCP -&gt; response -&gt; confidence -&gt; send/escalate</a:t>
            </a:r>
          </a:p>
          <a:p>
            <a:r>
              <a:rPr sz="2000">
                <a:latin typeface="Calibri"/>
              </a:rPr>
              <a:t>Job market workflow: collect data -&gt; normalize -&gt; quality check -&gt; report -&gt; archive</a:t>
            </a:r>
          </a:p>
          <a:p>
            <a:r>
              <a:rPr sz="2000">
                <a:latin typeface="Calibri"/>
              </a:rPr>
              <a:t>Main idea: AI nodes are embedded in a managed route</a:t>
            </a:r>
          </a:p>
          <a:p>
            <a:r>
              <a:rPr sz="2000">
                <a:latin typeface="Calibri"/>
              </a:rPr>
              <a:t>Conclusion: workflow is needed where SLA, auditability, and error recovery matter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88684" y="804519"/>
            <a:ext cx="7202456" cy="1049235"/>
          </a:xfrm>
        </p:spPr>
        <p:txBody>
          <a:bodyPr>
            <a:normAutofit/>
          </a:bodyPr>
          <a:lstStyle/>
          <a:p>
            <a:r>
              <a:rPr lang="en-US" b="1">
                <a:latin typeface="Calibri"/>
              </a:rPr>
              <a:t>Example: Anti-patterns</a:t>
            </a:r>
          </a:p>
        </p:txBody>
      </p:sp>
      <p:sp>
        <p:nvSpPr>
          <p:cNvPr id="3" name="Content Placeholder 2"/>
          <p:cNvSpPr>
            <a:spLocks noGrp="1"/>
          </p:cNvSpPr>
          <p:nvPr>
            <p:ph idx="1"/>
          </p:nvPr>
        </p:nvSpPr>
        <p:spPr>
          <a:xfrm>
            <a:off x="1088684" y="2015734"/>
            <a:ext cx="4076800" cy="3450613"/>
          </a:xfrm>
        </p:spPr>
        <p:txBody>
          <a:bodyPr>
            <a:normAutofit/>
          </a:bodyPr>
          <a:lstStyle/>
          <a:p>
            <a:r>
              <a:rPr lang="en-US">
                <a:latin typeface="Calibri"/>
              </a:rPr>
              <a:t>'Agent for everything' -&gt; expensive and unstable</a:t>
            </a:r>
          </a:p>
          <a:p>
            <a:r>
              <a:rPr lang="en-US">
                <a:latin typeface="Calibri"/>
              </a:rPr>
              <a:t>Prompt-only in production -&gt; no repeatability</a:t>
            </a:r>
          </a:p>
          <a:p>
            <a:r>
              <a:rPr lang="en-US">
                <a:latin typeface="Calibri"/>
              </a:rPr>
              <a:t>Over-privileged MCP -&gt; security incident risk</a:t>
            </a:r>
          </a:p>
          <a:p>
            <a:r>
              <a:rPr lang="en-US">
                <a:latin typeface="Calibri"/>
              </a:rPr>
              <a:t>Conclusion: correct architecture is determined by the task, not the trendiness of the tool</a:t>
            </a:r>
          </a:p>
        </p:txBody>
      </p:sp>
      <p:grpSp>
        <p:nvGrpSpPr>
          <p:cNvPr id="7175" name="Group 7174">
            <a:extLst>
              <a:ext uri="{FF2B5EF4-FFF2-40B4-BE49-F238E27FC236}">
                <a16:creationId xmlns:a16="http://schemas.microsoft.com/office/drawing/2014/main" id="{FEB7DF70-0A31-4A61-9C8B-3333776A15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542809" y="2012810"/>
            <a:ext cx="2751052" cy="3453535"/>
            <a:chOff x="7807230" y="2012810"/>
            <a:chExt cx="3251252" cy="3459865"/>
          </a:xfrm>
        </p:grpSpPr>
        <p:sp>
          <p:nvSpPr>
            <p:cNvPr id="7176" name="Rectangle 7175">
              <a:extLst>
                <a:ext uri="{FF2B5EF4-FFF2-40B4-BE49-F238E27FC236}">
                  <a16:creationId xmlns:a16="http://schemas.microsoft.com/office/drawing/2014/main" id="{47926867-8D58-4875-8B76-E87E5BE825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177" name="Rectangle 7176">
              <a:extLst>
                <a:ext uri="{FF2B5EF4-FFF2-40B4-BE49-F238E27FC236}">
                  <a16:creationId xmlns:a16="http://schemas.microsoft.com/office/drawing/2014/main" id="{A9F6663C-0F32-4FB9-B549-C2757F49F9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gradFill>
              <a:gsLst>
                <a:gs pos="0">
                  <a:srgbClr val="DADADA"/>
                </a:gs>
                <a:gs pos="100000">
                  <a:srgbClr val="FFFFFE"/>
                </a:gs>
              </a:gsLst>
              <a:lin ang="16200000" scaled="0"/>
            </a:gra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7170" name="Picture 2" descr="Кот с ножом изображения — Бесплатная загрузка на Magnific (ранее ...">
            <a:extLst>
              <a:ext uri="{FF2B5EF4-FFF2-40B4-BE49-F238E27FC236}">
                <a16:creationId xmlns:a16="http://schemas.microsoft.com/office/drawing/2014/main" id="{A1DF1DBC-3264-BFF8-E11F-1F981AE4AF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3504" r="6393" b="2"/>
          <a:stretch>
            <a:fillRect/>
          </a:stretch>
        </p:blipFill>
        <p:spPr bwMode="auto">
          <a:xfrm>
            <a:off x="5665604" y="2174242"/>
            <a:ext cx="2502742" cy="31243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b="1">
                <a:latin typeface="Calibri"/>
              </a:rPr>
              <a:t>Concept Comparison</a:t>
            </a:r>
          </a:p>
        </p:txBody>
      </p:sp>
      <p:sp>
        <p:nvSpPr>
          <p:cNvPr id="3" name="Content Placeholder 2"/>
          <p:cNvSpPr>
            <a:spLocks noGrp="1"/>
          </p:cNvSpPr>
          <p:nvPr>
            <p:ph idx="1"/>
          </p:nvPr>
        </p:nvSpPr>
        <p:spPr/>
        <p:txBody>
          <a:bodyPr/>
          <a:lstStyle/>
          <a:p>
            <a:r>
              <a:rPr sz="2000">
                <a:latin typeface="Calibri"/>
              </a:rPr>
              <a:t>Prompts: simple, but less predictable</a:t>
            </a:r>
          </a:p>
          <a:p>
            <a:r>
              <a:rPr sz="2000">
                <a:latin typeface="Calibri"/>
              </a:rPr>
              <a:t>Instructions/Skills: balance quality and repeatability</a:t>
            </a:r>
          </a:p>
          <a:p>
            <a:r>
              <a:rPr sz="2000">
                <a:latin typeface="Calibri"/>
              </a:rPr>
              <a:t>MCPs: connect real data and actions</a:t>
            </a:r>
          </a:p>
          <a:p>
            <a:r>
              <a:rPr sz="2000">
                <a:latin typeface="Calibri"/>
              </a:rPr>
              <a:t>Agents: flexibility. Workflows: reliability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1CE580D1-F917-4567-AFB4-99AA9B52AD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9144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0" name="Picture 29">
            <a:extLst>
              <a:ext uri="{FF2B5EF4-FFF2-40B4-BE49-F238E27FC236}">
                <a16:creationId xmlns:a16="http://schemas.microsoft.com/office/drawing/2014/main" id="{1F5620B8-A2D8-4568-B566-F0453A0D91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9144000" cy="742950"/>
          </a:xfrm>
          <a:prstGeom prst="rect">
            <a:avLst/>
          </a:prstGeom>
        </p:spPr>
      </p:pic>
      <p:cxnSp>
        <p:nvCxnSpPr>
          <p:cNvPr id="32" name="Straight Connector 31">
            <a:extLst>
              <a:ext uri="{FF2B5EF4-FFF2-40B4-BE49-F238E27FC236}">
                <a16:creationId xmlns:a16="http://schemas.microsoft.com/office/drawing/2014/main" id="{1C7D2BA4-4B7A-4596-8BCC-5CF7154238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9D4B225-18E9-4C5B-94D8-2ABE6D161E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90422" y="1847088"/>
            <a:ext cx="7205641"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35" name="Rectangle 34">
            <a:extLst>
              <a:ext uri="{FF2B5EF4-FFF2-40B4-BE49-F238E27FC236}">
                <a16:creationId xmlns:a16="http://schemas.microsoft.com/office/drawing/2014/main" id="{021A4066-B261-49FE-952E-A0FE3EE75C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Connector 35">
            <a:extLst>
              <a:ext uri="{FF2B5EF4-FFF2-40B4-BE49-F238E27FC236}">
                <a16:creationId xmlns:a16="http://schemas.microsoft.com/office/drawing/2014/main" id="{381B4579-E2EA-4BD7-94FF-0A0BEE135C6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90422" y="1847088"/>
            <a:ext cx="264816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8" name="Title 7">
            <a:extLst>
              <a:ext uri="{FF2B5EF4-FFF2-40B4-BE49-F238E27FC236}">
                <a16:creationId xmlns:a16="http://schemas.microsoft.com/office/drawing/2014/main" id="{E9DC2163-116C-5B06-BB8E-0E08417E791F}"/>
              </a:ext>
            </a:extLst>
          </p:cNvPr>
          <p:cNvSpPr>
            <a:spLocks noGrp="1"/>
          </p:cNvSpPr>
          <p:nvPr>
            <p:ph type="title"/>
          </p:nvPr>
        </p:nvSpPr>
        <p:spPr>
          <a:xfrm>
            <a:off x="1088685" y="804520"/>
            <a:ext cx="2647617" cy="1049235"/>
          </a:xfrm>
        </p:spPr>
        <p:txBody>
          <a:bodyPr vert="horz" lIns="91440" tIns="45720" rIns="91440" bIns="45720" rtlCol="0" anchor="t">
            <a:normAutofit/>
          </a:bodyPr>
          <a:lstStyle/>
          <a:p>
            <a:pPr defTabSz="914400"/>
            <a:r>
              <a:rPr lang="en-US" sz="3200" b="1" dirty="0">
                <a:latin typeface="Calibri"/>
              </a:rPr>
              <a:t>When to Use What</a:t>
            </a:r>
            <a:endParaRPr lang="en-US" sz="3200" dirty="0"/>
          </a:p>
        </p:txBody>
      </p:sp>
      <p:sp>
        <p:nvSpPr>
          <p:cNvPr id="25" name="Rectangle 24">
            <a:extLst>
              <a:ext uri="{FF2B5EF4-FFF2-40B4-BE49-F238E27FC236}">
                <a16:creationId xmlns:a16="http://schemas.microsoft.com/office/drawing/2014/main" id="{81958111-BC13-4D45-AB27-0C2C83F9BA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9144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nvGrpSpPr>
          <p:cNvPr id="27" name="Group 26">
            <a:extLst>
              <a:ext uri="{FF2B5EF4-FFF2-40B4-BE49-F238E27FC236}">
                <a16:creationId xmlns:a16="http://schemas.microsoft.com/office/drawing/2014/main" id="{82188758-E18A-4CE5-9D03-F4BF5D887C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098" y="482171"/>
            <a:ext cx="4568843" cy="5149101"/>
            <a:chOff x="5446003" y="583365"/>
            <a:chExt cx="6091790" cy="5181928"/>
          </a:xfrm>
        </p:grpSpPr>
        <p:sp>
          <p:nvSpPr>
            <p:cNvPr id="28" name="Rectangle 27">
              <a:extLst>
                <a:ext uri="{FF2B5EF4-FFF2-40B4-BE49-F238E27FC236}">
                  <a16:creationId xmlns:a16="http://schemas.microsoft.com/office/drawing/2014/main" id="{821513DD-C15F-4381-AEA6-ED9E5E218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6003" y="583365"/>
              <a:ext cx="6091790"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CED2DE01-7F43-4858-85FC-27022DA78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64828" y="915807"/>
              <a:ext cx="5461779" cy="4494927"/>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7" name="Content Placeholder 6">
            <a:extLst>
              <a:ext uri="{FF2B5EF4-FFF2-40B4-BE49-F238E27FC236}">
                <a16:creationId xmlns:a16="http://schemas.microsoft.com/office/drawing/2014/main" id="{B60785D8-6FB5-FB5B-D2E1-46FAA1A449DB}"/>
              </a:ext>
            </a:extLst>
          </p:cNvPr>
          <p:cNvPicPr>
            <a:picLocks noGrp="1" noChangeAspect="1"/>
          </p:cNvPicPr>
          <p:nvPr>
            <p:ph idx="4294967295"/>
          </p:nvPr>
        </p:nvPicPr>
        <p:blipFill>
          <a:blip r:embed="rId3"/>
          <a:srcRect l="20360" r="17206"/>
          <a:stretch>
            <a:fillRect/>
          </a:stretch>
        </p:blipFill>
        <p:spPr>
          <a:xfrm>
            <a:off x="4570444" y="1116345"/>
            <a:ext cx="3616163" cy="3866172"/>
          </a:xfrm>
          <a:prstGeom prst="rect">
            <a:avLst/>
          </a:prstGeom>
        </p:spPr>
      </p:pic>
      <p:pic>
        <p:nvPicPr>
          <p:cNvPr id="31" name="Picture 30">
            <a:extLst>
              <a:ext uri="{FF2B5EF4-FFF2-40B4-BE49-F238E27FC236}">
                <a16:creationId xmlns:a16="http://schemas.microsoft.com/office/drawing/2014/main" id="{D42F4933-2ECF-4EE5-BCE4-F19E3CA609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9144000" cy="742950"/>
          </a:xfrm>
          <a:prstGeom prst="rect">
            <a:avLst/>
          </a:prstGeom>
        </p:spPr>
      </p:pic>
      <p:cxnSp>
        <p:nvCxnSpPr>
          <p:cNvPr id="33" name="Straight Connector 32">
            <a:extLst>
              <a:ext uri="{FF2B5EF4-FFF2-40B4-BE49-F238E27FC236}">
                <a16:creationId xmlns:a16="http://schemas.microsoft.com/office/drawing/2014/main" id="{C6FAC23C-014D-4AC5-AD1B-36F7D0E7EF3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4" name="AutoShape 2" descr="Забавный сонный кот с взъерошенной шерстью, держащий чашку кофе на фоне  цвета морской волны. Уставший кот с запутанной шерстью, де Иллюстрация  штока - иллюстрации насчитывающей кот, сумматора: 356275375">
            <a:extLst>
              <a:ext uri="{FF2B5EF4-FFF2-40B4-BE49-F238E27FC236}">
                <a16:creationId xmlns:a16="http://schemas.microsoft.com/office/drawing/2014/main" id="{0FA1C77C-56ED-B819-2249-C0E38830F89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177693496"/>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Gallery</Template>
  <TotalTime>135</TotalTime>
  <Words>3651</Words>
  <Application>Microsoft Office PowerPoint</Application>
  <PresentationFormat>On-screen Show (4:3)</PresentationFormat>
  <Paragraphs>231</Paragraphs>
  <Slides>18</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Gill Sans MT</vt:lpstr>
      <vt:lpstr>Gallery</vt:lpstr>
      <vt:lpstr>Prompts vs Instructions vs Skills vs MCPs vs Agents vs Workflows</vt:lpstr>
      <vt:lpstr>The Complexity Ladder</vt:lpstr>
      <vt:lpstr>Prompts</vt:lpstr>
      <vt:lpstr>Instructions</vt:lpstr>
      <vt:lpstr>Skills</vt:lpstr>
      <vt:lpstr>MCPs</vt:lpstr>
      <vt:lpstr>Agents</vt:lpstr>
      <vt:lpstr>Workflows</vt:lpstr>
      <vt:lpstr>Examples by Level</vt:lpstr>
      <vt:lpstr>Example: Prompts</vt:lpstr>
      <vt:lpstr>Example: Instructions</vt:lpstr>
      <vt:lpstr>Example: Skills</vt:lpstr>
      <vt:lpstr>Example: MCP</vt:lpstr>
      <vt:lpstr>Example: Agents</vt:lpstr>
      <vt:lpstr>Example: Workflows</vt:lpstr>
      <vt:lpstr>Example: Anti-patterns</vt:lpstr>
      <vt:lpstr>Concept Comparison</vt:lpstr>
      <vt:lpstr>When to Use What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Maksim Lioshyn</cp:lastModifiedBy>
  <cp:revision>37</cp:revision>
  <dcterms:created xsi:type="dcterms:W3CDTF">2013-01-27T09:14:16Z</dcterms:created>
  <dcterms:modified xsi:type="dcterms:W3CDTF">2026-06-29T12:53:55Z</dcterms:modified>
  <cp:category/>
</cp:coreProperties>
</file>