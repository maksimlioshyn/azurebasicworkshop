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282" r:id="rId3"/>
    <p:sldId id="271" r:id="rId4"/>
    <p:sldId id="272" r:id="rId5"/>
    <p:sldId id="273" r:id="rId6"/>
    <p:sldId id="274" r:id="rId7"/>
    <p:sldId id="283" r:id="rId8"/>
    <p:sldId id="275" r:id="rId9"/>
    <p:sldId id="276" r:id="rId10"/>
    <p:sldId id="277" r:id="rId11"/>
    <p:sldId id="278" r:id="rId12"/>
    <p:sldId id="279" r:id="rId13"/>
    <p:sldId id="280" r:id="rId14"/>
    <p:sldId id="28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976" autoAdjust="0"/>
  </p:normalViewPr>
  <p:slideViewPr>
    <p:cSldViewPr snapToGrid="0" snapToObjects="1">
      <p:cViewPr varScale="1">
        <p:scale>
          <a:sx n="57" d="100"/>
          <a:sy n="57" d="100"/>
        </p:scale>
        <p:origin x="21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21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AI architecture — the organization of layers, data, and rules. Maturity — the degree of controllability and reproducibility.</a:t>
            </a:r>
          </a:p>
          <a:p>
            <a:endParaRPr dirty="0"/>
          </a:p>
          <a:p>
            <a:r>
              <a:rPr dirty="0"/>
              <a:t>Mechanics: The core principle: we do not choose one technology — we design a combination of layers for the task. </a:t>
            </a:r>
            <a:r>
              <a:rPr lang="en-US" dirty="0"/>
              <a:t>First,</a:t>
            </a:r>
            <a:r>
              <a:rPr dirty="0"/>
              <a:t> we define the goal of the process and the cost of failure, then we select the minimum sufficient level, and then we incrementally add control and reliability tools. It is important to keep in focus that moving between layers is a managed evolution, not a sudden replacement of everything.</a:t>
            </a:r>
          </a:p>
          <a:p>
            <a:endParaRPr dirty="0"/>
          </a:p>
          <a:p>
            <a:r>
              <a:rPr dirty="0"/>
              <a:t>Practical example: An internal team started with prompts for quick tasks, then added policies, integrations, and a workflow as requirements grew</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Anti-pattern — a typical solution that initially looks convenient but systematically degrades architecture.</a:t>
            </a:r>
          </a:p>
          <a:p>
            <a:endParaRPr/>
          </a:p>
          <a:p>
            <a:r>
              <a:t>Mechanics: The clearest set for this slide: the team wants an 'agent for everything' and faces rising costs; the team keeps only prompts in production and loses quality control; the team gives MCP excessive rights and gets incident risk. After that, immediately give the countermeasure: workflow for standard steps, instructions and skills for stability, least privilege for tools.</a:t>
            </a:r>
          </a:p>
          <a:p>
            <a:endParaRPr/>
          </a:p>
          <a:p>
            <a:r>
              <a:t>Practical example: This slide works especially well before the comparison and selection block because the audience already understands not only the capabilities but also the cost of mistakes.</a:t>
            </a:r>
          </a:p>
          <a:p>
            <a:endParaRPr/>
          </a:p>
          <a:p>
            <a:r>
              <a:t>Limitations: If anti-patterns are only shown at the end, listeners have often already mentally chosen an overly complex solution and then resist simplification.</a:t>
            </a:r>
          </a:p>
          <a:p>
            <a:endParaRPr/>
          </a:p>
          <a:p>
            <a:r>
              <a:t>Conclusion: Good architecture starts not with maximum power, but with the discipline of selection and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Predictability — stability of result for the same input. Combined architecture — multiple layers working together.</a:t>
            </a:r>
          </a:p>
          <a:p>
            <a:endParaRPr/>
          </a:p>
          <a:p>
            <a:r>
              <a:t>Mechanics: The comparison mechanics is built through shared criteria: startup speed, control level, data access, cost of error, maintenance cost. Each layer covers different requirements, so evaluating 'better/worse' without the process context is incorrect. In the 45-minute structure, this slide acts as a synthesis: it connects theory and cases into a single decision matrix. It is useful to walk through one process and show where each layer applies.</a:t>
            </a:r>
          </a:p>
          <a:p>
            <a:endParaRPr/>
          </a:p>
          <a:p>
            <a:r>
              <a:t>Practical example: In a helpdesk: instructions for style, skills for template tasks, MCP for data, and workflow for the processing route; an agent is enabled only for non-standard cases.</a:t>
            </a:r>
          </a:p>
          <a:p>
            <a:endParaRPr/>
          </a:p>
          <a:p>
            <a:r>
              <a:t>Limitations: Comparison limitations: if evaluation criteria are set formally, the selection tree gives a false result. If available resources and team maturity are ignored, the chosen architecture does not get implemented. Also, when the process changes, the decision tree must be revised, otherwise the choice becomes outdated quickly.</a:t>
            </a:r>
          </a:p>
          <a:p>
            <a:endParaRPr/>
          </a:p>
          <a:p>
            <a:r>
              <a:t>Conclusion: The best choice is not one tool, but a coordinated combination of layers for the specific process and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Decision tree — a sequence of checks for selecting architecture. Minimum sufficient level — the simplest layer that meets the requirements.</a:t>
            </a:r>
          </a:p>
          <a:p>
            <a:endParaRPr/>
          </a:p>
          <a:p>
            <a:r>
              <a:t>Mechanics: Decision tree mechanics: step 1 — task type (one-off or process), step 2 — cost of failure, step 3 — need for consistent rules, step 4 — integration requirements, step 5 — level of autonomy, step 6 — audit and SLA requirements. This algorithm makes architectural selection reproducible and defensible to the business. In the 45-minute format, this is a practical tool that participants can apply immediately.</a:t>
            </a:r>
          </a:p>
          <a:p>
            <a:endParaRPr/>
          </a:p>
          <a:p>
            <a:r>
              <a:t>Practical example: Marketing uses a prompt for one-off text; support chooses workflow + MCP for a daily regulated flow.</a:t>
            </a:r>
          </a:p>
          <a:p>
            <a:endParaRPr/>
          </a:p>
          <a:p>
            <a:r>
              <a:t>Limitations: Limitations: if evaluation criteria are set formally, the decision tree gives a false result. Not accounting for available resources and team maturity means the chosen architecture fails to get deployed. Also, when the process changes, the decision tree must be revised, otherwise the choice quickly becomes outdated.</a:t>
            </a:r>
          </a:p>
          <a:p>
            <a:endParaRPr/>
          </a:p>
          <a:p>
            <a:r>
              <a:t>Conclusion: The decision tree turns architectural selection from a subjective debate into a verifiable practice.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Anti-pattern — a repeatable architectural decision that gives short-term convenience and long-term damage.</a:t>
            </a:r>
          </a:p>
          <a:p>
            <a:endParaRPr/>
          </a:p>
          <a:p>
            <a:r>
              <a:t>Mechanics: Anti-pattern mechanics: first identify the symptom, then the cause, then the countermeasure. In practice: the team says 'let's make an agent for everything', then faces rising costs and unpredictability, then moves standard operations to a workflow and leaves the agent only for complex nodes. This analysis builds engineering thinking about risks in the audience.</a:t>
            </a:r>
          </a:p>
          <a:p>
            <a:endParaRPr/>
          </a:p>
          <a:p>
            <a:r>
              <a:t>Practical example: The team gave the agent broad write rights to production, which led to a chain of incorrect changes in a non-standard scenario.</a:t>
            </a:r>
          </a:p>
          <a:p>
            <a:endParaRPr/>
          </a:p>
          <a:p>
            <a:r>
              <a:t>Limitations: Limitations: anti-patterns often look like quick wins and are therefore recognized late. Without telemetry and postmortem practices, mistakes repeat. Without architecture rules at the team level, every project hits the same risks again. Additional constraint: organizational inertia means even identified anti-patterns are hard to fix without management support.</a:t>
            </a:r>
          </a:p>
          <a:p>
            <a:endParaRPr/>
          </a:p>
          <a:p>
            <a:r>
              <a:t>Conclusion: Preventing anti-patterns is cheaper and safer than dealing with consequences after an incident.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Escalation — passing a request to a human when confidence is low or criticality is high. CSAT — customer satisfaction metric.</a:t>
            </a:r>
          </a:p>
          <a:p>
            <a:endParaRPr/>
          </a:p>
          <a:p>
            <a:r>
              <a:t>Mechanics: Case mechanics: an incoming request is classified, then customer context is fetched via MCP, after which skills produce a draft response within the instructions framework. The workflow then decides: auto-reply or escalation. This circuit reduces average response time, standardizes communication, and frees operators from routine. In the 45-minute presentation, this case clearly shows how the layers work together in a real process.</a:t>
            </a:r>
          </a:p>
          <a:p>
            <a:endParaRPr/>
          </a:p>
          <a:p>
            <a:r>
              <a:t>Practical example: A customer asks about a return status: the system reads data from the CRM, generates a response, and escalates disputed cases with context already gathered.</a:t>
            </a:r>
          </a:p>
          <a:p>
            <a:endParaRPr/>
          </a:p>
          <a:p>
            <a:r>
              <a:t>Limitations: Limitations: without calibrating the confidence score, the system either escalates too much or incorrectly automates complex cases. An outdated knowledge base reduces response quality even if the architecture is correct. Dependency on external APIs requires fallback procedures for service degradation. Per-stage metrics are also needed, otherwise it is hard to understand where quality is lost.</a:t>
            </a:r>
          </a:p>
          <a:p>
            <a:endParaRPr/>
          </a:p>
          <a:p>
            <a:r>
              <a:t>Conclusion: The support case shows that a hybrid architecture simultaneously improves speed, quality, and risk control.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CI — continuous integration. Quality gate — an automatic condition for admitting changes to the main branch.</a:t>
            </a:r>
          </a:p>
          <a:p>
            <a:endParaRPr/>
          </a:p>
          <a:p>
            <a:r>
              <a:t>Mechanics: Phased implementation mechanics: 1) manual prompt checks to quickly validate value; 2) formalize criteria through instructions and skills; 3) integrate into CI workflow with an automatic quality gate. Concrete example: first the developer manually pastes a diff into chat, then the team defines standard review rules and a code-review skill, and then every PR automatically receives comments and is blocked when critical findings are found. This path reduces the risk of premature automation and provides controlled calibration. AI review does not replace engineering review but filters out routine defects and speeds up feedback.</a:t>
            </a:r>
          </a:p>
          <a:p>
            <a:endParaRPr/>
          </a:p>
          <a:p>
            <a:r>
              <a:t>Practical example: Every PR is automatically analyzed; critical security and correctness findings block merge until fixed.</a:t>
            </a:r>
          </a:p>
          <a:p>
            <a:endParaRPr/>
          </a:p>
          <a:p>
            <a:r>
              <a:t>Limitations: Limitations: without sensitivity threshold tuning, noise increases and team trust drops. Without developer feedback, rules become outdated quickly. Some architectural problems are invisible to AI without business logic context. Also need to control the cost and execution time of checks so CI does not become a bottleneck.</a:t>
            </a:r>
          </a:p>
          <a:p>
            <a:endParaRPr/>
          </a:p>
          <a:p>
            <a:r>
              <a:t>Conclusion: Best results come when AI review is embedded in CI as a systemic layer and is regularly calibrated by the team.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ROI — return on investment. Normalization — bringing data from different sources to a common model.</a:t>
            </a:r>
          </a:p>
          <a:p>
            <a:endParaRPr/>
          </a:p>
          <a:p>
            <a:r>
              <a:t>Mechanics: Case mechanics develops through maturity steps. First a prompt gives a quick overview for a hypothesis. Then an agent with MCP collects data from sources, cleans, aligns, and prepares an analytical summary. At the next stage a workflow establishes a regular report release, validation, and publishing. In the 45-minute story this case illustrates the core principle: complexity is added only after confirming the value of the previous step.</a:t>
            </a:r>
          </a:p>
          <a:p>
            <a:endParaRPr/>
          </a:p>
          <a:p>
            <a:r>
              <a:t>Practical example: A weekly market report includes salary trends, stack demand, and regional anomalies.</a:t>
            </a:r>
          </a:p>
          <a:p>
            <a:endParaRPr/>
          </a:p>
          <a:p>
            <a:r>
              <a:t>Limitations: Limitations: analytics quality is limited by source quality and normalization correctness. The agent can amplify noise with weak filter rules. A workflow can stably produce a wrong report if quality checks are absent. Also need to account for data update lag and seasonal effects, otherwise management decisions are based on a distorted picture.</a:t>
            </a:r>
          </a:p>
          <a:p>
            <a:endParaRPr/>
          </a:p>
          <a:p>
            <a:r>
              <a:t>Conclusion: The evolutionary approach to analytics reduces risk and provides better implementation economics compared to a 'big launch' all at once.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Observability — analyzing system state through logs, metrics, and traces. Hybrid architecture — a combination of deterministic and adaptive layers.</a:t>
            </a:r>
          </a:p>
          <a:p>
            <a:endParaRPr/>
          </a:p>
          <a:p>
            <a:r>
              <a:t>Mechanics: Final decision mechanics: define the goal and cost of failure, select the minimum sufficient layer, set quality/cost metrics, then incrementally strengthen the architecture. In the 45-minute structure this slide closes the material and converts it into an action plan. It is important to bring the audience back to three questions: what are we automating, how are we controlling it, how are we measuring the effect.</a:t>
            </a:r>
          </a:p>
          <a:p>
            <a:endParaRPr/>
          </a:p>
          <a:p>
            <a:r>
              <a:t>Practical example: The team picks one pilot process for 2-4 weeks, records metrics, and after a retrospective decides on the next maturity layer.</a:t>
            </a:r>
          </a:p>
          <a:p>
            <a:endParaRPr/>
          </a:p>
          <a:p>
            <a:r>
              <a:t>Limitations: Limitations: without ownership and metrics, architecture does not scale. Without regular revision of rules/integrations, the solution becomes outdated even after a good start. Organizational constraints (security, training, change management) often matter more than technical ones. Ignoring them early slows deployment and loses business support.</a:t>
            </a:r>
          </a:p>
          <a:p>
            <a:endParaRPr/>
          </a:p>
          <a:p>
            <a:r>
              <a:t>Conclusion: A sustainable AI system is a managed evolution with measurable results, not a one-time tool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Live-demo — showing working artifacts in a real IDE.</a:t>
            </a:r>
          </a:p>
          <a:p>
            <a:endParaRPr/>
          </a:p>
          <a:p>
            <a:r>
              <a:t>Mechanics: This block translates theory into action: instead of example slides, you can run a live demonstration directly in VS Code. The logic is simple: the end-to-end scenario 'Customer Order Support' demonstrates the evolution from a simple prompt to instructions, skills, MCP, and an agent wrapped in a workflow. Each layer is added incrementally; the audience sees files and configs in real time.</a:t>
            </a:r>
          </a:p>
          <a:p>
            <a:endParaRPr/>
          </a:p>
          <a:p>
            <a:r>
              <a:t>Practical example: In 20 minutes you can show: creating .github/copilot-instructions.md, a skills folder with two examples, an agent, and the final workflow.</a:t>
            </a:r>
          </a:p>
          <a:p>
            <a:endParaRPr/>
          </a:p>
          <a:p>
            <a:r>
              <a:t>Limitations: Limitation: not all files can be created quickly live. MCP requires a running server, which needs preparation. If the demo breaks, the entire effect is lost. It is therefore better to prepare a backup in advance.</a:t>
            </a:r>
          </a:p>
          <a:p>
            <a:endParaRPr/>
          </a:p>
          <a:p>
            <a:r>
              <a:t>Conclusion: A live demo is a powerful tool for bridging theory to practice, but requires careful preparation and rehearsal.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Step-by-step demo — a sequence of managed actions where each step builds on the previous one.</a:t>
            </a:r>
          </a:p>
          <a:p>
            <a:endParaRPr/>
          </a:p>
          <a:p>
            <a:r>
              <a:t>Mechanics: The demo flow: first open VS Code in the project folder and type a simple prompt in Copilot Chat. Then create .github/copilot-instructions.md with persistent rules. Next quickly create two skill folders: one for customer-reply, one for policy-check. After that create an agent that uses both skills. Finally show on a diagram or in code how everything ties together in a workflow. Each step takes 2-3 minutes, total 15-20 minutes.</a:t>
            </a:r>
          </a:p>
          <a:p>
            <a:endParaRPr/>
          </a:p>
          <a:p>
            <a:r>
              <a:t>Practical example: The audience sees files, configs, and how they connect into a unified system.</a:t>
            </a:r>
          </a:p>
          <a:p>
            <a:endParaRPr/>
          </a:p>
          <a:p>
            <a:r>
              <a:t>Limitations: Risk: if the internet is slow or extensions fail to load, the demo can stall. Also need to prepare a clean folder in advance. Without rehearsal it is easy to get lost in details and overrun the time.</a:t>
            </a:r>
          </a:p>
          <a:p>
            <a:endParaRPr/>
          </a:p>
          <a:p>
            <a:r>
              <a:t>Conclusion: A successful live demo is remembered better than 10 text slides.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802299"/>
            <a:ext cx="6477805" cy="2541431"/>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3531205"/>
            <a:ext cx="6477804" cy="977621"/>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a:xfrm>
            <a:off x="1812376" y="329308"/>
            <a:ext cx="3730436" cy="309201"/>
          </a:xfrm>
        </p:spPr>
        <p:txBody>
          <a:bodyPr/>
          <a:lstStyle/>
          <a:p>
            <a:endParaRPr lang="en-US"/>
          </a:p>
        </p:txBody>
      </p:sp>
      <p:sp>
        <p:nvSpPr>
          <p:cNvPr id="6" name="Slide Number Placeholder 5"/>
          <p:cNvSpPr>
            <a:spLocks noGrp="1"/>
          </p:cNvSpPr>
          <p:nvPr>
            <p:ph type="sldNum" sz="quarter" idx="12"/>
          </p:nvPr>
        </p:nvSpPr>
        <p:spPr>
          <a:xfrm>
            <a:off x="1078249" y="798973"/>
            <a:ext cx="608264" cy="503578"/>
          </a:xfrm>
        </p:spPr>
        <p:txBody>
          <a:bodyPr/>
          <a:lstStyle/>
          <a:p>
            <a:fld id="{C1FF6DA9-008F-8B48-92A6-B652298478BF}" type="slidenum">
              <a:rPr lang="en-US" smtClean="0"/>
              <a:t>‹#›</a:t>
            </a:fld>
            <a:endParaRPr lang="en-US"/>
          </a:p>
        </p:txBody>
      </p:sp>
      <p:cxnSp>
        <p:nvCxnSpPr>
          <p:cNvPr id="15" name="Straight Connector 14"/>
          <p:cNvCxnSpPr/>
          <p:nvPr/>
        </p:nvCxnSpPr>
        <p:spPr>
          <a:xfrm>
            <a:off x="1813335" y="3528542"/>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448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077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756130"/>
            <a:ext cx="6482366" cy="1887950"/>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3806196"/>
            <a:ext cx="6472835" cy="1012929"/>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090679" y="3804985"/>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0946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804890"/>
            <a:ext cx="7204226"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2010879"/>
            <a:ext cx="348386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2017343"/>
            <a:ext cx="348386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5" name="Straight Connector 34"/>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665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804164"/>
            <a:ext cx="7205746"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2019550"/>
            <a:ext cx="3483864" cy="801943"/>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824270"/>
            <a:ext cx="348386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2023004"/>
            <a:ext cx="3483864" cy="80223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821491"/>
            <a:ext cx="348386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29" name="Straight Connector 28"/>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2590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25" name="Straight Connector 24"/>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8880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5761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798973"/>
            <a:ext cx="2454824" cy="2247117"/>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798974"/>
            <a:ext cx="4509353"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3205492"/>
            <a:ext cx="2456260" cy="2248181"/>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086210" y="3205491"/>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096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482171"/>
            <a:ext cx="3055900"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1129513"/>
            <a:ext cx="4149246" cy="1830584"/>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1122543"/>
            <a:ext cx="209337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3145992"/>
            <a:ext cx="4143303" cy="2003742"/>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5469857"/>
            <a:ext cx="4145513" cy="320123"/>
          </a:xfrm>
        </p:spPr>
        <p:txBody>
          <a:bodyPr/>
          <a:lstStyle>
            <a:lvl1pPr algn="l">
              <a:defRPr/>
            </a:lvl1p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a:xfrm>
            <a:off x="1085537" y="318641"/>
            <a:ext cx="41557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085537" y="3143605"/>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815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26" name="Straight Connector 25"/>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2724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798974"/>
            <a:ext cx="121180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798974"/>
            <a:ext cx="5871623"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7079333"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425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sp>
        <p:nvSpPr>
          <p:cNvPr id="2" name="Title Placeholder 1"/>
          <p:cNvSpPr>
            <a:spLocks noGrp="1"/>
          </p:cNvSpPr>
          <p:nvPr>
            <p:ph type="title"/>
          </p:nvPr>
        </p:nvSpPr>
        <p:spPr>
          <a:xfrm>
            <a:off x="1088685" y="804520"/>
            <a:ext cx="7202456"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2015733"/>
            <a:ext cx="7202456"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330370"/>
            <a:ext cx="2625536" cy="309201"/>
          </a:xfrm>
          <a:prstGeom prst="rect">
            <a:avLst/>
          </a:prstGeom>
        </p:spPr>
        <p:txBody>
          <a:bodyPr vert="horz" lIns="91440" tIns="45720" rIns="91440" bIns="45720" rtlCol="0" anchor="ctr"/>
          <a:lstStyle>
            <a:lvl1pPr algn="r">
              <a:defRPr sz="75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1088684" y="329308"/>
            <a:ext cx="4454127" cy="3092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0046" y="798973"/>
            <a:ext cx="608264" cy="503578"/>
          </a:xfrm>
          <a:prstGeom prst="rect">
            <a:avLst/>
          </a:prstGeom>
        </p:spPr>
        <p:txBody>
          <a:bodyPr vert="horz" lIns="91440" tIns="45720" rIns="91440" bIns="45720" rtlCol="0" anchor="t"/>
          <a:lstStyle>
            <a:lvl1pPr algn="r">
              <a:defRPr sz="2100">
                <a:solidFill>
                  <a:schemeClr val="accent1"/>
                </a:solidFill>
              </a:defRPr>
            </a:lvl1pPr>
          </a:lstStyle>
          <a:p>
            <a:fld id="{C1FF6DA9-008F-8B48-92A6-B652298478BF}" type="slidenum">
              <a:rPr lang="en-US" smtClean="0"/>
              <a:t>‹#›</a:t>
            </a:fld>
            <a:endParaRPr lang="en-US"/>
          </a:p>
        </p:txBody>
      </p:sp>
      <p:cxnSp>
        <p:nvCxnSpPr>
          <p:cNvPr id="10" name="Straight Connector 9"/>
          <p:cNvCxnSpPr/>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167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122" name="Picture 2" descr="Кот-дирижер симфонического оркестра» — картинка создана в Шедевруме">
            <a:extLst>
              <a:ext uri="{FF2B5EF4-FFF2-40B4-BE49-F238E27FC236}">
                <a16:creationId xmlns:a16="http://schemas.microsoft.com/office/drawing/2014/main" id="{7CFA7A27-36D9-B084-CC42-E1F50F399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895" r="-2" b="8102"/>
          <a:stretch>
            <a:fillRect/>
          </a:stretch>
        </p:blipFill>
        <p:spPr bwMode="auto">
          <a:xfrm>
            <a:off x="1" y="10"/>
            <a:ext cx="9143771" cy="6857990"/>
          </a:xfrm>
          <a:prstGeom prst="rect">
            <a:avLst/>
          </a:prstGeom>
          <a:noFill/>
          <a:extLst>
            <a:ext uri="{909E8E84-426E-40DD-AFC4-6F175D3DCCD1}">
              <a14:hiddenFill xmlns:a14="http://schemas.microsoft.com/office/drawing/2010/main">
                <a:solidFill>
                  <a:srgbClr val="FFFFFF"/>
                </a:solidFill>
              </a14:hiddenFill>
            </a:ext>
          </a:extLst>
        </p:spPr>
      </p:pic>
      <p:sp>
        <p:nvSpPr>
          <p:cNvPr id="5127" name="Rectangle 512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2589" y="3064931"/>
            <a:ext cx="6221411"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49133" y="3236470"/>
            <a:ext cx="5124375" cy="1252601"/>
          </a:xfrm>
        </p:spPr>
        <p:txBody>
          <a:bodyPr>
            <a:normAutofit/>
          </a:bodyPr>
          <a:lstStyle/>
          <a:p>
            <a:r>
              <a:rPr lang="en-US" sz="2900" b="1">
                <a:solidFill>
                  <a:srgbClr val="FFFFFE"/>
                </a:solidFill>
                <a:latin typeface="Calibri"/>
              </a:rPr>
              <a:t>Prompts vs Instructions vs Skills vs MCPs vs Agents vs Workflows</a:t>
            </a:r>
          </a:p>
        </p:txBody>
      </p:sp>
      <p:sp>
        <p:nvSpPr>
          <p:cNvPr id="3" name="Subtitle 2"/>
          <p:cNvSpPr>
            <a:spLocks noGrp="1"/>
          </p:cNvSpPr>
          <p:nvPr>
            <p:ph type="subTitle" idx="1"/>
          </p:nvPr>
        </p:nvSpPr>
        <p:spPr>
          <a:xfrm>
            <a:off x="3049133" y="4669144"/>
            <a:ext cx="5124374" cy="716529"/>
          </a:xfrm>
        </p:spPr>
        <p:txBody>
          <a:bodyPr>
            <a:normAutofit/>
          </a:bodyPr>
          <a:lstStyle/>
          <a:p>
            <a:r>
              <a:rPr lang="en-US" sz="1400">
                <a:solidFill>
                  <a:srgbClr val="FFFFFE"/>
                </a:solidFill>
                <a:latin typeface="Calibri"/>
              </a:rPr>
              <a:t>How to design AI systems: from a single request to full automation</a:t>
            </a:r>
          </a:p>
        </p:txBody>
      </p:sp>
      <p:cxnSp>
        <p:nvCxnSpPr>
          <p:cNvPr id="5129" name="Straight Connector 512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9131" y="4666480"/>
            <a:ext cx="5124375" cy="0"/>
          </a:xfrm>
          <a:prstGeom prst="line">
            <a:avLst/>
          </a:prstGeom>
          <a:ln w="31750">
            <a:solidFill>
              <a:srgbClr val="C38C34"/>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 name="Picture 29">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2" name="Straight Connector 31">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5" name="Rectangle 34">
            <a:extLst>
              <a:ext uri="{FF2B5EF4-FFF2-40B4-BE49-F238E27FC236}">
                <a16:creationId xmlns:a16="http://schemas.microsoft.com/office/drawing/2014/main" id="{021A4066-B261-49FE-952E-A0FE3EE75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381B4579-E2EA-4BD7-94FF-0A0BEE135C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264816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Title 7">
            <a:extLst>
              <a:ext uri="{FF2B5EF4-FFF2-40B4-BE49-F238E27FC236}">
                <a16:creationId xmlns:a16="http://schemas.microsoft.com/office/drawing/2014/main" id="{E9DC2163-116C-5B06-BB8E-0E08417E791F}"/>
              </a:ext>
            </a:extLst>
          </p:cNvPr>
          <p:cNvSpPr>
            <a:spLocks noGrp="1"/>
          </p:cNvSpPr>
          <p:nvPr>
            <p:ph type="title"/>
          </p:nvPr>
        </p:nvSpPr>
        <p:spPr>
          <a:xfrm>
            <a:off x="1088685" y="804520"/>
            <a:ext cx="2647617" cy="1049235"/>
          </a:xfrm>
        </p:spPr>
        <p:txBody>
          <a:bodyPr vert="horz" lIns="91440" tIns="45720" rIns="91440" bIns="45720" rtlCol="0" anchor="t">
            <a:normAutofit/>
          </a:bodyPr>
          <a:lstStyle/>
          <a:p>
            <a:pPr defTabSz="914400"/>
            <a:r>
              <a:rPr lang="en-US" sz="3200" b="1" dirty="0">
                <a:latin typeface="Calibri"/>
              </a:rPr>
              <a:t>When to Use What</a:t>
            </a:r>
            <a:endParaRPr lang="en-US" sz="3200" dirty="0"/>
          </a:p>
        </p:txBody>
      </p:sp>
      <p:sp>
        <p:nvSpPr>
          <p:cNvPr id="25" name="Rectangle 24">
            <a:extLst>
              <a:ext uri="{FF2B5EF4-FFF2-40B4-BE49-F238E27FC236}">
                <a16:creationId xmlns:a16="http://schemas.microsoft.com/office/drawing/2014/main" id="{81958111-BC13-4D45-AB27-0C2C83F9B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7" name="Group 26">
            <a:extLst>
              <a:ext uri="{FF2B5EF4-FFF2-40B4-BE49-F238E27FC236}">
                <a16:creationId xmlns:a16="http://schemas.microsoft.com/office/drawing/2014/main" id="{82188758-E18A-4CE5-9D03-F4BF5D887C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098" y="482171"/>
            <a:ext cx="4568843" cy="5149101"/>
            <a:chOff x="5446003" y="583365"/>
            <a:chExt cx="6091790" cy="5181928"/>
          </a:xfrm>
        </p:grpSpPr>
        <p:sp>
          <p:nvSpPr>
            <p:cNvPr id="28" name="Rectangle 27">
              <a:extLst>
                <a:ext uri="{FF2B5EF4-FFF2-40B4-BE49-F238E27FC236}">
                  <a16:creationId xmlns:a16="http://schemas.microsoft.com/office/drawing/2014/main" id="{821513DD-C15F-4381-AEA6-ED9E5E218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ED2DE01-7F43-4858-85FC-27022DA78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Content Placeholder 6">
            <a:extLst>
              <a:ext uri="{FF2B5EF4-FFF2-40B4-BE49-F238E27FC236}">
                <a16:creationId xmlns:a16="http://schemas.microsoft.com/office/drawing/2014/main" id="{B60785D8-6FB5-FB5B-D2E1-46FAA1A449DB}"/>
              </a:ext>
            </a:extLst>
          </p:cNvPr>
          <p:cNvPicPr>
            <a:picLocks noGrp="1" noChangeAspect="1"/>
          </p:cNvPicPr>
          <p:nvPr>
            <p:ph idx="4294967295"/>
          </p:nvPr>
        </p:nvPicPr>
        <p:blipFill>
          <a:blip r:embed="rId3"/>
          <a:srcRect l="20360" r="17206"/>
          <a:stretch>
            <a:fillRect/>
          </a:stretch>
        </p:blipFill>
        <p:spPr>
          <a:xfrm>
            <a:off x="4570444" y="1116345"/>
            <a:ext cx="3616163" cy="3866172"/>
          </a:xfrm>
          <a:prstGeom prst="rect">
            <a:avLst/>
          </a:prstGeom>
        </p:spPr>
      </p:pic>
      <p:pic>
        <p:nvPicPr>
          <p:cNvPr id="31" name="Picture 30">
            <a:extLst>
              <a:ext uri="{FF2B5EF4-FFF2-40B4-BE49-F238E27FC236}">
                <a16:creationId xmlns:a16="http://schemas.microsoft.com/office/drawing/2014/main" id="{D42F4933-2ECF-4EE5-BCE4-F19E3CA609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3" name="Straight Connector 32">
            <a:extLst>
              <a:ext uri="{FF2B5EF4-FFF2-40B4-BE49-F238E27FC236}">
                <a16:creationId xmlns:a16="http://schemas.microsoft.com/office/drawing/2014/main" id="{C6FAC23C-014D-4AC5-AD1B-36F7D0E7EF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AutoShape 2" descr="Забавный сонный кот с взъерошенной шерстью, держащий чашку кофе на фоне  цвета морской волны. Уставший кот с запутанной шерстью, де Иллюстрация  штока - иллюстрации насчитывающей кот, сумматора: 356275375">
            <a:extLst>
              <a:ext uri="{FF2B5EF4-FFF2-40B4-BE49-F238E27FC236}">
                <a16:creationId xmlns:a16="http://schemas.microsoft.com/office/drawing/2014/main" id="{0FA1C77C-56ED-B819-2249-C0E38830F89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769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dirty="0">
                <a:latin typeface="Calibri"/>
              </a:rPr>
              <a:t>Example: Anti-patterns</a:t>
            </a:r>
          </a:p>
        </p:txBody>
      </p:sp>
      <p:sp>
        <p:nvSpPr>
          <p:cNvPr id="3" name="Content Placeholder 2"/>
          <p:cNvSpPr>
            <a:spLocks noGrp="1"/>
          </p:cNvSpPr>
          <p:nvPr>
            <p:ph idx="1"/>
          </p:nvPr>
        </p:nvSpPr>
        <p:spPr>
          <a:xfrm>
            <a:off x="1088684" y="2015734"/>
            <a:ext cx="4076800" cy="3450613"/>
          </a:xfrm>
        </p:spPr>
        <p:txBody>
          <a:bodyPr>
            <a:normAutofit/>
          </a:bodyPr>
          <a:lstStyle/>
          <a:p>
            <a:r>
              <a:rPr lang="en-US">
                <a:latin typeface="Calibri"/>
              </a:rPr>
              <a:t>'Agent for everything' -&gt; expensive and unstable</a:t>
            </a:r>
          </a:p>
          <a:p>
            <a:r>
              <a:rPr lang="en-US">
                <a:latin typeface="Calibri"/>
              </a:rPr>
              <a:t>Prompt-only in production -&gt; no repeatability</a:t>
            </a:r>
          </a:p>
          <a:p>
            <a:r>
              <a:rPr lang="en-US">
                <a:latin typeface="Calibri"/>
              </a:rPr>
              <a:t>Over-privileged MCP -&gt; security incident risk</a:t>
            </a:r>
          </a:p>
          <a:p>
            <a:r>
              <a:rPr lang="en-US">
                <a:latin typeface="Calibri"/>
              </a:rPr>
              <a:t>Conclusion: correct architecture is determined by the task, not the trendiness of the tool</a:t>
            </a:r>
          </a:p>
        </p:txBody>
      </p:sp>
      <p:grpSp>
        <p:nvGrpSpPr>
          <p:cNvPr id="7175" name="Group 7174">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42809" y="2012810"/>
            <a:ext cx="2751052" cy="3453535"/>
            <a:chOff x="7807230" y="2012810"/>
            <a:chExt cx="3251252" cy="3459865"/>
          </a:xfrm>
        </p:grpSpPr>
        <p:sp>
          <p:nvSpPr>
            <p:cNvPr id="7176" name="Rectangle 7175">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170" name="Picture 2" descr="Кот с ножом изображения — Бесплатная загрузка на Magnific (ранее ...">
            <a:extLst>
              <a:ext uri="{FF2B5EF4-FFF2-40B4-BE49-F238E27FC236}">
                <a16:creationId xmlns:a16="http://schemas.microsoft.com/office/drawing/2014/main" id="{A1DF1DBC-3264-BFF8-E11F-1F981AE4A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504" r="6393" b="2"/>
          <a:stretch>
            <a:fillRect/>
          </a:stretch>
        </p:blipFill>
        <p:spPr bwMode="auto">
          <a:xfrm>
            <a:off x="5665604" y="2174242"/>
            <a:ext cx="2502742" cy="3124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Concept Comparison</a:t>
            </a:r>
          </a:p>
        </p:txBody>
      </p:sp>
      <p:sp>
        <p:nvSpPr>
          <p:cNvPr id="3" name="Content Placeholder 2"/>
          <p:cNvSpPr>
            <a:spLocks noGrp="1"/>
          </p:cNvSpPr>
          <p:nvPr>
            <p:ph idx="1"/>
          </p:nvPr>
        </p:nvSpPr>
        <p:spPr/>
        <p:txBody>
          <a:bodyPr/>
          <a:lstStyle/>
          <a:p>
            <a:r>
              <a:rPr sz="2000">
                <a:latin typeface="Calibri"/>
              </a:rPr>
              <a:t>Prompts: simple, but less predictable</a:t>
            </a:r>
          </a:p>
          <a:p>
            <a:r>
              <a:rPr sz="2000">
                <a:latin typeface="Calibri"/>
              </a:rPr>
              <a:t>Instructions/Skills: balance quality and repeatability</a:t>
            </a:r>
          </a:p>
          <a:p>
            <a:r>
              <a:rPr sz="2000">
                <a:latin typeface="Calibri"/>
              </a:rPr>
              <a:t>MCPs: connect real data and actions</a:t>
            </a:r>
          </a:p>
          <a:p>
            <a:r>
              <a:rPr sz="2000">
                <a:latin typeface="Calibri"/>
              </a:rPr>
              <a:t>Agents: flexibility. Workflows: reliability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dirty="0">
                <a:latin typeface="Calibri"/>
              </a:rPr>
              <a:t>When to Use What (Part 1)</a:t>
            </a:r>
          </a:p>
        </p:txBody>
      </p:sp>
      <p:sp>
        <p:nvSpPr>
          <p:cNvPr id="3" name="Content Placeholder 2"/>
          <p:cNvSpPr>
            <a:spLocks noGrp="1"/>
          </p:cNvSpPr>
          <p:nvPr>
            <p:ph idx="1"/>
          </p:nvPr>
        </p:nvSpPr>
        <p:spPr/>
        <p:txBody>
          <a:bodyPr/>
          <a:lstStyle/>
          <a:p>
            <a:r>
              <a:rPr sz="2000">
                <a:latin typeface="Calibri"/>
              </a:rPr>
              <a:t>One-off task -&gt; Prompt</a:t>
            </a:r>
          </a:p>
          <a:p>
            <a:r>
              <a:rPr sz="2000">
                <a:latin typeface="Calibri"/>
              </a:rPr>
              <a:t>Persistent rules needed -&gt; Instructions</a:t>
            </a:r>
          </a:p>
          <a:p>
            <a:r>
              <a:rPr sz="2000">
                <a:latin typeface="Calibri"/>
              </a:rPr>
              <a:t>Repeatable expertise -&gt; Skills</a:t>
            </a:r>
          </a:p>
          <a:p>
            <a:r>
              <a:rPr sz="2000">
                <a:latin typeface="Calibri"/>
              </a:rPr>
              <a:t>Access to systems needed -&gt; MCPs</a:t>
            </a:r>
          </a:p>
          <a:p>
            <a:r>
              <a:rPr sz="2000">
                <a:latin typeface="Calibri"/>
              </a:rPr>
              <a:t>Autonomy needed -&gt; Agent</a:t>
            </a:r>
          </a:p>
          <a:p>
            <a:r>
              <a:rPr sz="2000">
                <a:latin typeface="Calibri"/>
              </a:rPr>
              <a:t>Determinism needed -&gt; Workflow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When to Use What (Part 2): Anti-patterns</a:t>
            </a:r>
          </a:p>
        </p:txBody>
      </p:sp>
      <p:sp>
        <p:nvSpPr>
          <p:cNvPr id="3" name="Content Placeholder 2"/>
          <p:cNvSpPr>
            <a:spLocks noGrp="1"/>
          </p:cNvSpPr>
          <p:nvPr>
            <p:ph idx="1"/>
          </p:nvPr>
        </p:nvSpPr>
        <p:spPr/>
        <p:txBody>
          <a:bodyPr/>
          <a:lstStyle/>
          <a:p>
            <a:r>
              <a:rPr sz="2000">
                <a:latin typeface="Calibri"/>
              </a:rPr>
              <a:t>Anti-pattern: 'agent for everything' -&gt; expensive and unstable</a:t>
            </a:r>
          </a:p>
          <a:p>
            <a:r>
              <a:rPr sz="2000">
                <a:latin typeface="Calibri"/>
              </a:rPr>
              <a:t>Anti-pattern: prompt-only in production -&gt; no control</a:t>
            </a:r>
          </a:p>
          <a:p>
            <a:r>
              <a:rPr sz="2000">
                <a:latin typeface="Calibri"/>
              </a:rPr>
              <a:t>Anti-pattern: over-privileged MCP -&gt; security risks</a:t>
            </a:r>
          </a:p>
          <a:p>
            <a:r>
              <a:rPr sz="2000">
                <a:latin typeface="Calibri"/>
              </a:rPr>
              <a:t>Anti-pattern: giant-skill -&gt; hard to maintain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C63C853E-3842-4594-86A9-051FFAF4D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5" name="Picture 54">
            <a:extLst>
              <a:ext uri="{FF2B5EF4-FFF2-40B4-BE49-F238E27FC236}">
                <a16:creationId xmlns:a16="http://schemas.microsoft.com/office/drawing/2014/main" id="{B591CDC5-6B61-4116-B3B5-0FF42B6E60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57" name="Straight Connector 56">
            <a:extLst>
              <a:ext uri="{FF2B5EF4-FFF2-40B4-BE49-F238E27FC236}">
                <a16:creationId xmlns:a16="http://schemas.microsoft.com/office/drawing/2014/main" id="{25B08984-5BEB-422F-A364-2B41E6A51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F413B1-54E0-4B16-92AB-1CC5C7D645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9" name="Picture 8">
            <a:extLst>
              <a:ext uri="{FF2B5EF4-FFF2-40B4-BE49-F238E27FC236}">
                <a16:creationId xmlns:a16="http://schemas.microsoft.com/office/drawing/2014/main" id="{760EA29C-9462-60DC-6DCB-8BCCB6D1E0BE}"/>
              </a:ext>
            </a:extLst>
          </p:cNvPr>
          <p:cNvPicPr>
            <a:picLocks noChangeAspect="1"/>
          </p:cNvPicPr>
          <p:nvPr/>
        </p:nvPicPr>
        <p:blipFill>
          <a:blip r:embed="rId3"/>
          <a:srcRect t="16961" r="-2" b="8036"/>
          <a:stretch>
            <a:fillRect/>
          </a:stretch>
        </p:blipFill>
        <p:spPr>
          <a:xfrm>
            <a:off x="20" y="10"/>
            <a:ext cx="9143751" cy="6857990"/>
          </a:xfrm>
          <a:prstGeom prst="rect">
            <a:avLst/>
          </a:prstGeom>
        </p:spPr>
      </p:pic>
      <p:sp>
        <p:nvSpPr>
          <p:cNvPr id="61" name="Rectangle 60">
            <a:extLst>
              <a:ext uri="{FF2B5EF4-FFF2-40B4-BE49-F238E27FC236}">
                <a16:creationId xmlns:a16="http://schemas.microsoft.com/office/drawing/2014/main" id="{2E67E8BF-E4B2-4098-9FB3-9E400BD86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8014" y="4905349"/>
            <a:ext cx="4207985" cy="1450464"/>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0DBFD1-09B7-186C-5CE1-FF90D53D2C05}"/>
              </a:ext>
            </a:extLst>
          </p:cNvPr>
          <p:cNvSpPr>
            <a:spLocks noGrp="1"/>
          </p:cNvSpPr>
          <p:nvPr>
            <p:ph type="title"/>
          </p:nvPr>
        </p:nvSpPr>
        <p:spPr>
          <a:xfrm>
            <a:off x="4570809" y="5239131"/>
            <a:ext cx="3959617" cy="960087"/>
          </a:xfrm>
        </p:spPr>
        <p:txBody>
          <a:bodyPr vert="horz" lIns="91440" tIns="45720" rIns="91440" bIns="45720" rtlCol="0" anchor="t">
            <a:normAutofit/>
          </a:bodyPr>
          <a:lstStyle/>
          <a:p>
            <a:pPr defTabSz="914400"/>
            <a:r>
              <a:rPr lang="en-US" sz="3200" dirty="0">
                <a:solidFill>
                  <a:srgbClr val="FFFFFE"/>
                </a:solidFill>
              </a:rPr>
              <a:t>Finish is coming</a:t>
            </a:r>
          </a:p>
        </p:txBody>
      </p:sp>
      <p:cxnSp>
        <p:nvCxnSpPr>
          <p:cNvPr id="63" name="Straight Connector 62">
            <a:extLst>
              <a:ext uri="{FF2B5EF4-FFF2-40B4-BE49-F238E27FC236}">
                <a16:creationId xmlns:a16="http://schemas.microsoft.com/office/drawing/2014/main" id="{3781A10F-5DF6-4C9B-AE0B-5249E4399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70808" y="5073596"/>
            <a:ext cx="3962397" cy="0"/>
          </a:xfrm>
          <a:prstGeom prst="line">
            <a:avLst/>
          </a:prstGeom>
          <a:ln w="31750">
            <a:solidFill>
              <a:srgbClr val="C19458"/>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047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Case 1: Customer Support</a:t>
            </a:r>
          </a:p>
        </p:txBody>
      </p:sp>
      <p:sp>
        <p:nvSpPr>
          <p:cNvPr id="3" name="Content Placeholder 2"/>
          <p:cNvSpPr>
            <a:spLocks noGrp="1"/>
          </p:cNvSpPr>
          <p:nvPr>
            <p:ph idx="1"/>
          </p:nvPr>
        </p:nvSpPr>
        <p:spPr/>
        <p:txBody>
          <a:bodyPr/>
          <a:lstStyle/>
          <a:p>
            <a:r>
              <a:rPr sz="2000">
                <a:latin typeface="Calibri"/>
              </a:rPr>
              <a:t>Task: high volume of incoming requests</a:t>
            </a:r>
          </a:p>
          <a:p>
            <a:r>
              <a:rPr sz="2000">
                <a:latin typeface="Calibri"/>
              </a:rPr>
              <a:t>Solution: Workflow + Instructions + Skills + MCP</a:t>
            </a:r>
          </a:p>
          <a:p>
            <a:r>
              <a:rPr sz="2000">
                <a:latin typeface="Calibri"/>
              </a:rPr>
              <a:t>Result: routine requests are automated</a:t>
            </a:r>
          </a:p>
          <a:p>
            <a:r>
              <a:rPr sz="2000">
                <a:latin typeface="Calibri"/>
              </a:rPr>
              <a:t>Complex cases escalate to an operator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Case 2: AI Code Review</a:t>
            </a:r>
          </a:p>
        </p:txBody>
      </p:sp>
      <p:sp>
        <p:nvSpPr>
          <p:cNvPr id="3" name="Content Placeholder 2"/>
          <p:cNvSpPr>
            <a:spLocks noGrp="1"/>
          </p:cNvSpPr>
          <p:nvPr>
            <p:ph idx="1"/>
          </p:nvPr>
        </p:nvSpPr>
        <p:spPr/>
        <p:txBody>
          <a:bodyPr/>
          <a:lstStyle/>
          <a:p>
            <a:r>
              <a:rPr sz="2000">
                <a:latin typeface="Calibri"/>
              </a:rPr>
              <a:t>Evolution: Prompt -&gt; Instructions/Skills -&gt; CI Workflow</a:t>
            </a:r>
          </a:p>
          <a:p>
            <a:r>
              <a:rPr sz="2000">
                <a:latin typeface="Calibri"/>
              </a:rPr>
              <a:t>Every PR receives a fast structured review</a:t>
            </a:r>
          </a:p>
          <a:p>
            <a:r>
              <a:rPr sz="2000">
                <a:latin typeface="Calibri"/>
              </a:rPr>
              <a:t>Critical findings block merge</a:t>
            </a:r>
          </a:p>
          <a:p>
            <a:r>
              <a:rPr sz="2000">
                <a:latin typeface="Calibri"/>
              </a:rPr>
              <a:t>Consistent code quality growth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Case 3: Job Market Analytics</a:t>
            </a:r>
          </a:p>
        </p:txBody>
      </p:sp>
      <p:sp>
        <p:nvSpPr>
          <p:cNvPr id="3" name="Content Placeholder 2"/>
          <p:cNvSpPr>
            <a:spLocks noGrp="1"/>
          </p:cNvSpPr>
          <p:nvPr>
            <p:ph idx="1"/>
          </p:nvPr>
        </p:nvSpPr>
        <p:spPr/>
        <p:txBody>
          <a:bodyPr/>
          <a:lstStyle/>
          <a:p>
            <a:r>
              <a:rPr sz="2000">
                <a:latin typeface="Calibri"/>
              </a:rPr>
              <a:t>Prompt: fast, but shallow</a:t>
            </a:r>
          </a:p>
          <a:p>
            <a:r>
              <a:rPr sz="2000">
                <a:latin typeface="Calibri"/>
              </a:rPr>
              <a:t>Agent + MCP: deeper and more current</a:t>
            </a:r>
          </a:p>
          <a:p>
            <a:r>
              <a:rPr sz="2000">
                <a:latin typeface="Calibri"/>
              </a:rPr>
              <a:t>Workflow: scheduled regular report</a:t>
            </a:r>
          </a:p>
          <a:p>
            <a:r>
              <a:rPr sz="2000">
                <a:latin typeface="Calibri"/>
              </a:rPr>
              <a:t>Phased evolution provides the best ROI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Key Takeaways</a:t>
            </a:r>
          </a:p>
        </p:txBody>
      </p:sp>
      <p:sp>
        <p:nvSpPr>
          <p:cNvPr id="3" name="Content Placeholder 2"/>
          <p:cNvSpPr>
            <a:spLocks noGrp="1"/>
          </p:cNvSpPr>
          <p:nvPr>
            <p:ph idx="1"/>
          </p:nvPr>
        </p:nvSpPr>
        <p:spPr/>
        <p:txBody>
          <a:bodyPr/>
          <a:lstStyle/>
          <a:p>
            <a:r>
              <a:rPr sz="2000">
                <a:latin typeface="Calibri"/>
              </a:rPr>
              <a:t>Main idea: these are levels, not competitors</a:t>
            </a:r>
          </a:p>
          <a:p>
            <a:r>
              <a:rPr sz="2000">
                <a:latin typeface="Calibri"/>
              </a:rPr>
              <a:t>Start simple, add complexity as needed</a:t>
            </a:r>
          </a:p>
          <a:p>
            <a:r>
              <a:rPr sz="2000">
                <a:latin typeface="Calibri"/>
              </a:rPr>
              <a:t>For production: control and monitoring are essential</a:t>
            </a:r>
          </a:p>
          <a:p>
            <a:r>
              <a:rPr sz="2000">
                <a:latin typeface="Calibri"/>
              </a:rPr>
              <a:t>Best approach: hybrid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Calibri"/>
              </a:rPr>
              <a:t>Local Demo</a:t>
            </a:r>
          </a:p>
        </p:txBody>
      </p:sp>
      <p:sp>
        <p:nvSpPr>
          <p:cNvPr id="3" name="Subtitle 2"/>
          <p:cNvSpPr>
            <a:spLocks noGrp="1"/>
          </p:cNvSpPr>
          <p:nvPr>
            <p:ph type="subTitle" idx="1"/>
          </p:nvPr>
        </p:nvSpPr>
        <p:spPr/>
        <p:txBody>
          <a:bodyPr/>
          <a:lstStyle/>
          <a:p>
            <a:r>
              <a:rPr sz="2200">
                <a:latin typeface="Calibri"/>
              </a:rPr>
              <a:t>How to show all levels in VS Code in 20 minutes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Local Demo: Step-by-Step Scenario</a:t>
            </a:r>
          </a:p>
        </p:txBody>
      </p:sp>
      <p:sp>
        <p:nvSpPr>
          <p:cNvPr id="3" name="Content Placeholder 2"/>
          <p:cNvSpPr>
            <a:spLocks noGrp="1"/>
          </p:cNvSpPr>
          <p:nvPr>
            <p:ph idx="1"/>
          </p:nvPr>
        </p:nvSpPr>
        <p:spPr/>
        <p:txBody>
          <a:bodyPr/>
          <a:lstStyle/>
          <a:p>
            <a:r>
              <a:rPr sz="2000">
                <a:latin typeface="Calibri"/>
              </a:rPr>
              <a:t>Step 1: Basic prompt in Copilot Chat</a:t>
            </a:r>
          </a:p>
          <a:p>
            <a:r>
              <a:rPr sz="2000">
                <a:latin typeface="Calibri"/>
              </a:rPr>
              <a:t>Step 2: Add copilot-instructions.md to .github</a:t>
            </a:r>
          </a:p>
          <a:p>
            <a:r>
              <a:rPr sz="2000">
                <a:latin typeface="Calibri"/>
              </a:rPr>
              <a:t>Step 3: Create .github/skills folder with two skills</a:t>
            </a:r>
          </a:p>
          <a:p>
            <a:r>
              <a:rPr sz="2000">
                <a:latin typeface="Calibri"/>
              </a:rPr>
              <a:t>Step 4: Create .github/agents/support-agent.agent.md</a:t>
            </a:r>
          </a:p>
          <a:p>
            <a:r>
              <a:rPr sz="2000">
                <a:latin typeface="Calibri"/>
              </a:rPr>
              <a:t>Step 5: Show workflow logic as a diagram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Calibri"/>
              </a:rPr>
              <a:t>Thank You!</a:t>
            </a:r>
          </a:p>
        </p:txBody>
      </p:sp>
      <p:sp>
        <p:nvSpPr>
          <p:cNvPr id="3" name="Subtitle 2"/>
          <p:cNvSpPr>
            <a:spLocks noGrp="1"/>
          </p:cNvSpPr>
          <p:nvPr>
            <p:ph type="subTitle" idx="1"/>
          </p:nvPr>
        </p:nvSpPr>
        <p:spPr/>
        <p:txBody>
          <a:bodyPr/>
          <a:lstStyle/>
          <a:p>
            <a:r>
              <a:rPr sz="2200">
                <a:latin typeface="Calibri"/>
              </a:rPr>
              <a:t>Questions and Discussion</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134</TotalTime>
  <Words>2502</Words>
  <Application>Microsoft Office PowerPoint</Application>
  <PresentationFormat>On-screen Show (4:3)</PresentationFormat>
  <Paragraphs>151</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Gill Sans MT</vt:lpstr>
      <vt:lpstr>Gallery</vt:lpstr>
      <vt:lpstr>Prompts vs Instructions vs Skills vs MCPs vs Agents vs Workflows</vt:lpstr>
      <vt:lpstr>When to Use What</vt:lpstr>
      <vt:lpstr>Example: Anti-patterns</vt:lpstr>
      <vt:lpstr>Concept Comparison</vt:lpstr>
      <vt:lpstr>When to Use What (Part 1)</vt:lpstr>
      <vt:lpstr>When to Use What (Part 2): Anti-patterns</vt:lpstr>
      <vt:lpstr>Finish is coming</vt:lpstr>
      <vt:lpstr>Case 1: Customer Support</vt:lpstr>
      <vt:lpstr>Case 2: AI Code Review</vt:lpstr>
      <vt:lpstr>Case 3: Job Market Analytics</vt:lpstr>
      <vt:lpstr>Key Takeaways</vt:lpstr>
      <vt:lpstr>Local Demo</vt:lpstr>
      <vt:lpstr>Local Demo: Step-by-Step Scenario</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Maksim Lioshyn</cp:lastModifiedBy>
  <cp:revision>38</cp:revision>
  <dcterms:created xsi:type="dcterms:W3CDTF">2013-01-27T09:14:16Z</dcterms:created>
  <dcterms:modified xsi:type="dcterms:W3CDTF">2026-06-29T13:02:24Z</dcterms:modified>
  <cp:category/>
</cp:coreProperties>
</file>