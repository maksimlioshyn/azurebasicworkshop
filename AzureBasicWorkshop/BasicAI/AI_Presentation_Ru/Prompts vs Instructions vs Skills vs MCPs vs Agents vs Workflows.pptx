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061" autoAdjust="0"/>
  </p:normalViewPr>
  <p:slideViewPr>
    <p:cSldViewPr snapToGrid="0" snapToObjects="1">
      <p:cViewPr varScale="1">
        <p:scale>
          <a:sx n="62" d="100"/>
          <a:sy n="62" d="100"/>
        </p:scale>
        <p:origin x="20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1.62791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6-06-26T12:35:04.6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3395 3737 0,'79'0'78,"0"0"-62,53 0-1,26 0-15,-79 0 0,79 0 16,52 0-16,1 0 16,0 0-16,-1 0 15,1 0-15,-159 0 16,211 0-16,-157 0 15,52 0-15,0 0 16,0 0-16,26 0 16,-79 0-16,53 0 15,-26 0-15,-1 0 16,53 0-16,-26 0 0,0 0 16,0 0-16,0 0 15,-53 0-15,1 0 16,-54 0-16,80 0 15,-106 0-15,1 0 16,-1 0-16,27 0 16,-27 0-16,0 0 15,1 0-15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800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Термины</a:t>
            </a:r>
            <a:r>
              <a:rPr dirty="0"/>
              <a:t>: AI-</a:t>
            </a:r>
            <a:r>
              <a:rPr dirty="0" err="1"/>
              <a:t>архитектура</a:t>
            </a:r>
            <a:r>
              <a:rPr dirty="0"/>
              <a:t> — </a:t>
            </a:r>
            <a:r>
              <a:rPr dirty="0" err="1"/>
              <a:t>организация</a:t>
            </a:r>
            <a:r>
              <a:rPr dirty="0"/>
              <a:t> </a:t>
            </a:r>
            <a:r>
              <a:rPr dirty="0" err="1"/>
              <a:t>слоев</a:t>
            </a:r>
            <a:r>
              <a:rPr dirty="0"/>
              <a:t>, </a:t>
            </a:r>
            <a:r>
              <a:rPr dirty="0" err="1"/>
              <a:t>данных</a:t>
            </a:r>
            <a:r>
              <a:rPr dirty="0"/>
              <a:t> и </a:t>
            </a:r>
            <a:r>
              <a:rPr dirty="0" err="1"/>
              <a:t>правил</a:t>
            </a:r>
            <a:r>
              <a:rPr dirty="0"/>
              <a:t>. </a:t>
            </a:r>
            <a:r>
              <a:rPr dirty="0" err="1"/>
              <a:t>Зрелость</a:t>
            </a:r>
            <a:r>
              <a:rPr dirty="0"/>
              <a:t> — </a:t>
            </a:r>
            <a:r>
              <a:rPr dirty="0" err="1"/>
              <a:t>степень</a:t>
            </a:r>
            <a:r>
              <a:rPr dirty="0"/>
              <a:t> </a:t>
            </a:r>
            <a:r>
              <a:rPr dirty="0" err="1"/>
              <a:t>управляемости</a:t>
            </a:r>
            <a:r>
              <a:rPr dirty="0"/>
              <a:t> и </a:t>
            </a:r>
            <a:r>
              <a:rPr dirty="0" err="1"/>
              <a:t>воспроизводимости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Механика</a:t>
            </a:r>
            <a:r>
              <a:rPr dirty="0"/>
              <a:t>: </a:t>
            </a:r>
            <a:r>
              <a:rPr dirty="0" err="1"/>
              <a:t>Эта</a:t>
            </a:r>
            <a:r>
              <a:rPr dirty="0"/>
              <a:t> </a:t>
            </a:r>
            <a:r>
              <a:rPr dirty="0" err="1"/>
              <a:t>презентация</a:t>
            </a:r>
            <a:r>
              <a:rPr dirty="0"/>
              <a:t> </a:t>
            </a:r>
            <a:r>
              <a:rPr dirty="0" err="1"/>
              <a:t>читается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45-минутный </a:t>
            </a:r>
            <a:r>
              <a:rPr dirty="0" err="1"/>
              <a:t>рассказ</a:t>
            </a:r>
            <a:r>
              <a:rPr dirty="0"/>
              <a:t>: 5 </a:t>
            </a:r>
            <a:r>
              <a:rPr dirty="0" err="1"/>
              <a:t>минут</a:t>
            </a:r>
            <a:r>
              <a:rPr dirty="0"/>
              <a:t> </a:t>
            </a:r>
            <a:r>
              <a:rPr dirty="0" err="1"/>
              <a:t>вводной</a:t>
            </a:r>
            <a:r>
              <a:rPr dirty="0"/>
              <a:t> </a:t>
            </a:r>
            <a:r>
              <a:rPr dirty="0" err="1"/>
              <a:t>рамки</a:t>
            </a:r>
            <a:r>
              <a:rPr dirty="0"/>
              <a:t>, </a:t>
            </a:r>
            <a:r>
              <a:rPr dirty="0" err="1"/>
              <a:t>около</a:t>
            </a:r>
            <a:r>
              <a:rPr dirty="0"/>
              <a:t> 30 </a:t>
            </a:r>
            <a:r>
              <a:rPr dirty="0" err="1"/>
              <a:t>минут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уровни</a:t>
            </a:r>
            <a:r>
              <a:rPr dirty="0"/>
              <a:t> </a:t>
            </a:r>
            <a:r>
              <a:rPr dirty="0" err="1"/>
              <a:t>зрелости</a:t>
            </a:r>
            <a:r>
              <a:rPr dirty="0"/>
              <a:t>, 8 </a:t>
            </a:r>
            <a:r>
              <a:rPr dirty="0" err="1"/>
              <a:t>минут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кейсы</a:t>
            </a:r>
            <a:r>
              <a:rPr dirty="0"/>
              <a:t> и 2 </a:t>
            </a:r>
            <a:r>
              <a:rPr dirty="0" err="1"/>
              <a:t>минуты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закрепление</a:t>
            </a:r>
            <a:r>
              <a:rPr dirty="0"/>
              <a:t>. </a:t>
            </a:r>
            <a:r>
              <a:rPr dirty="0" err="1"/>
              <a:t>Базовый</a:t>
            </a:r>
            <a:r>
              <a:rPr dirty="0"/>
              <a:t> </a:t>
            </a:r>
            <a:r>
              <a:rPr dirty="0" err="1"/>
              <a:t>принцип</a:t>
            </a:r>
            <a:r>
              <a:rPr dirty="0"/>
              <a:t>: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выбираем</a:t>
            </a:r>
            <a:r>
              <a:rPr dirty="0"/>
              <a:t> </a:t>
            </a:r>
            <a:r>
              <a:rPr dirty="0" err="1"/>
              <a:t>одну</a:t>
            </a:r>
            <a:r>
              <a:rPr dirty="0"/>
              <a:t> </a:t>
            </a:r>
            <a:r>
              <a:rPr dirty="0" err="1"/>
              <a:t>технологию</a:t>
            </a:r>
            <a:r>
              <a:rPr dirty="0"/>
              <a:t>,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проектируем</a:t>
            </a:r>
            <a:r>
              <a:rPr dirty="0"/>
              <a:t> </a:t>
            </a:r>
            <a:r>
              <a:rPr dirty="0" err="1"/>
              <a:t>комбинацию</a:t>
            </a:r>
            <a:r>
              <a:rPr dirty="0"/>
              <a:t> </a:t>
            </a:r>
            <a:r>
              <a:rPr dirty="0" err="1"/>
              <a:t>слоев</a:t>
            </a:r>
            <a:r>
              <a:rPr dirty="0"/>
              <a:t>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задачу</a:t>
            </a:r>
            <a:r>
              <a:rPr dirty="0"/>
              <a:t>. </a:t>
            </a: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определяем</a:t>
            </a:r>
            <a:r>
              <a:rPr dirty="0"/>
              <a:t> </a:t>
            </a:r>
            <a:r>
              <a:rPr dirty="0" err="1"/>
              <a:t>цель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 и </a:t>
            </a:r>
            <a:r>
              <a:rPr dirty="0" err="1"/>
              <a:t>цену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,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выбираем</a:t>
            </a:r>
            <a:r>
              <a:rPr dirty="0"/>
              <a:t> </a:t>
            </a:r>
            <a:r>
              <a:rPr dirty="0" err="1"/>
              <a:t>минимально</a:t>
            </a:r>
            <a:r>
              <a:rPr dirty="0"/>
              <a:t> </a:t>
            </a:r>
            <a:r>
              <a:rPr dirty="0" err="1"/>
              <a:t>достаточный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,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поэтапно</a:t>
            </a:r>
            <a:r>
              <a:rPr dirty="0"/>
              <a:t> </a:t>
            </a:r>
            <a:r>
              <a:rPr dirty="0" err="1"/>
              <a:t>добавляем</a:t>
            </a:r>
            <a:r>
              <a:rPr dirty="0"/>
              <a:t> </a:t>
            </a:r>
            <a:r>
              <a:rPr dirty="0" err="1"/>
              <a:t>инструменты</a:t>
            </a:r>
            <a:r>
              <a:rPr dirty="0"/>
              <a:t> </a:t>
            </a:r>
            <a:r>
              <a:rPr dirty="0" err="1"/>
              <a:t>контроля</a:t>
            </a:r>
            <a:r>
              <a:rPr dirty="0"/>
              <a:t> и </a:t>
            </a:r>
            <a:r>
              <a:rPr dirty="0" err="1"/>
              <a:t>надежности</a:t>
            </a:r>
            <a:r>
              <a:rPr dirty="0"/>
              <a:t>.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держать</a:t>
            </a:r>
            <a:r>
              <a:rPr dirty="0"/>
              <a:t> в </a:t>
            </a:r>
            <a:r>
              <a:rPr dirty="0" err="1"/>
              <a:t>фокусе</a:t>
            </a:r>
            <a:r>
              <a:rPr dirty="0"/>
              <a:t>, что </a:t>
            </a:r>
            <a:r>
              <a:rPr dirty="0" err="1"/>
              <a:t>переход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слоями</a:t>
            </a:r>
            <a:r>
              <a:rPr dirty="0"/>
              <a:t> —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управляемая</a:t>
            </a:r>
            <a:r>
              <a:rPr dirty="0"/>
              <a:t> </a:t>
            </a:r>
            <a:r>
              <a:rPr dirty="0" err="1"/>
              <a:t>эволюция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резкая</a:t>
            </a:r>
            <a:r>
              <a:rPr dirty="0"/>
              <a:t> </a:t>
            </a:r>
            <a:r>
              <a:rPr dirty="0" err="1"/>
              <a:t>замена</a:t>
            </a:r>
            <a:r>
              <a:rPr dirty="0"/>
              <a:t> </a:t>
            </a:r>
            <a:r>
              <a:rPr dirty="0" err="1"/>
              <a:t>всего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Практический</a:t>
            </a:r>
            <a:r>
              <a:rPr dirty="0"/>
              <a:t> </a:t>
            </a: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Внутренняя</a:t>
            </a:r>
            <a:r>
              <a:rPr dirty="0"/>
              <a:t>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использовала</a:t>
            </a:r>
            <a:r>
              <a:rPr dirty="0"/>
              <a:t> prompts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быстрых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,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подключила</a:t>
            </a:r>
            <a:r>
              <a:rPr dirty="0"/>
              <a:t> policies, </a:t>
            </a:r>
            <a:r>
              <a:rPr dirty="0" err="1"/>
              <a:t>интеграции</a:t>
            </a:r>
            <a:r>
              <a:rPr dirty="0"/>
              <a:t> и workflow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мере</a:t>
            </a:r>
            <a:r>
              <a:rPr dirty="0"/>
              <a:t> </a:t>
            </a:r>
            <a:r>
              <a:rPr dirty="0" err="1"/>
              <a:t>роста</a:t>
            </a:r>
            <a:r>
              <a:rPr dirty="0"/>
              <a:t> </a:t>
            </a:r>
            <a:r>
              <a:rPr dirty="0" err="1"/>
              <a:t>требований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Вывод</a:t>
            </a:r>
            <a:r>
              <a:rPr dirty="0"/>
              <a:t>: </a:t>
            </a:r>
            <a:r>
              <a:rPr dirty="0" err="1"/>
              <a:t>Главная</a:t>
            </a:r>
            <a:r>
              <a:rPr dirty="0"/>
              <a:t> </a:t>
            </a:r>
            <a:r>
              <a:rPr dirty="0" err="1"/>
              <a:t>цель</a:t>
            </a:r>
            <a:r>
              <a:rPr dirty="0"/>
              <a:t> </a:t>
            </a:r>
            <a:r>
              <a:rPr dirty="0" err="1"/>
              <a:t>занятия</a:t>
            </a:r>
            <a:r>
              <a:rPr dirty="0"/>
              <a:t> — </a:t>
            </a:r>
            <a:r>
              <a:rPr dirty="0" err="1"/>
              <a:t>дать</a:t>
            </a:r>
            <a:r>
              <a:rPr dirty="0"/>
              <a:t> </a:t>
            </a:r>
            <a:r>
              <a:rPr dirty="0" err="1"/>
              <a:t>повторяемый</a:t>
            </a:r>
            <a:r>
              <a:rPr dirty="0"/>
              <a:t> </a:t>
            </a:r>
            <a:r>
              <a:rPr dirty="0" err="1"/>
              <a:t>способ</a:t>
            </a:r>
            <a:r>
              <a:rPr dirty="0"/>
              <a:t> </a:t>
            </a:r>
            <a:r>
              <a:rPr dirty="0" err="1"/>
              <a:t>выбора</a:t>
            </a:r>
            <a:r>
              <a:rPr dirty="0"/>
              <a:t> </a:t>
            </a:r>
            <a:r>
              <a:rPr dirty="0" err="1"/>
              <a:t>архитектуры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применить</a:t>
            </a:r>
            <a:r>
              <a:rPr dirty="0"/>
              <a:t> </a:t>
            </a:r>
            <a:r>
              <a:rPr dirty="0" err="1"/>
              <a:t>сразу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презентации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Термины</a:t>
            </a:r>
            <a:r>
              <a:rPr dirty="0"/>
              <a:t>: </a:t>
            </a:r>
            <a:r>
              <a:rPr dirty="0" err="1"/>
              <a:t>Автономность</a:t>
            </a:r>
            <a:r>
              <a:rPr dirty="0"/>
              <a:t> — </a:t>
            </a:r>
            <a:r>
              <a:rPr dirty="0" err="1"/>
              <a:t>способность</a:t>
            </a:r>
            <a:r>
              <a:rPr dirty="0"/>
              <a:t> </a:t>
            </a:r>
            <a:r>
              <a:rPr dirty="0" err="1"/>
              <a:t>выполнять</a:t>
            </a:r>
            <a:r>
              <a:rPr dirty="0"/>
              <a:t> </a:t>
            </a:r>
            <a:r>
              <a:rPr dirty="0" err="1"/>
              <a:t>действия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ручного</a:t>
            </a:r>
            <a:r>
              <a:rPr dirty="0"/>
              <a:t> </a:t>
            </a:r>
            <a:r>
              <a:rPr dirty="0" err="1"/>
              <a:t>управления</a:t>
            </a:r>
            <a:r>
              <a:rPr dirty="0"/>
              <a:t>. </a:t>
            </a:r>
            <a:r>
              <a:rPr dirty="0" err="1"/>
              <a:t>Надежность</a:t>
            </a:r>
            <a:r>
              <a:rPr dirty="0"/>
              <a:t> — </a:t>
            </a:r>
            <a:r>
              <a:rPr dirty="0" err="1"/>
              <a:t>предсказуемость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повторении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Механика</a:t>
            </a:r>
            <a:r>
              <a:rPr dirty="0"/>
              <a:t>: </a:t>
            </a:r>
            <a:r>
              <a:rPr dirty="0" err="1"/>
              <a:t>Лестница</a:t>
            </a:r>
            <a:r>
              <a:rPr dirty="0"/>
              <a:t> </a:t>
            </a:r>
            <a:r>
              <a:rPr dirty="0" err="1"/>
              <a:t>сложности</a:t>
            </a:r>
            <a:r>
              <a:rPr dirty="0"/>
              <a:t> </a:t>
            </a:r>
            <a:r>
              <a:rPr dirty="0" err="1"/>
              <a:t>задает</a:t>
            </a:r>
            <a:r>
              <a:rPr dirty="0"/>
              <a:t> </a:t>
            </a:r>
            <a:r>
              <a:rPr dirty="0" err="1"/>
              <a:t>ось</a:t>
            </a:r>
            <a:r>
              <a:rPr dirty="0"/>
              <a:t> </a:t>
            </a:r>
            <a:r>
              <a:rPr dirty="0" err="1"/>
              <a:t>компромисса</a:t>
            </a:r>
            <a:r>
              <a:rPr dirty="0"/>
              <a:t>. </a:t>
            </a:r>
            <a:r>
              <a:rPr dirty="0" err="1"/>
              <a:t>Слева</a:t>
            </a:r>
            <a:r>
              <a:rPr dirty="0"/>
              <a:t> </a:t>
            </a:r>
            <a:r>
              <a:rPr dirty="0" err="1"/>
              <a:t>низкий</a:t>
            </a:r>
            <a:r>
              <a:rPr dirty="0"/>
              <a:t> </a:t>
            </a:r>
            <a:r>
              <a:rPr dirty="0" err="1"/>
              <a:t>порог</a:t>
            </a:r>
            <a:r>
              <a:rPr dirty="0"/>
              <a:t> </a:t>
            </a:r>
            <a:r>
              <a:rPr dirty="0" err="1"/>
              <a:t>запуска</a:t>
            </a:r>
            <a:r>
              <a:rPr dirty="0"/>
              <a:t> и </a:t>
            </a:r>
            <a:r>
              <a:rPr dirty="0" err="1"/>
              <a:t>высокая</a:t>
            </a:r>
            <a:r>
              <a:rPr dirty="0"/>
              <a:t> </a:t>
            </a:r>
            <a:r>
              <a:rPr dirty="0" err="1"/>
              <a:t>скорость</a:t>
            </a:r>
            <a:r>
              <a:rPr dirty="0"/>
              <a:t> </a:t>
            </a:r>
            <a:r>
              <a:rPr dirty="0" err="1"/>
              <a:t>эксперимента</a:t>
            </a:r>
            <a:r>
              <a:rPr dirty="0"/>
              <a:t>, </a:t>
            </a:r>
            <a:r>
              <a:rPr dirty="0" err="1"/>
              <a:t>справа</a:t>
            </a:r>
            <a:r>
              <a:rPr dirty="0"/>
              <a:t> </a:t>
            </a:r>
            <a:r>
              <a:rPr dirty="0" err="1"/>
              <a:t>выше</a:t>
            </a:r>
            <a:r>
              <a:rPr dirty="0"/>
              <a:t> </a:t>
            </a:r>
            <a:r>
              <a:rPr dirty="0" err="1"/>
              <a:t>эксплуатационная</a:t>
            </a:r>
            <a:r>
              <a:rPr dirty="0"/>
              <a:t> </a:t>
            </a:r>
            <a:r>
              <a:rPr dirty="0" err="1"/>
              <a:t>дисциплина</a:t>
            </a:r>
            <a:r>
              <a:rPr dirty="0"/>
              <a:t> и </a:t>
            </a:r>
            <a:r>
              <a:rPr dirty="0" err="1"/>
              <a:t>контроль</a:t>
            </a:r>
            <a:r>
              <a:rPr dirty="0"/>
              <a:t>. </a:t>
            </a:r>
            <a:r>
              <a:rPr dirty="0" err="1"/>
              <a:t>Рассказ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этому</a:t>
            </a:r>
            <a:r>
              <a:rPr dirty="0"/>
              <a:t> </a:t>
            </a:r>
            <a:r>
              <a:rPr dirty="0" err="1"/>
              <a:t>слайду</a:t>
            </a:r>
            <a:r>
              <a:rPr dirty="0"/>
              <a:t> </a:t>
            </a:r>
            <a:r>
              <a:rPr dirty="0" err="1"/>
              <a:t>строится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маршрут</a:t>
            </a:r>
            <a:r>
              <a:rPr dirty="0"/>
              <a:t>: prompts </a:t>
            </a:r>
            <a:r>
              <a:rPr dirty="0" err="1"/>
              <a:t>закрывают</a:t>
            </a:r>
            <a:r>
              <a:rPr dirty="0"/>
              <a:t> </a:t>
            </a:r>
            <a:r>
              <a:rPr dirty="0" err="1"/>
              <a:t>быстрый</a:t>
            </a:r>
            <a:r>
              <a:rPr dirty="0"/>
              <a:t> </a:t>
            </a:r>
            <a:r>
              <a:rPr dirty="0" err="1"/>
              <a:t>запуск</a:t>
            </a:r>
            <a:r>
              <a:rPr dirty="0"/>
              <a:t>, instructions </a:t>
            </a:r>
            <a:r>
              <a:rPr dirty="0" err="1"/>
              <a:t>дают</a:t>
            </a:r>
            <a:r>
              <a:rPr dirty="0"/>
              <a:t> </a:t>
            </a:r>
            <a:r>
              <a:rPr dirty="0" err="1"/>
              <a:t>единый</a:t>
            </a:r>
            <a:r>
              <a:rPr dirty="0"/>
              <a:t> </a:t>
            </a:r>
            <a:r>
              <a:rPr dirty="0" err="1"/>
              <a:t>стандарт</a:t>
            </a:r>
            <a:r>
              <a:rPr dirty="0"/>
              <a:t> </a:t>
            </a:r>
            <a:r>
              <a:rPr dirty="0" err="1"/>
              <a:t>поведения</a:t>
            </a:r>
            <a:r>
              <a:rPr dirty="0"/>
              <a:t>, skills </a:t>
            </a:r>
            <a:r>
              <a:rPr dirty="0" err="1"/>
              <a:t>масштабируют</a:t>
            </a:r>
            <a:r>
              <a:rPr dirty="0"/>
              <a:t> </a:t>
            </a:r>
            <a:r>
              <a:rPr dirty="0" err="1"/>
              <a:t>повторяемую</a:t>
            </a:r>
            <a:r>
              <a:rPr dirty="0"/>
              <a:t> </a:t>
            </a:r>
            <a:r>
              <a:rPr dirty="0" err="1"/>
              <a:t>экспертизу</a:t>
            </a:r>
            <a:r>
              <a:rPr dirty="0"/>
              <a:t>, MCP </a:t>
            </a:r>
            <a:r>
              <a:rPr dirty="0" err="1"/>
              <a:t>подключает</a:t>
            </a:r>
            <a:r>
              <a:rPr dirty="0"/>
              <a:t> </a:t>
            </a:r>
            <a:r>
              <a:rPr dirty="0" err="1"/>
              <a:t>фактические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и </a:t>
            </a:r>
            <a:r>
              <a:rPr dirty="0" err="1"/>
              <a:t>действия</a:t>
            </a:r>
            <a:r>
              <a:rPr dirty="0"/>
              <a:t>, agents </a:t>
            </a:r>
            <a:r>
              <a:rPr dirty="0" err="1"/>
              <a:t>добавляют</a:t>
            </a:r>
            <a:r>
              <a:rPr dirty="0"/>
              <a:t> </a:t>
            </a:r>
            <a:r>
              <a:rPr dirty="0" err="1"/>
              <a:t>адаптивное</a:t>
            </a:r>
            <a:r>
              <a:rPr dirty="0"/>
              <a:t> </a:t>
            </a:r>
            <a:r>
              <a:rPr dirty="0" err="1"/>
              <a:t>планирование</a:t>
            </a:r>
            <a:r>
              <a:rPr dirty="0"/>
              <a:t>, workflows </a:t>
            </a:r>
            <a:r>
              <a:rPr dirty="0" err="1"/>
              <a:t>обеспечивают</a:t>
            </a:r>
            <a:r>
              <a:rPr dirty="0"/>
              <a:t> </a:t>
            </a:r>
            <a:r>
              <a:rPr dirty="0" err="1"/>
              <a:t>устойчивый</a:t>
            </a:r>
            <a:r>
              <a:rPr dirty="0"/>
              <a:t> </a:t>
            </a:r>
            <a:r>
              <a:rPr dirty="0" err="1"/>
              <a:t>операционный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. </a:t>
            </a:r>
          </a:p>
          <a:p>
            <a:endParaRPr dirty="0"/>
          </a:p>
          <a:p>
            <a:r>
              <a:rPr dirty="0" err="1"/>
              <a:t>Практический</a:t>
            </a:r>
            <a:r>
              <a:rPr dirty="0"/>
              <a:t> </a:t>
            </a: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одноразовой</a:t>
            </a:r>
            <a:r>
              <a:rPr dirty="0"/>
              <a:t> </a:t>
            </a:r>
            <a:r>
              <a:rPr dirty="0" err="1"/>
              <a:t>генерации</a:t>
            </a:r>
            <a:r>
              <a:rPr dirty="0"/>
              <a:t> </a:t>
            </a:r>
            <a:r>
              <a:rPr dirty="0" err="1"/>
              <a:t>текста</a:t>
            </a:r>
            <a:r>
              <a:rPr dirty="0"/>
              <a:t> </a:t>
            </a:r>
            <a:r>
              <a:rPr dirty="0" err="1"/>
              <a:t>достаточно</a:t>
            </a:r>
            <a:r>
              <a:rPr dirty="0"/>
              <a:t> prompts, а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регулярной</a:t>
            </a:r>
            <a:r>
              <a:rPr dirty="0"/>
              <a:t> </a:t>
            </a:r>
            <a:r>
              <a:rPr dirty="0" err="1"/>
              <a:t>клиентской</a:t>
            </a:r>
            <a:r>
              <a:rPr dirty="0"/>
              <a:t> </a:t>
            </a:r>
            <a:r>
              <a:rPr dirty="0" err="1"/>
              <a:t>поддержки</a:t>
            </a:r>
            <a:r>
              <a:rPr dirty="0"/>
              <a:t> с SLA </a:t>
            </a:r>
            <a:r>
              <a:rPr dirty="0" err="1"/>
              <a:t>нужен</a:t>
            </a:r>
            <a:r>
              <a:rPr dirty="0"/>
              <a:t> workflow с </a:t>
            </a:r>
            <a:r>
              <a:rPr dirty="0" err="1"/>
              <a:t>интеграциями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Ограничения</a:t>
            </a:r>
            <a:r>
              <a:rPr dirty="0"/>
              <a:t>: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воспринимать</a:t>
            </a:r>
            <a:r>
              <a:rPr dirty="0"/>
              <a:t> </a:t>
            </a:r>
            <a:r>
              <a:rPr dirty="0" err="1"/>
              <a:t>движение</a:t>
            </a:r>
            <a:r>
              <a:rPr dirty="0"/>
              <a:t> </a:t>
            </a:r>
            <a:r>
              <a:rPr dirty="0" err="1"/>
              <a:t>вправо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обязательное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любого</a:t>
            </a:r>
            <a:r>
              <a:rPr dirty="0"/>
              <a:t> </a:t>
            </a:r>
            <a:r>
              <a:rPr dirty="0" err="1"/>
              <a:t>кейса</a:t>
            </a:r>
            <a:r>
              <a:rPr dirty="0"/>
              <a:t>,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переусложнение</a:t>
            </a:r>
            <a:r>
              <a:rPr dirty="0"/>
              <a:t> и </a:t>
            </a:r>
            <a:r>
              <a:rPr dirty="0" err="1"/>
              <a:t>рост</a:t>
            </a:r>
            <a:r>
              <a:rPr dirty="0"/>
              <a:t> </a:t>
            </a:r>
            <a:r>
              <a:rPr dirty="0" err="1"/>
              <a:t>стоимости</a:t>
            </a:r>
            <a:r>
              <a:rPr dirty="0"/>
              <a:t>.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застрять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левых</a:t>
            </a:r>
            <a:r>
              <a:rPr dirty="0"/>
              <a:t> </a:t>
            </a:r>
            <a:r>
              <a:rPr dirty="0" err="1"/>
              <a:t>уровнях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высоких</a:t>
            </a:r>
            <a:r>
              <a:rPr dirty="0"/>
              <a:t> </a:t>
            </a:r>
            <a:r>
              <a:rPr dirty="0" err="1"/>
              <a:t>требованиях</a:t>
            </a:r>
            <a:r>
              <a:rPr dirty="0"/>
              <a:t> к </a:t>
            </a:r>
            <a:r>
              <a:rPr dirty="0" err="1"/>
              <a:t>качеству</a:t>
            </a:r>
            <a:r>
              <a:rPr dirty="0"/>
              <a:t>, </a:t>
            </a:r>
            <a:r>
              <a:rPr dirty="0" err="1"/>
              <a:t>появляется</a:t>
            </a:r>
            <a:r>
              <a:rPr dirty="0"/>
              <a:t> </a:t>
            </a:r>
            <a:r>
              <a:rPr dirty="0" err="1"/>
              <a:t>операционный</a:t>
            </a:r>
            <a:r>
              <a:rPr dirty="0"/>
              <a:t> </a:t>
            </a:r>
            <a:r>
              <a:rPr dirty="0" err="1"/>
              <a:t>риск</a:t>
            </a:r>
            <a:r>
              <a:rPr dirty="0"/>
              <a:t>. </a:t>
            </a:r>
            <a:r>
              <a:rPr dirty="0" err="1"/>
              <a:t>Ограничение</a:t>
            </a:r>
            <a:r>
              <a:rPr dirty="0"/>
              <a:t> </a:t>
            </a:r>
            <a:r>
              <a:rPr dirty="0" err="1"/>
              <a:t>также</a:t>
            </a:r>
            <a:r>
              <a:rPr dirty="0"/>
              <a:t> в </a:t>
            </a:r>
            <a:r>
              <a:rPr dirty="0" err="1"/>
              <a:t>организационной</a:t>
            </a:r>
            <a:r>
              <a:rPr dirty="0"/>
              <a:t> </a:t>
            </a:r>
            <a:r>
              <a:rPr dirty="0" err="1"/>
              <a:t>зрелости</a:t>
            </a:r>
            <a:r>
              <a:rPr dirty="0"/>
              <a:t>: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правее</a:t>
            </a:r>
            <a:r>
              <a:rPr dirty="0"/>
              <a:t> </a:t>
            </a:r>
            <a:r>
              <a:rPr dirty="0" err="1"/>
              <a:t>слой</a:t>
            </a:r>
            <a:r>
              <a:rPr dirty="0"/>
              <a:t>, </a:t>
            </a:r>
            <a:r>
              <a:rPr dirty="0" err="1"/>
              <a:t>тем</a:t>
            </a:r>
            <a:r>
              <a:rPr dirty="0"/>
              <a:t> </a:t>
            </a:r>
            <a:r>
              <a:rPr dirty="0" err="1"/>
              <a:t>больше</a:t>
            </a:r>
            <a:r>
              <a:rPr dirty="0"/>
              <a:t> </a:t>
            </a:r>
            <a:r>
              <a:rPr dirty="0" err="1"/>
              <a:t>требований</a:t>
            </a:r>
            <a:r>
              <a:rPr dirty="0"/>
              <a:t> к </a:t>
            </a:r>
            <a:r>
              <a:rPr dirty="0" err="1"/>
              <a:t>владельцам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, </a:t>
            </a:r>
            <a:r>
              <a:rPr dirty="0" err="1"/>
              <a:t>мониторингу</a:t>
            </a:r>
            <a:r>
              <a:rPr dirty="0"/>
              <a:t> и </a:t>
            </a:r>
            <a:r>
              <a:rPr dirty="0" err="1"/>
              <a:t>регламентам</a:t>
            </a:r>
            <a:r>
              <a:rPr dirty="0"/>
              <a:t> </a:t>
            </a:r>
            <a:r>
              <a:rPr dirty="0" err="1"/>
              <a:t>изменений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Вывод</a:t>
            </a:r>
            <a:r>
              <a:rPr dirty="0"/>
              <a:t>: </a:t>
            </a:r>
            <a:r>
              <a:rPr dirty="0" err="1"/>
              <a:t>Лестница</a:t>
            </a:r>
            <a:r>
              <a:rPr dirty="0"/>
              <a:t> </a:t>
            </a:r>
            <a:r>
              <a:rPr dirty="0" err="1"/>
              <a:t>нужна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максимизации</a:t>
            </a:r>
            <a:r>
              <a:rPr dirty="0"/>
              <a:t> </a:t>
            </a:r>
            <a:r>
              <a:rPr dirty="0" err="1"/>
              <a:t>сложности</a:t>
            </a:r>
            <a:r>
              <a:rPr dirty="0"/>
              <a:t>, а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обоснованного</a:t>
            </a:r>
            <a:r>
              <a:rPr dirty="0"/>
              <a:t> </a:t>
            </a:r>
            <a:r>
              <a:rPr dirty="0" err="1"/>
              <a:t>выбора</a:t>
            </a:r>
            <a:r>
              <a:rPr dirty="0"/>
              <a:t> </a:t>
            </a:r>
            <a:r>
              <a:rPr dirty="0" err="1"/>
              <a:t>следующего</a:t>
            </a:r>
            <a:r>
              <a:rPr dirty="0"/>
              <a:t> </a:t>
            </a:r>
            <a:r>
              <a:rPr dirty="0" err="1"/>
              <a:t>слоя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требованиям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Термины</a:t>
            </a:r>
            <a:r>
              <a:rPr dirty="0"/>
              <a:t>: Prompt — </a:t>
            </a:r>
            <a:r>
              <a:rPr dirty="0" err="1"/>
              <a:t>текстовая</a:t>
            </a:r>
            <a:r>
              <a:rPr dirty="0"/>
              <a:t> </a:t>
            </a:r>
            <a:r>
              <a:rPr dirty="0" err="1"/>
              <a:t>постановка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. Zero-shot/few-shot — </a:t>
            </a:r>
            <a:r>
              <a:rPr dirty="0" err="1"/>
              <a:t>выполнение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примеров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с </a:t>
            </a:r>
            <a:r>
              <a:rPr dirty="0" err="1"/>
              <a:t>примерами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Механика</a:t>
            </a:r>
            <a:r>
              <a:rPr dirty="0"/>
              <a:t>: </a:t>
            </a:r>
            <a:r>
              <a:rPr dirty="0" err="1"/>
              <a:t>Механика</a:t>
            </a:r>
            <a:r>
              <a:rPr dirty="0"/>
              <a:t> prompt-</a:t>
            </a:r>
            <a:r>
              <a:rPr dirty="0" err="1"/>
              <a:t>подхода</a:t>
            </a:r>
            <a:r>
              <a:rPr dirty="0"/>
              <a:t> </a:t>
            </a:r>
            <a:r>
              <a:rPr dirty="0" err="1"/>
              <a:t>проста</a:t>
            </a:r>
            <a:r>
              <a:rPr dirty="0"/>
              <a:t>: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задает</a:t>
            </a:r>
            <a:r>
              <a:rPr dirty="0"/>
              <a:t> </a:t>
            </a:r>
            <a:r>
              <a:rPr dirty="0" err="1"/>
              <a:t>контекст</a:t>
            </a:r>
            <a:r>
              <a:rPr dirty="0"/>
              <a:t>, </a:t>
            </a:r>
            <a:r>
              <a:rPr dirty="0" err="1"/>
              <a:t>цель</a:t>
            </a:r>
            <a:r>
              <a:rPr dirty="0"/>
              <a:t>, </a:t>
            </a:r>
            <a:r>
              <a:rPr dirty="0" err="1"/>
              <a:t>ограничения</a:t>
            </a:r>
            <a:r>
              <a:rPr dirty="0"/>
              <a:t> и </a:t>
            </a:r>
            <a:r>
              <a:rPr dirty="0" err="1"/>
              <a:t>формат</a:t>
            </a:r>
            <a:r>
              <a:rPr dirty="0"/>
              <a:t> </a:t>
            </a:r>
            <a:r>
              <a:rPr dirty="0" err="1"/>
              <a:t>ответа</a:t>
            </a:r>
            <a:r>
              <a:rPr dirty="0"/>
              <a:t>. </a:t>
            </a:r>
            <a:r>
              <a:rPr dirty="0" err="1"/>
              <a:t>Качество</a:t>
            </a:r>
            <a:r>
              <a:rPr dirty="0"/>
              <a:t> </a:t>
            </a:r>
            <a:r>
              <a:rPr dirty="0" err="1"/>
              <a:t>растет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запрос</a:t>
            </a:r>
            <a:r>
              <a:rPr dirty="0"/>
              <a:t> </a:t>
            </a:r>
            <a:r>
              <a:rPr dirty="0" err="1"/>
              <a:t>структурирован</a:t>
            </a:r>
            <a:r>
              <a:rPr dirty="0"/>
              <a:t>: </a:t>
            </a:r>
            <a:r>
              <a:rPr dirty="0" err="1"/>
              <a:t>роль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, </a:t>
            </a:r>
            <a:r>
              <a:rPr dirty="0" err="1"/>
              <a:t>входные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, </a:t>
            </a:r>
            <a:r>
              <a:rPr dirty="0" err="1"/>
              <a:t>критерии</a:t>
            </a:r>
            <a:r>
              <a:rPr dirty="0"/>
              <a:t> </a:t>
            </a:r>
            <a:r>
              <a:rPr dirty="0" err="1"/>
              <a:t>успеха</a:t>
            </a:r>
            <a:r>
              <a:rPr dirty="0"/>
              <a:t>, </a:t>
            </a:r>
            <a:r>
              <a:rPr dirty="0" err="1"/>
              <a:t>формат</a:t>
            </a:r>
            <a:r>
              <a:rPr dirty="0"/>
              <a:t> и </a:t>
            </a:r>
            <a:r>
              <a:rPr dirty="0" err="1"/>
              <a:t>ограничения</a:t>
            </a:r>
            <a:r>
              <a:rPr dirty="0"/>
              <a:t>.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одном</a:t>
            </a:r>
            <a:r>
              <a:rPr dirty="0"/>
              <a:t> </a:t>
            </a:r>
            <a:r>
              <a:rPr dirty="0" err="1"/>
              <a:t>кейсе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выглядит</a:t>
            </a:r>
            <a:r>
              <a:rPr dirty="0"/>
              <a:t> </a:t>
            </a:r>
            <a:r>
              <a:rPr dirty="0" err="1"/>
              <a:t>так</a:t>
            </a:r>
            <a:r>
              <a:rPr dirty="0"/>
              <a:t>: </a:t>
            </a: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запрос</a:t>
            </a:r>
            <a:r>
              <a:rPr dirty="0"/>
              <a:t> "</a:t>
            </a:r>
            <a:r>
              <a:rPr dirty="0" err="1"/>
              <a:t>Напиши</a:t>
            </a:r>
            <a:r>
              <a:rPr dirty="0"/>
              <a:t> </a:t>
            </a:r>
            <a:r>
              <a:rPr dirty="0" err="1"/>
              <a:t>письмо</a:t>
            </a:r>
            <a:r>
              <a:rPr dirty="0"/>
              <a:t> </a:t>
            </a:r>
            <a:r>
              <a:rPr dirty="0" err="1"/>
              <a:t>клиенту</a:t>
            </a:r>
            <a:r>
              <a:rPr dirty="0"/>
              <a:t> о </a:t>
            </a:r>
            <a:r>
              <a:rPr dirty="0" err="1"/>
              <a:t>задержке</a:t>
            </a:r>
            <a:r>
              <a:rPr dirty="0"/>
              <a:t>",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улучшенный</a:t>
            </a:r>
            <a:r>
              <a:rPr dirty="0"/>
              <a:t> </a:t>
            </a:r>
            <a:r>
              <a:rPr dirty="0" err="1"/>
              <a:t>вариант</a:t>
            </a:r>
            <a:r>
              <a:rPr dirty="0"/>
              <a:t> "</a:t>
            </a:r>
            <a:r>
              <a:rPr dirty="0" err="1"/>
              <a:t>Ты</a:t>
            </a:r>
            <a:r>
              <a:rPr dirty="0"/>
              <a:t> </a:t>
            </a:r>
            <a:r>
              <a:rPr dirty="0" err="1"/>
              <a:t>специалист</a:t>
            </a:r>
            <a:r>
              <a:rPr dirty="0"/>
              <a:t> </a:t>
            </a:r>
            <a:r>
              <a:rPr dirty="0" err="1"/>
              <a:t>поддержки</a:t>
            </a:r>
            <a:r>
              <a:rPr dirty="0"/>
              <a:t>. </a:t>
            </a:r>
            <a:r>
              <a:rPr dirty="0" err="1"/>
              <a:t>Напиши</a:t>
            </a:r>
            <a:r>
              <a:rPr dirty="0"/>
              <a:t> </a:t>
            </a:r>
            <a:r>
              <a:rPr dirty="0" err="1"/>
              <a:t>короткое</a:t>
            </a:r>
            <a:r>
              <a:rPr dirty="0"/>
              <a:t> </a:t>
            </a:r>
            <a:r>
              <a:rPr dirty="0" err="1"/>
              <a:t>вежливое</a:t>
            </a:r>
            <a:r>
              <a:rPr dirty="0"/>
              <a:t> </a:t>
            </a:r>
            <a:r>
              <a:rPr dirty="0" err="1"/>
              <a:t>письмо</a:t>
            </a:r>
            <a:r>
              <a:rPr dirty="0"/>
              <a:t> о </a:t>
            </a:r>
            <a:r>
              <a:rPr dirty="0" err="1"/>
              <a:t>задержке</a:t>
            </a:r>
            <a:r>
              <a:rPr dirty="0"/>
              <a:t> </a:t>
            </a:r>
            <a:r>
              <a:rPr dirty="0" err="1"/>
              <a:t>заказа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2 </a:t>
            </a:r>
            <a:r>
              <a:rPr dirty="0" err="1"/>
              <a:t>дня</a:t>
            </a:r>
            <a:r>
              <a:rPr dirty="0"/>
              <a:t>, </a:t>
            </a:r>
            <a:r>
              <a:rPr dirty="0" err="1"/>
              <a:t>укажи</a:t>
            </a:r>
            <a:r>
              <a:rPr dirty="0"/>
              <a:t> </a:t>
            </a:r>
            <a:r>
              <a:rPr dirty="0" err="1"/>
              <a:t>новую</a:t>
            </a:r>
            <a:r>
              <a:rPr dirty="0"/>
              <a:t> </a:t>
            </a:r>
            <a:r>
              <a:rPr dirty="0" err="1"/>
              <a:t>дату</a:t>
            </a:r>
            <a:r>
              <a:rPr dirty="0"/>
              <a:t> и </a:t>
            </a:r>
            <a:r>
              <a:rPr dirty="0" err="1"/>
              <a:t>компенсацию</a:t>
            </a:r>
            <a:r>
              <a:rPr dirty="0"/>
              <a:t>", а </a:t>
            </a:r>
            <a:r>
              <a:rPr dirty="0" err="1"/>
              <a:t>затем</a:t>
            </a:r>
            <a:r>
              <a:rPr dirty="0"/>
              <a:t> few-shot с </a:t>
            </a:r>
            <a:r>
              <a:rPr dirty="0" err="1"/>
              <a:t>одним</a:t>
            </a:r>
            <a:r>
              <a:rPr dirty="0"/>
              <a:t> </a:t>
            </a:r>
            <a:r>
              <a:rPr dirty="0" err="1"/>
              <a:t>удачным</a:t>
            </a:r>
            <a:r>
              <a:rPr dirty="0"/>
              <a:t> </a:t>
            </a:r>
            <a:r>
              <a:rPr dirty="0" err="1"/>
              <a:t>образцом</a:t>
            </a:r>
            <a:r>
              <a:rPr dirty="0"/>
              <a:t> </a:t>
            </a:r>
            <a:r>
              <a:rPr dirty="0" err="1"/>
              <a:t>ответа</a:t>
            </a:r>
            <a:r>
              <a:rPr dirty="0"/>
              <a:t>.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демонстрирует</a:t>
            </a:r>
            <a:r>
              <a:rPr dirty="0"/>
              <a:t>,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значительно</a:t>
            </a:r>
            <a:r>
              <a:rPr dirty="0"/>
              <a:t> </a:t>
            </a:r>
            <a:r>
              <a:rPr dirty="0" err="1"/>
              <a:t>улучшить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. В </a:t>
            </a:r>
            <a:r>
              <a:rPr dirty="0" err="1"/>
              <a:t>рабочих</a:t>
            </a:r>
            <a:r>
              <a:rPr dirty="0"/>
              <a:t> </a:t>
            </a:r>
            <a:r>
              <a:rPr dirty="0" err="1"/>
              <a:t>процессах</a:t>
            </a:r>
            <a:r>
              <a:rPr dirty="0"/>
              <a:t> prompts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играют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 </a:t>
            </a:r>
            <a:r>
              <a:rPr dirty="0" err="1"/>
              <a:t>быстрого</a:t>
            </a:r>
            <a:r>
              <a:rPr dirty="0"/>
              <a:t> pre-stage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черновиков</a:t>
            </a:r>
            <a:r>
              <a:rPr dirty="0"/>
              <a:t> и </a:t>
            </a:r>
            <a:r>
              <a:rPr dirty="0" err="1"/>
              <a:t>гипотез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Практический</a:t>
            </a:r>
            <a:r>
              <a:rPr dirty="0"/>
              <a:t> </a:t>
            </a: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Специалист</a:t>
            </a:r>
            <a:r>
              <a:rPr dirty="0"/>
              <a:t> </a:t>
            </a:r>
            <a:r>
              <a:rPr dirty="0" err="1"/>
              <a:t>поддержки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минуту</a:t>
            </a:r>
            <a:r>
              <a:rPr dirty="0"/>
              <a:t> </a:t>
            </a:r>
            <a:r>
              <a:rPr dirty="0" err="1"/>
              <a:t>получает</a:t>
            </a:r>
            <a:r>
              <a:rPr dirty="0"/>
              <a:t> draft </a:t>
            </a:r>
            <a:r>
              <a:rPr dirty="0" err="1"/>
              <a:t>ответа</a:t>
            </a:r>
            <a:r>
              <a:rPr dirty="0"/>
              <a:t> </a:t>
            </a:r>
            <a:r>
              <a:rPr dirty="0" err="1"/>
              <a:t>клиенту</a:t>
            </a:r>
            <a:r>
              <a:rPr dirty="0"/>
              <a:t> о </a:t>
            </a:r>
            <a:r>
              <a:rPr dirty="0" err="1"/>
              <a:t>задержке</a:t>
            </a:r>
            <a:r>
              <a:rPr dirty="0"/>
              <a:t> </a:t>
            </a:r>
            <a:r>
              <a:rPr dirty="0" err="1"/>
              <a:t>поставки</a:t>
            </a:r>
            <a:r>
              <a:rPr dirty="0"/>
              <a:t> и </a:t>
            </a:r>
            <a:r>
              <a:rPr dirty="0" err="1"/>
              <a:t>редактирует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контекст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Ограничения</a:t>
            </a:r>
            <a:r>
              <a:rPr dirty="0"/>
              <a:t>: Prompt-</a:t>
            </a:r>
            <a:r>
              <a:rPr dirty="0" err="1"/>
              <a:t>подход</a:t>
            </a:r>
            <a:r>
              <a:rPr dirty="0"/>
              <a:t> </a:t>
            </a:r>
            <a:r>
              <a:rPr dirty="0" err="1"/>
              <a:t>ограничен</a:t>
            </a:r>
            <a:r>
              <a:rPr dirty="0"/>
              <a:t> в </a:t>
            </a:r>
            <a:r>
              <a:rPr dirty="0" err="1"/>
              <a:t>задачах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нужна</a:t>
            </a:r>
            <a:r>
              <a:rPr dirty="0"/>
              <a:t> </a:t>
            </a:r>
            <a:r>
              <a:rPr dirty="0" err="1"/>
              <a:t>строгая</a:t>
            </a:r>
            <a:r>
              <a:rPr dirty="0"/>
              <a:t> </a:t>
            </a:r>
            <a:r>
              <a:rPr dirty="0" err="1"/>
              <a:t>повторяемость</a:t>
            </a:r>
            <a:r>
              <a:rPr dirty="0"/>
              <a:t>, </a:t>
            </a:r>
            <a:r>
              <a:rPr dirty="0" err="1"/>
              <a:t>аудит</a:t>
            </a:r>
            <a:r>
              <a:rPr dirty="0"/>
              <a:t> и </a:t>
            </a:r>
            <a:r>
              <a:rPr dirty="0" err="1"/>
              <a:t>контроль</a:t>
            </a:r>
            <a:r>
              <a:rPr dirty="0"/>
              <a:t> </a:t>
            </a:r>
            <a:r>
              <a:rPr dirty="0" err="1"/>
              <a:t>политики</a:t>
            </a:r>
            <a:r>
              <a:rPr dirty="0"/>
              <a:t>. </a:t>
            </a:r>
            <a:r>
              <a:rPr dirty="0" err="1"/>
              <a:t>Ответы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нестабильны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запусками</a:t>
            </a:r>
            <a:r>
              <a:rPr dirty="0"/>
              <a:t>. 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встроенного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к </a:t>
            </a:r>
            <a:r>
              <a:rPr dirty="0" err="1"/>
              <a:t>актуальным</a:t>
            </a:r>
            <a:r>
              <a:rPr dirty="0"/>
              <a:t> </a:t>
            </a:r>
            <a:r>
              <a:rPr dirty="0" err="1"/>
              <a:t>внутренним</a:t>
            </a:r>
            <a:r>
              <a:rPr dirty="0"/>
              <a:t> </a:t>
            </a:r>
            <a:r>
              <a:rPr dirty="0" err="1"/>
              <a:t>данным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интеграций</a:t>
            </a:r>
            <a:r>
              <a:rPr dirty="0"/>
              <a:t>. </a:t>
            </a: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масштабировании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большую</a:t>
            </a:r>
            <a:r>
              <a:rPr dirty="0"/>
              <a:t> </a:t>
            </a:r>
            <a:r>
              <a:rPr dirty="0" err="1"/>
              <a:t>команду</a:t>
            </a:r>
            <a:r>
              <a:rPr dirty="0"/>
              <a:t> </a:t>
            </a:r>
            <a:r>
              <a:rPr dirty="0" err="1"/>
              <a:t>качество</a:t>
            </a:r>
            <a:r>
              <a:rPr dirty="0"/>
              <a:t> </a:t>
            </a:r>
            <a:r>
              <a:rPr dirty="0" err="1"/>
              <a:t>сильно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индивидуального</a:t>
            </a:r>
            <a:r>
              <a:rPr dirty="0"/>
              <a:t> </a:t>
            </a:r>
            <a:r>
              <a:rPr dirty="0" err="1"/>
              <a:t>уровня</a:t>
            </a:r>
            <a:r>
              <a:rPr dirty="0"/>
              <a:t> prompt-</a:t>
            </a:r>
            <a:r>
              <a:rPr dirty="0" err="1"/>
              <a:t>инженерии</a:t>
            </a:r>
            <a:r>
              <a:rPr dirty="0"/>
              <a:t> </a:t>
            </a:r>
            <a:r>
              <a:rPr dirty="0" err="1"/>
              <a:t>сотрудников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Вывод</a:t>
            </a:r>
            <a:r>
              <a:rPr dirty="0"/>
              <a:t>: Prompts </a:t>
            </a:r>
            <a:r>
              <a:rPr dirty="0" err="1"/>
              <a:t>эффективны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быстрый</a:t>
            </a:r>
            <a:r>
              <a:rPr dirty="0"/>
              <a:t> </a:t>
            </a:r>
            <a:r>
              <a:rPr dirty="0" err="1"/>
              <a:t>старт</a:t>
            </a:r>
            <a:r>
              <a:rPr dirty="0"/>
              <a:t> и </a:t>
            </a:r>
            <a:r>
              <a:rPr dirty="0" err="1"/>
              <a:t>слой</a:t>
            </a:r>
            <a:r>
              <a:rPr dirty="0"/>
              <a:t> </a:t>
            </a:r>
            <a:r>
              <a:rPr dirty="0" err="1"/>
              <a:t>прототипирования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редко</a:t>
            </a:r>
            <a:r>
              <a:rPr dirty="0"/>
              <a:t> </a:t>
            </a:r>
            <a:r>
              <a:rPr dirty="0" err="1"/>
              <a:t>достаточны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производственной</a:t>
            </a:r>
            <a:r>
              <a:rPr dirty="0"/>
              <a:t> </a:t>
            </a:r>
            <a:r>
              <a:rPr dirty="0" err="1"/>
              <a:t>эксплуатации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Термины</a:t>
            </a:r>
            <a:r>
              <a:rPr dirty="0"/>
              <a:t>: Instructions — </a:t>
            </a:r>
            <a:r>
              <a:rPr dirty="0" err="1"/>
              <a:t>системные</a:t>
            </a:r>
            <a:r>
              <a:rPr dirty="0"/>
              <a:t> </a:t>
            </a:r>
            <a:r>
              <a:rPr dirty="0" err="1"/>
              <a:t>правила</a:t>
            </a:r>
            <a:r>
              <a:rPr dirty="0"/>
              <a:t>, </a:t>
            </a:r>
            <a:r>
              <a:rPr dirty="0" err="1"/>
              <a:t>действующие</a:t>
            </a:r>
            <a:r>
              <a:rPr dirty="0"/>
              <a:t> </a:t>
            </a:r>
            <a:r>
              <a:rPr dirty="0" err="1"/>
              <a:t>поверх</a:t>
            </a:r>
            <a:r>
              <a:rPr dirty="0"/>
              <a:t> </a:t>
            </a:r>
            <a:r>
              <a:rPr dirty="0" err="1"/>
              <a:t>пользовательских</a:t>
            </a:r>
            <a:r>
              <a:rPr dirty="0"/>
              <a:t> </a:t>
            </a:r>
            <a:r>
              <a:rPr dirty="0" err="1"/>
              <a:t>запросов</a:t>
            </a:r>
            <a:r>
              <a:rPr dirty="0"/>
              <a:t>. Guardrails — </a:t>
            </a:r>
            <a:r>
              <a:rPr dirty="0" err="1"/>
              <a:t>защитные</a:t>
            </a:r>
            <a:r>
              <a:rPr dirty="0"/>
              <a:t> </a:t>
            </a:r>
            <a:r>
              <a:rPr dirty="0" err="1"/>
              <a:t>ограничения</a:t>
            </a:r>
            <a:r>
              <a:rPr dirty="0"/>
              <a:t> </a:t>
            </a:r>
            <a:r>
              <a:rPr dirty="0" err="1"/>
              <a:t>поведения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Механика</a:t>
            </a:r>
            <a:r>
              <a:rPr dirty="0"/>
              <a:t>: </a:t>
            </a:r>
            <a:r>
              <a:rPr dirty="0" err="1"/>
              <a:t>Механика</a:t>
            </a:r>
            <a:r>
              <a:rPr dirty="0"/>
              <a:t> instructions —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централизованный</a:t>
            </a:r>
            <a:r>
              <a:rPr dirty="0"/>
              <a:t> </a:t>
            </a:r>
            <a:r>
              <a:rPr dirty="0" err="1"/>
              <a:t>слой</a:t>
            </a:r>
            <a:r>
              <a:rPr dirty="0"/>
              <a:t> </a:t>
            </a:r>
            <a:r>
              <a:rPr dirty="0" err="1"/>
              <a:t>политики</a:t>
            </a:r>
            <a:r>
              <a:rPr dirty="0"/>
              <a:t>. </a:t>
            </a:r>
            <a:r>
              <a:rPr dirty="0" err="1"/>
              <a:t>Здесь</a:t>
            </a:r>
            <a:r>
              <a:rPr dirty="0"/>
              <a:t> </a:t>
            </a:r>
            <a:r>
              <a:rPr dirty="0" err="1"/>
              <a:t>задаются</a:t>
            </a:r>
            <a:r>
              <a:rPr dirty="0"/>
              <a:t> </a:t>
            </a:r>
            <a:r>
              <a:rPr dirty="0" err="1"/>
              <a:t>обязательный</a:t>
            </a:r>
            <a:r>
              <a:rPr dirty="0"/>
              <a:t> </a:t>
            </a:r>
            <a:r>
              <a:rPr dirty="0" err="1"/>
              <a:t>тон</a:t>
            </a:r>
            <a:r>
              <a:rPr dirty="0"/>
              <a:t>, </a:t>
            </a:r>
            <a:r>
              <a:rPr dirty="0" err="1"/>
              <a:t>формат</a:t>
            </a:r>
            <a:r>
              <a:rPr dirty="0"/>
              <a:t> </a:t>
            </a:r>
            <a:r>
              <a:rPr dirty="0" err="1"/>
              <a:t>ответа</a:t>
            </a:r>
            <a:r>
              <a:rPr dirty="0"/>
              <a:t>, </a:t>
            </a:r>
            <a:r>
              <a:rPr dirty="0" err="1"/>
              <a:t>запреты</a:t>
            </a:r>
            <a:r>
              <a:rPr dirty="0"/>
              <a:t>, </a:t>
            </a:r>
            <a:r>
              <a:rPr dirty="0" err="1"/>
              <a:t>обработка</a:t>
            </a:r>
            <a:r>
              <a:rPr dirty="0"/>
              <a:t> </a:t>
            </a:r>
            <a:r>
              <a:rPr dirty="0" err="1"/>
              <a:t>чувствительных</a:t>
            </a:r>
            <a:r>
              <a:rPr dirty="0"/>
              <a:t> </a:t>
            </a:r>
            <a:r>
              <a:rPr dirty="0" err="1"/>
              <a:t>тем</a:t>
            </a:r>
            <a:r>
              <a:rPr dirty="0"/>
              <a:t> и </a:t>
            </a:r>
            <a:r>
              <a:rPr dirty="0" err="1"/>
              <a:t>правила</a:t>
            </a:r>
            <a:r>
              <a:rPr dirty="0"/>
              <a:t> </a:t>
            </a:r>
            <a:r>
              <a:rPr dirty="0" err="1"/>
              <a:t>безопасности</a:t>
            </a:r>
            <a:r>
              <a:rPr dirty="0"/>
              <a:t>. </a:t>
            </a:r>
            <a:r>
              <a:rPr dirty="0" err="1"/>
              <a:t>Практически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снижает</a:t>
            </a:r>
            <a:r>
              <a:rPr dirty="0"/>
              <a:t> </a:t>
            </a:r>
            <a:r>
              <a:rPr dirty="0" err="1"/>
              <a:t>разброс</a:t>
            </a:r>
            <a:r>
              <a:rPr dirty="0"/>
              <a:t> </a:t>
            </a:r>
            <a:r>
              <a:rPr dirty="0" err="1"/>
              <a:t>качества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сотрудниками</a:t>
            </a:r>
            <a:r>
              <a:rPr dirty="0"/>
              <a:t> и </a:t>
            </a:r>
            <a:r>
              <a:rPr dirty="0" err="1"/>
              <a:t>делает</a:t>
            </a:r>
            <a:r>
              <a:rPr dirty="0"/>
              <a:t> </a:t>
            </a:r>
            <a:r>
              <a:rPr dirty="0" err="1"/>
              <a:t>поведение</a:t>
            </a:r>
            <a:r>
              <a:rPr dirty="0"/>
              <a:t> </a:t>
            </a:r>
            <a:r>
              <a:rPr dirty="0" err="1"/>
              <a:t>ассистента</a:t>
            </a:r>
            <a:r>
              <a:rPr dirty="0"/>
              <a:t> </a:t>
            </a:r>
            <a:r>
              <a:rPr dirty="0" err="1"/>
              <a:t>предсказуемым</a:t>
            </a:r>
            <a:r>
              <a:rPr dirty="0"/>
              <a:t>. Наглядный </a:t>
            </a: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один</a:t>
            </a:r>
            <a:r>
              <a:rPr dirty="0"/>
              <a:t> и </a:t>
            </a:r>
            <a:r>
              <a:rPr dirty="0" err="1"/>
              <a:t>тот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запрос</a:t>
            </a:r>
            <a:r>
              <a:rPr dirty="0"/>
              <a:t> "</a:t>
            </a:r>
            <a:r>
              <a:rPr dirty="0" err="1"/>
              <a:t>Ответь</a:t>
            </a:r>
            <a:r>
              <a:rPr dirty="0"/>
              <a:t> </a:t>
            </a:r>
            <a:r>
              <a:rPr dirty="0" err="1"/>
              <a:t>клиенту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заказу</a:t>
            </a:r>
            <a:r>
              <a:rPr dirty="0"/>
              <a:t>" </a:t>
            </a:r>
            <a:r>
              <a:rPr dirty="0" err="1"/>
              <a:t>без</a:t>
            </a:r>
            <a:r>
              <a:rPr dirty="0"/>
              <a:t> instructions </a:t>
            </a:r>
            <a:r>
              <a:rPr dirty="0" err="1"/>
              <a:t>дает</a:t>
            </a:r>
            <a:r>
              <a:rPr dirty="0"/>
              <a:t> </a:t>
            </a:r>
            <a:r>
              <a:rPr dirty="0" err="1"/>
              <a:t>произвольный</a:t>
            </a:r>
            <a:r>
              <a:rPr dirty="0"/>
              <a:t> </a:t>
            </a:r>
            <a:r>
              <a:rPr dirty="0" err="1"/>
              <a:t>стиль</a:t>
            </a:r>
            <a:r>
              <a:rPr dirty="0"/>
              <a:t>, а с </a:t>
            </a:r>
            <a:r>
              <a:rPr dirty="0" err="1"/>
              <a:t>правилами</a:t>
            </a:r>
            <a:r>
              <a:rPr dirty="0"/>
              <a:t> "</a:t>
            </a:r>
            <a:r>
              <a:rPr dirty="0" err="1"/>
              <a:t>отвечай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русском</a:t>
            </a:r>
            <a:r>
              <a:rPr dirty="0"/>
              <a:t>,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используй</a:t>
            </a:r>
            <a:r>
              <a:rPr dirty="0"/>
              <a:t> </a:t>
            </a:r>
            <a:r>
              <a:rPr dirty="0" err="1"/>
              <a:t>жаргон</a:t>
            </a:r>
            <a:r>
              <a:rPr dirty="0"/>
              <a:t>,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придумывай</a:t>
            </a:r>
            <a:r>
              <a:rPr dirty="0"/>
              <a:t> </a:t>
            </a:r>
            <a:r>
              <a:rPr dirty="0" err="1"/>
              <a:t>статус</a:t>
            </a:r>
            <a:r>
              <a:rPr dirty="0"/>
              <a:t> </a:t>
            </a:r>
            <a:r>
              <a:rPr dirty="0" err="1"/>
              <a:t>заказа</a:t>
            </a:r>
            <a:r>
              <a:rPr dirty="0"/>
              <a:t>, в </a:t>
            </a:r>
            <a:r>
              <a:rPr dirty="0" err="1"/>
              <a:t>конце</a:t>
            </a:r>
            <a:r>
              <a:rPr dirty="0"/>
              <a:t> </a:t>
            </a:r>
            <a:r>
              <a:rPr dirty="0" err="1"/>
              <a:t>добавляй</a:t>
            </a:r>
            <a:r>
              <a:rPr dirty="0"/>
              <a:t> </a:t>
            </a:r>
            <a:r>
              <a:rPr dirty="0" err="1"/>
              <a:t>блок</a:t>
            </a:r>
            <a:r>
              <a:rPr dirty="0"/>
              <a:t> </a:t>
            </a:r>
            <a:r>
              <a:rPr dirty="0" err="1"/>
              <a:t>Следующий</a:t>
            </a:r>
            <a:r>
              <a:rPr dirty="0"/>
              <a:t> </a:t>
            </a:r>
            <a:r>
              <a:rPr dirty="0" err="1"/>
              <a:t>шаг</a:t>
            </a:r>
            <a:r>
              <a:rPr dirty="0"/>
              <a:t>" </a:t>
            </a:r>
            <a:r>
              <a:rPr dirty="0" err="1"/>
              <a:t>превращается</a:t>
            </a:r>
            <a:r>
              <a:rPr dirty="0"/>
              <a:t> в </a:t>
            </a:r>
            <a:r>
              <a:rPr dirty="0" err="1"/>
              <a:t>стабильный</a:t>
            </a:r>
            <a:r>
              <a:rPr dirty="0"/>
              <a:t> </a:t>
            </a:r>
            <a:r>
              <a:rPr dirty="0" err="1"/>
              <a:t>корпоративный</a:t>
            </a:r>
            <a:r>
              <a:rPr dirty="0"/>
              <a:t> </a:t>
            </a:r>
            <a:r>
              <a:rPr dirty="0" err="1"/>
              <a:t>ответ</a:t>
            </a:r>
            <a:r>
              <a:rPr dirty="0"/>
              <a:t>. </a:t>
            </a:r>
            <a:r>
              <a:rPr lang="ru-RU" dirty="0"/>
              <a:t>Критично</a:t>
            </a:r>
            <a:r>
              <a:rPr lang="en-US" dirty="0"/>
              <a:t>. I</a:t>
            </a:r>
            <a:r>
              <a:rPr dirty="0"/>
              <a:t>nstructions —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разовая</a:t>
            </a:r>
            <a:r>
              <a:rPr dirty="0"/>
              <a:t> </a:t>
            </a:r>
            <a:r>
              <a:rPr dirty="0" err="1"/>
              <a:t>настройка</a:t>
            </a:r>
            <a:r>
              <a:rPr dirty="0"/>
              <a:t>, а </a:t>
            </a:r>
            <a:r>
              <a:rPr dirty="0" err="1"/>
              <a:t>управляемый</a:t>
            </a:r>
            <a:r>
              <a:rPr dirty="0"/>
              <a:t> </a:t>
            </a:r>
            <a:r>
              <a:rPr dirty="0" err="1"/>
              <a:t>артефакт</a:t>
            </a:r>
            <a:r>
              <a:rPr dirty="0"/>
              <a:t> с </a:t>
            </a:r>
            <a:r>
              <a:rPr dirty="0" err="1"/>
              <a:t>версионированием</a:t>
            </a:r>
            <a:r>
              <a:rPr dirty="0"/>
              <a:t> и </a:t>
            </a:r>
            <a:r>
              <a:rPr dirty="0" err="1"/>
              <a:t>регулярным</a:t>
            </a:r>
            <a:r>
              <a:rPr dirty="0"/>
              <a:t> review.</a:t>
            </a:r>
          </a:p>
          <a:p>
            <a:endParaRPr dirty="0"/>
          </a:p>
          <a:p>
            <a:r>
              <a:rPr dirty="0" err="1"/>
              <a:t>Практический</a:t>
            </a:r>
            <a:r>
              <a:rPr dirty="0"/>
              <a:t> </a:t>
            </a: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Внутренний</a:t>
            </a:r>
            <a:r>
              <a:rPr dirty="0"/>
              <a:t> </a:t>
            </a:r>
            <a:r>
              <a:rPr dirty="0" err="1"/>
              <a:t>ассистент</a:t>
            </a:r>
            <a:r>
              <a:rPr dirty="0"/>
              <a:t> HR </a:t>
            </a:r>
            <a:r>
              <a:rPr dirty="0" err="1"/>
              <a:t>всегда</a:t>
            </a:r>
            <a:r>
              <a:rPr dirty="0"/>
              <a:t> </a:t>
            </a:r>
            <a:r>
              <a:rPr dirty="0" err="1"/>
              <a:t>отвечает</a:t>
            </a:r>
            <a:r>
              <a:rPr dirty="0"/>
              <a:t> </a:t>
            </a:r>
            <a:r>
              <a:rPr dirty="0" err="1"/>
              <a:t>официально</a:t>
            </a:r>
            <a:r>
              <a:rPr dirty="0"/>
              <a:t>,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раскрывает</a:t>
            </a:r>
            <a:r>
              <a:rPr dirty="0"/>
              <a:t> PII и в </a:t>
            </a:r>
            <a:r>
              <a:rPr dirty="0" err="1"/>
              <a:t>спорных</a:t>
            </a:r>
            <a:r>
              <a:rPr dirty="0"/>
              <a:t> </a:t>
            </a:r>
            <a:r>
              <a:rPr dirty="0" err="1"/>
              <a:t>вопросах</a:t>
            </a:r>
            <a:r>
              <a:rPr dirty="0"/>
              <a:t> </a:t>
            </a:r>
            <a:r>
              <a:rPr dirty="0" err="1"/>
              <a:t>отправляет</a:t>
            </a:r>
            <a:r>
              <a:rPr dirty="0"/>
              <a:t> к </a:t>
            </a:r>
            <a:r>
              <a:rPr dirty="0" err="1"/>
              <a:t>утвержденной</a:t>
            </a:r>
            <a:r>
              <a:rPr dirty="0"/>
              <a:t> </a:t>
            </a:r>
            <a:r>
              <a:rPr dirty="0" err="1"/>
              <a:t>политике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Ограничения</a:t>
            </a:r>
            <a:r>
              <a:rPr dirty="0"/>
              <a:t>: </a:t>
            </a:r>
            <a:r>
              <a:rPr dirty="0" err="1"/>
              <a:t>Инструкции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дают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к live-</a:t>
            </a:r>
            <a:r>
              <a:rPr dirty="0" err="1"/>
              <a:t>данным</a:t>
            </a:r>
            <a:r>
              <a:rPr dirty="0"/>
              <a:t> и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заменяют</a:t>
            </a:r>
            <a:r>
              <a:rPr dirty="0"/>
              <a:t> </a:t>
            </a:r>
            <a:r>
              <a:rPr dirty="0" err="1"/>
              <a:t>интеграции</a:t>
            </a:r>
            <a:r>
              <a:rPr dirty="0"/>
              <a:t>. </a:t>
            </a:r>
            <a:r>
              <a:rPr dirty="0" err="1"/>
              <a:t>Слишком</a:t>
            </a:r>
            <a:r>
              <a:rPr dirty="0"/>
              <a:t> </a:t>
            </a:r>
            <a:r>
              <a:rPr dirty="0" err="1"/>
              <a:t>жесткие</a:t>
            </a:r>
            <a:r>
              <a:rPr dirty="0"/>
              <a:t> </a:t>
            </a:r>
            <a:r>
              <a:rPr dirty="0" err="1"/>
              <a:t>правила</a:t>
            </a:r>
            <a:r>
              <a:rPr dirty="0"/>
              <a:t> </a:t>
            </a:r>
            <a:r>
              <a:rPr dirty="0" err="1"/>
              <a:t>снижают</a:t>
            </a:r>
            <a:r>
              <a:rPr dirty="0"/>
              <a:t> </a:t>
            </a:r>
            <a:r>
              <a:rPr dirty="0" err="1"/>
              <a:t>полезность</a:t>
            </a:r>
            <a:r>
              <a:rPr dirty="0"/>
              <a:t> и </a:t>
            </a:r>
            <a:r>
              <a:rPr dirty="0" err="1"/>
              <a:t>вариативность</a:t>
            </a:r>
            <a:r>
              <a:rPr dirty="0"/>
              <a:t> </a:t>
            </a:r>
            <a:r>
              <a:rPr dirty="0" err="1"/>
              <a:t>ответа</a:t>
            </a:r>
            <a:r>
              <a:rPr dirty="0"/>
              <a:t>, </a:t>
            </a:r>
            <a:r>
              <a:rPr dirty="0" err="1"/>
              <a:t>слишком</a:t>
            </a:r>
            <a:r>
              <a:rPr dirty="0"/>
              <a:t> </a:t>
            </a:r>
            <a:r>
              <a:rPr dirty="0" err="1"/>
              <a:t>мягкие</a:t>
            </a:r>
            <a:r>
              <a:rPr dirty="0"/>
              <a:t> </a:t>
            </a:r>
            <a:r>
              <a:rPr dirty="0" err="1"/>
              <a:t>возвращают</a:t>
            </a:r>
            <a:r>
              <a:rPr dirty="0"/>
              <a:t> </a:t>
            </a:r>
            <a:r>
              <a:rPr dirty="0" err="1"/>
              <a:t>хаос</a:t>
            </a:r>
            <a:r>
              <a:rPr dirty="0"/>
              <a:t>.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множестве</a:t>
            </a:r>
            <a:r>
              <a:rPr dirty="0"/>
              <a:t> </a:t>
            </a:r>
            <a:r>
              <a:rPr dirty="0" err="1"/>
              <a:t>конфликтующих</a:t>
            </a:r>
            <a:r>
              <a:rPr dirty="0"/>
              <a:t> </a:t>
            </a:r>
            <a:r>
              <a:rPr dirty="0" err="1"/>
              <a:t>правил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приоритетов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начинает</a:t>
            </a:r>
            <a:r>
              <a:rPr dirty="0"/>
              <a:t> </a:t>
            </a:r>
            <a:r>
              <a:rPr dirty="0" err="1"/>
              <a:t>вести</a:t>
            </a:r>
            <a:r>
              <a:rPr dirty="0"/>
              <a:t> </a:t>
            </a:r>
            <a:r>
              <a:rPr dirty="0" err="1"/>
              <a:t>себя</a:t>
            </a:r>
            <a:r>
              <a:rPr dirty="0"/>
              <a:t> </a:t>
            </a:r>
            <a:r>
              <a:rPr dirty="0" err="1"/>
              <a:t>непоследовательно</a:t>
            </a:r>
            <a:r>
              <a:rPr dirty="0"/>
              <a:t>. </a:t>
            </a:r>
            <a:r>
              <a:rPr dirty="0" err="1"/>
              <a:t>Дополнительно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риск</a:t>
            </a:r>
            <a:r>
              <a:rPr dirty="0"/>
              <a:t> </a:t>
            </a:r>
            <a:r>
              <a:rPr dirty="0" err="1"/>
              <a:t>устаревания</a:t>
            </a:r>
            <a:r>
              <a:rPr dirty="0"/>
              <a:t> </a:t>
            </a:r>
            <a:r>
              <a:rPr dirty="0" err="1"/>
              <a:t>политики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владельца</a:t>
            </a:r>
            <a:r>
              <a:rPr dirty="0"/>
              <a:t> и </a:t>
            </a:r>
            <a:r>
              <a:rPr dirty="0" err="1"/>
              <a:t>процесса</a:t>
            </a:r>
            <a:r>
              <a:rPr dirty="0"/>
              <a:t> </a:t>
            </a:r>
            <a:r>
              <a:rPr dirty="0" err="1"/>
              <a:t>актуализации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Вывод</a:t>
            </a:r>
            <a:r>
              <a:rPr dirty="0"/>
              <a:t>: Instructions </a:t>
            </a:r>
            <a:r>
              <a:rPr dirty="0" err="1"/>
              <a:t>дают</a:t>
            </a:r>
            <a:r>
              <a:rPr dirty="0"/>
              <a:t> </a:t>
            </a:r>
            <a:r>
              <a:rPr dirty="0" err="1"/>
              <a:t>стабильность</a:t>
            </a:r>
            <a:r>
              <a:rPr dirty="0"/>
              <a:t> </a:t>
            </a:r>
            <a:r>
              <a:rPr dirty="0" err="1"/>
              <a:t>поведения</a:t>
            </a:r>
            <a:r>
              <a:rPr dirty="0"/>
              <a:t> и </a:t>
            </a:r>
            <a:r>
              <a:rPr dirty="0" err="1"/>
              <a:t>базовый</a:t>
            </a:r>
            <a:r>
              <a:rPr dirty="0"/>
              <a:t> </a:t>
            </a:r>
            <a:r>
              <a:rPr dirty="0" err="1"/>
              <a:t>слой</a:t>
            </a:r>
            <a:r>
              <a:rPr dirty="0"/>
              <a:t> </a:t>
            </a:r>
            <a:r>
              <a:rPr dirty="0" err="1"/>
              <a:t>контроля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прикладной</a:t>
            </a:r>
            <a:r>
              <a:rPr dirty="0"/>
              <a:t> </a:t>
            </a:r>
            <a:r>
              <a:rPr dirty="0" err="1"/>
              <a:t>ценности</a:t>
            </a:r>
            <a:r>
              <a:rPr dirty="0"/>
              <a:t>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сочетать</a:t>
            </a:r>
            <a:r>
              <a:rPr dirty="0"/>
              <a:t> с </a:t>
            </a:r>
            <a:r>
              <a:rPr dirty="0" err="1"/>
              <a:t>данными</a:t>
            </a:r>
            <a:r>
              <a:rPr dirty="0"/>
              <a:t> и </a:t>
            </a:r>
            <a:r>
              <a:rPr dirty="0" err="1"/>
              <a:t>процессами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Термины: Skill — формализованный модуль решения повторяемой задачи. Версионирование — контролируемое обновление поведения.</a:t>
            </a:r>
          </a:p>
          <a:p>
            <a:endParaRPr/>
          </a:p>
          <a:p>
            <a:r>
              <a:t>Механика: Механика skills начинается с выделения повторяемых классов задач. Каждый skill получает четкий контракт: вход, шаги обработки, критерии качества и ожидаемый результат. Затем skills собираются в библиотеку командных компетенций и применяются как строительные блоки в разных процессах. Наглядный пример: команда сначала вручную просит AI сделать code review, затем фиксирует единый формат замечаний по Security, Correctness и Maintainability и оформляет это как отдельный skill, который используют все разработчики. Хорошая практика — назначать владельца навыка и регулярно проверять его актуальность.</a:t>
            </a:r>
          </a:p>
          <a:p>
            <a:endParaRPr/>
          </a:p>
          <a:p>
            <a:r>
              <a:t>Практический пример: В инженерной команде отдельные skills выполняют review diff, анализируют ошибки сборки и генерируют структурированные release notes.</a:t>
            </a:r>
          </a:p>
          <a:p>
            <a:endParaRPr/>
          </a:p>
          <a:p>
            <a:r>
              <a:t>Ограничения: Ключевое ограничение — склонность делать "гигантские" skills с несколькими ролями одновременно, что ломает тестируемость и сопровождение. Без версионирования обновления вызывают неожиданные регрессии в процессах. Без каталога и правил применения пользователи теряют понимание, какой skill выбирать. Ограничение также в поддержке: skills требуют постоянного обслуживания как продуктовые компоненты.</a:t>
            </a:r>
          </a:p>
          <a:p>
            <a:endParaRPr/>
          </a:p>
          <a:p>
            <a:r>
              <a:t>Вывод: Skills масштабируют экспертизу команды, если управляются дисциплинированно и имеют ясные границы ответственности.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Термины</a:t>
            </a:r>
            <a:r>
              <a:rPr dirty="0"/>
              <a:t>: MCP — </a:t>
            </a:r>
            <a:r>
              <a:rPr dirty="0" err="1"/>
              <a:t>протокол</a:t>
            </a:r>
            <a:r>
              <a:rPr dirty="0"/>
              <a:t> </a:t>
            </a:r>
            <a:r>
              <a:rPr dirty="0" err="1"/>
              <a:t>подключения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 к </a:t>
            </a:r>
            <a:r>
              <a:rPr dirty="0" err="1"/>
              <a:t>внешним</a:t>
            </a:r>
            <a:r>
              <a:rPr dirty="0"/>
              <a:t> </a:t>
            </a:r>
            <a:r>
              <a:rPr dirty="0" err="1"/>
              <a:t>инструментам</a:t>
            </a:r>
            <a:r>
              <a:rPr dirty="0"/>
              <a:t>. Least privilege — </a:t>
            </a:r>
            <a:r>
              <a:rPr dirty="0" err="1"/>
              <a:t>минимально</a:t>
            </a:r>
            <a:r>
              <a:rPr dirty="0"/>
              <a:t> </a:t>
            </a:r>
            <a:r>
              <a:rPr dirty="0" err="1"/>
              <a:t>достаточные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Механика</a:t>
            </a:r>
            <a:r>
              <a:rPr dirty="0"/>
              <a:t>: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делает</a:t>
            </a:r>
            <a:r>
              <a:rPr dirty="0"/>
              <a:t> </a:t>
            </a:r>
            <a:r>
              <a:rPr dirty="0" err="1"/>
              <a:t>вызов</a:t>
            </a:r>
            <a:r>
              <a:rPr dirty="0"/>
              <a:t> </a:t>
            </a:r>
            <a:r>
              <a:rPr dirty="0" err="1"/>
              <a:t>инструмента</a:t>
            </a:r>
            <a:r>
              <a:rPr dirty="0"/>
              <a:t>,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фактические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выполняет</a:t>
            </a:r>
            <a:r>
              <a:rPr dirty="0"/>
              <a:t> </a:t>
            </a:r>
            <a:r>
              <a:rPr dirty="0" err="1"/>
              <a:t>разрешенное</a:t>
            </a:r>
            <a:r>
              <a:rPr dirty="0"/>
              <a:t> </a:t>
            </a:r>
            <a:r>
              <a:rPr dirty="0" err="1"/>
              <a:t>действие</a:t>
            </a:r>
            <a:r>
              <a:rPr dirty="0"/>
              <a:t>,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строит</a:t>
            </a:r>
            <a:r>
              <a:rPr dirty="0"/>
              <a:t> </a:t>
            </a:r>
            <a:r>
              <a:rPr dirty="0" err="1"/>
              <a:t>ответ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реальном</a:t>
            </a:r>
            <a:r>
              <a:rPr dirty="0"/>
              <a:t> </a:t>
            </a:r>
            <a:r>
              <a:rPr dirty="0" err="1"/>
              <a:t>контексте</a:t>
            </a:r>
            <a:r>
              <a:rPr dirty="0"/>
              <a:t>.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слушателей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разобрать</a:t>
            </a:r>
            <a:r>
              <a:rPr dirty="0"/>
              <a:t> </a:t>
            </a:r>
            <a:r>
              <a:rPr dirty="0" err="1"/>
              <a:t>жизненный</a:t>
            </a:r>
            <a:r>
              <a:rPr dirty="0"/>
              <a:t> </a:t>
            </a:r>
            <a:r>
              <a:rPr dirty="0" err="1"/>
              <a:t>цикл</a:t>
            </a:r>
            <a:r>
              <a:rPr dirty="0"/>
              <a:t> </a:t>
            </a:r>
            <a:r>
              <a:rPr dirty="0" err="1"/>
              <a:t>запроса</a:t>
            </a:r>
            <a:r>
              <a:rPr dirty="0"/>
              <a:t>: </a:t>
            </a:r>
            <a:r>
              <a:rPr dirty="0" err="1"/>
              <a:t>обращение</a:t>
            </a:r>
            <a:r>
              <a:rPr dirty="0"/>
              <a:t> -&gt;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прав</a:t>
            </a:r>
            <a:r>
              <a:rPr dirty="0"/>
              <a:t> -&gt; </a:t>
            </a:r>
            <a:r>
              <a:rPr dirty="0" err="1"/>
              <a:t>выполнение</a:t>
            </a:r>
            <a:r>
              <a:rPr dirty="0"/>
              <a:t> </a:t>
            </a:r>
            <a:r>
              <a:rPr dirty="0" err="1"/>
              <a:t>операции</a:t>
            </a:r>
            <a:r>
              <a:rPr dirty="0"/>
              <a:t> -&gt; </a:t>
            </a:r>
            <a:r>
              <a:rPr dirty="0" err="1"/>
              <a:t>возврат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-&gt; </a:t>
            </a:r>
            <a:r>
              <a:rPr dirty="0" err="1"/>
              <a:t>логирование</a:t>
            </a:r>
            <a:r>
              <a:rPr dirty="0"/>
              <a:t>. </a:t>
            </a:r>
            <a:r>
              <a:rPr dirty="0" err="1"/>
              <a:t>Этот</a:t>
            </a:r>
            <a:r>
              <a:rPr dirty="0"/>
              <a:t> </a:t>
            </a:r>
            <a:r>
              <a:rPr dirty="0" err="1"/>
              <a:t>слой</a:t>
            </a:r>
            <a:r>
              <a:rPr dirty="0"/>
              <a:t> </a:t>
            </a:r>
            <a:r>
              <a:rPr dirty="0" err="1"/>
              <a:t>переводит</a:t>
            </a:r>
            <a:r>
              <a:rPr dirty="0"/>
              <a:t> AI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режима</a:t>
            </a:r>
            <a:r>
              <a:rPr dirty="0"/>
              <a:t> </a:t>
            </a:r>
            <a:r>
              <a:rPr dirty="0" err="1"/>
              <a:t>предположений</a:t>
            </a:r>
            <a:r>
              <a:rPr dirty="0"/>
              <a:t> в </a:t>
            </a:r>
            <a:r>
              <a:rPr dirty="0" err="1"/>
              <a:t>режим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с </a:t>
            </a:r>
            <a:r>
              <a:rPr dirty="0" err="1"/>
              <a:t>фактами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Практический</a:t>
            </a:r>
            <a:r>
              <a:rPr dirty="0"/>
              <a:t> </a:t>
            </a: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Ассистент</a:t>
            </a:r>
            <a:r>
              <a:rPr dirty="0"/>
              <a:t> </a:t>
            </a:r>
            <a:r>
              <a:rPr dirty="0" err="1"/>
              <a:t>поддержки</a:t>
            </a:r>
            <a:r>
              <a:rPr dirty="0"/>
              <a:t> </a:t>
            </a:r>
            <a:r>
              <a:rPr dirty="0" err="1"/>
              <a:t>читает</a:t>
            </a:r>
            <a:r>
              <a:rPr dirty="0"/>
              <a:t> </a:t>
            </a:r>
            <a:r>
              <a:rPr dirty="0" err="1"/>
              <a:t>статус</a:t>
            </a:r>
            <a:r>
              <a:rPr dirty="0"/>
              <a:t> </a:t>
            </a:r>
            <a:r>
              <a:rPr dirty="0" err="1"/>
              <a:t>заказа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CRM и </a:t>
            </a:r>
            <a:r>
              <a:rPr dirty="0" err="1"/>
              <a:t>формирует</a:t>
            </a:r>
            <a:r>
              <a:rPr dirty="0"/>
              <a:t> </a:t>
            </a:r>
            <a:r>
              <a:rPr dirty="0" err="1"/>
              <a:t>персональный</a:t>
            </a:r>
            <a:r>
              <a:rPr dirty="0"/>
              <a:t> </a:t>
            </a:r>
            <a:r>
              <a:rPr dirty="0" err="1"/>
              <a:t>ответ</a:t>
            </a:r>
            <a:r>
              <a:rPr dirty="0"/>
              <a:t> </a:t>
            </a:r>
            <a:r>
              <a:rPr dirty="0" err="1"/>
              <a:t>клиенту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основе</a:t>
            </a:r>
            <a:r>
              <a:rPr dirty="0"/>
              <a:t> </a:t>
            </a:r>
            <a:r>
              <a:rPr dirty="0" err="1"/>
              <a:t>текущих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Ограничения</a:t>
            </a:r>
            <a:r>
              <a:rPr dirty="0"/>
              <a:t>: </a:t>
            </a:r>
            <a:r>
              <a:rPr dirty="0" err="1"/>
              <a:t>Ограничения</a:t>
            </a:r>
            <a:r>
              <a:rPr dirty="0"/>
              <a:t> MCP в </a:t>
            </a:r>
            <a:r>
              <a:rPr dirty="0" err="1"/>
              <a:t>первую</a:t>
            </a:r>
            <a:r>
              <a:rPr dirty="0"/>
              <a:t> </a:t>
            </a:r>
            <a:r>
              <a:rPr dirty="0" err="1"/>
              <a:t>очередь</a:t>
            </a:r>
            <a:r>
              <a:rPr dirty="0"/>
              <a:t> </a:t>
            </a:r>
            <a:r>
              <a:rPr dirty="0" err="1"/>
              <a:t>связаны</a:t>
            </a:r>
            <a:r>
              <a:rPr dirty="0"/>
              <a:t> с </a:t>
            </a:r>
            <a:r>
              <a:rPr dirty="0" err="1"/>
              <a:t>безопасностью</a:t>
            </a:r>
            <a:r>
              <a:rPr dirty="0"/>
              <a:t>: over-privileged </a:t>
            </a:r>
            <a:r>
              <a:rPr dirty="0" err="1"/>
              <a:t>доступы</a:t>
            </a:r>
            <a:r>
              <a:rPr dirty="0"/>
              <a:t>, </a:t>
            </a:r>
            <a:r>
              <a:rPr dirty="0" err="1"/>
              <a:t>отсутствие</a:t>
            </a:r>
            <a:r>
              <a:rPr dirty="0"/>
              <a:t> </a:t>
            </a:r>
            <a:r>
              <a:rPr dirty="0" err="1"/>
              <a:t>аудита</a:t>
            </a:r>
            <a:r>
              <a:rPr dirty="0"/>
              <a:t>, </a:t>
            </a:r>
            <a:r>
              <a:rPr dirty="0" err="1"/>
              <a:t>смешение</a:t>
            </a:r>
            <a:r>
              <a:rPr dirty="0"/>
              <a:t> </a:t>
            </a:r>
            <a:r>
              <a:rPr dirty="0" err="1"/>
              <a:t>тестовых</a:t>
            </a:r>
            <a:r>
              <a:rPr dirty="0"/>
              <a:t> и </a:t>
            </a:r>
            <a:r>
              <a:rPr dirty="0" err="1"/>
              <a:t>прод-каналов</a:t>
            </a:r>
            <a:r>
              <a:rPr dirty="0"/>
              <a:t>. </a:t>
            </a:r>
            <a:r>
              <a:rPr dirty="0" err="1"/>
              <a:t>Вторая</a:t>
            </a:r>
            <a:r>
              <a:rPr dirty="0"/>
              <a:t> </a:t>
            </a:r>
            <a:r>
              <a:rPr dirty="0" err="1"/>
              <a:t>группа</a:t>
            </a:r>
            <a:r>
              <a:rPr dirty="0"/>
              <a:t> </a:t>
            </a:r>
            <a:r>
              <a:rPr dirty="0" err="1"/>
              <a:t>ограничений</a:t>
            </a:r>
            <a:r>
              <a:rPr dirty="0"/>
              <a:t> — </a:t>
            </a:r>
            <a:r>
              <a:rPr dirty="0" err="1"/>
              <a:t>надежность</a:t>
            </a:r>
            <a:r>
              <a:rPr dirty="0"/>
              <a:t> </a:t>
            </a:r>
            <a:r>
              <a:rPr dirty="0" err="1"/>
              <a:t>внешних</a:t>
            </a:r>
            <a:r>
              <a:rPr dirty="0"/>
              <a:t> </a:t>
            </a:r>
            <a:r>
              <a:rPr dirty="0" err="1"/>
              <a:t>сервисов</a:t>
            </a:r>
            <a:r>
              <a:rPr dirty="0"/>
              <a:t>: </a:t>
            </a:r>
            <a:r>
              <a:rPr dirty="0" err="1"/>
              <a:t>недоступность</a:t>
            </a:r>
            <a:r>
              <a:rPr dirty="0"/>
              <a:t> API </a:t>
            </a: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иметь</a:t>
            </a:r>
            <a:r>
              <a:rPr dirty="0"/>
              <a:t> fallback-</a:t>
            </a:r>
            <a:r>
              <a:rPr dirty="0" err="1"/>
              <a:t>логику</a:t>
            </a:r>
            <a:r>
              <a:rPr dirty="0"/>
              <a:t>. </a:t>
            </a:r>
            <a:r>
              <a:rPr dirty="0" err="1"/>
              <a:t>Третья</a:t>
            </a:r>
            <a:r>
              <a:rPr dirty="0"/>
              <a:t> — governance: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четких</a:t>
            </a:r>
            <a:r>
              <a:rPr dirty="0"/>
              <a:t> </a:t>
            </a:r>
            <a:r>
              <a:rPr dirty="0" err="1"/>
              <a:t>правил</a:t>
            </a:r>
            <a:r>
              <a:rPr dirty="0"/>
              <a:t> read/write и approval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критичных</a:t>
            </a:r>
            <a:r>
              <a:rPr dirty="0"/>
              <a:t> </a:t>
            </a:r>
            <a:r>
              <a:rPr dirty="0" err="1"/>
              <a:t>операций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становится</a:t>
            </a:r>
            <a:r>
              <a:rPr dirty="0"/>
              <a:t> </a:t>
            </a:r>
            <a:r>
              <a:rPr dirty="0" err="1"/>
              <a:t>уязвимой</a:t>
            </a:r>
            <a:r>
              <a:rPr dirty="0"/>
              <a:t>. </a:t>
            </a: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учитывать</a:t>
            </a:r>
            <a:r>
              <a:rPr dirty="0"/>
              <a:t> </a:t>
            </a:r>
            <a:r>
              <a:rPr dirty="0" err="1"/>
              <a:t>стоимость</a:t>
            </a:r>
            <a:r>
              <a:rPr dirty="0"/>
              <a:t> </a:t>
            </a:r>
            <a:r>
              <a:rPr dirty="0" err="1"/>
              <a:t>интеграций</a:t>
            </a:r>
            <a:r>
              <a:rPr dirty="0"/>
              <a:t> и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сопровождение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Вывод</a:t>
            </a:r>
            <a:r>
              <a:rPr dirty="0"/>
              <a:t>: MCP </a:t>
            </a:r>
            <a:r>
              <a:rPr dirty="0" err="1"/>
              <a:t>делает</a:t>
            </a:r>
            <a:r>
              <a:rPr dirty="0"/>
              <a:t> AI </a:t>
            </a:r>
            <a:r>
              <a:rPr dirty="0" err="1"/>
              <a:t>по-настоящему</a:t>
            </a:r>
            <a:r>
              <a:rPr dirty="0"/>
              <a:t> </a:t>
            </a:r>
            <a:r>
              <a:rPr dirty="0" err="1"/>
              <a:t>прикладным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зрелой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, </a:t>
            </a:r>
            <a:r>
              <a:rPr dirty="0" err="1"/>
              <a:t>мониторинга</a:t>
            </a:r>
            <a:r>
              <a:rPr dirty="0"/>
              <a:t> и </a:t>
            </a:r>
            <a:r>
              <a:rPr dirty="0" err="1"/>
              <a:t>отказоустойчивости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Термины</a:t>
            </a:r>
            <a:r>
              <a:rPr dirty="0"/>
              <a:t>: Agent — </a:t>
            </a:r>
            <a:r>
              <a:rPr dirty="0" err="1"/>
              <a:t>автономный</a:t>
            </a:r>
            <a:r>
              <a:rPr dirty="0"/>
              <a:t> </a:t>
            </a:r>
            <a:r>
              <a:rPr dirty="0" err="1"/>
              <a:t>исполнитель</a:t>
            </a:r>
            <a:r>
              <a:rPr dirty="0"/>
              <a:t> </a:t>
            </a:r>
            <a:r>
              <a:rPr dirty="0" err="1"/>
              <a:t>цепочки</a:t>
            </a:r>
            <a:r>
              <a:rPr dirty="0"/>
              <a:t> </a:t>
            </a:r>
            <a:r>
              <a:rPr dirty="0" err="1"/>
              <a:t>шагов</a:t>
            </a:r>
            <a:r>
              <a:rPr dirty="0"/>
              <a:t> к </a:t>
            </a:r>
            <a:r>
              <a:rPr dirty="0" err="1"/>
              <a:t>цели</a:t>
            </a:r>
            <a:r>
              <a:rPr dirty="0"/>
              <a:t>. Human-in-the-loop — </a:t>
            </a:r>
            <a:r>
              <a:rPr dirty="0" err="1"/>
              <a:t>обязательное</a:t>
            </a:r>
            <a:r>
              <a:rPr dirty="0"/>
              <a:t> </a:t>
            </a:r>
            <a:r>
              <a:rPr dirty="0" err="1"/>
              <a:t>участие</a:t>
            </a:r>
            <a:r>
              <a:rPr dirty="0"/>
              <a:t> </a:t>
            </a:r>
            <a:r>
              <a:rPr dirty="0" err="1"/>
              <a:t>человека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критичных</a:t>
            </a:r>
            <a:r>
              <a:rPr dirty="0"/>
              <a:t> </a:t>
            </a:r>
            <a:r>
              <a:rPr dirty="0" err="1"/>
              <a:t>действиях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Механика</a:t>
            </a:r>
            <a:r>
              <a:rPr dirty="0"/>
              <a:t>: </a:t>
            </a:r>
            <a:r>
              <a:rPr dirty="0" err="1"/>
              <a:t>Механика</a:t>
            </a:r>
            <a:r>
              <a:rPr dirty="0"/>
              <a:t> </a:t>
            </a:r>
            <a:r>
              <a:rPr dirty="0" err="1"/>
              <a:t>агента</a:t>
            </a:r>
            <a:r>
              <a:rPr dirty="0"/>
              <a:t> </a:t>
            </a:r>
            <a:r>
              <a:rPr dirty="0" err="1"/>
              <a:t>строится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цикле</a:t>
            </a:r>
            <a:r>
              <a:rPr dirty="0"/>
              <a:t>: </a:t>
            </a:r>
            <a:r>
              <a:rPr dirty="0" err="1"/>
              <a:t>анализ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, </a:t>
            </a:r>
            <a:r>
              <a:rPr dirty="0" err="1"/>
              <a:t>планирование</a:t>
            </a:r>
            <a:r>
              <a:rPr dirty="0"/>
              <a:t>, </a:t>
            </a:r>
            <a:r>
              <a:rPr dirty="0" err="1"/>
              <a:t>исполнение</a:t>
            </a:r>
            <a:r>
              <a:rPr dirty="0"/>
              <a:t> </a:t>
            </a:r>
            <a:r>
              <a:rPr dirty="0" err="1"/>
              <a:t>действий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инструменты</a:t>
            </a:r>
            <a:r>
              <a:rPr dirty="0"/>
              <a:t>,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 и </a:t>
            </a:r>
            <a:r>
              <a:rPr dirty="0" err="1"/>
              <a:t>корректировка</a:t>
            </a:r>
            <a:r>
              <a:rPr dirty="0"/>
              <a:t> </a:t>
            </a:r>
            <a:r>
              <a:rPr dirty="0" err="1"/>
              <a:t>плана</a:t>
            </a:r>
            <a:r>
              <a:rPr dirty="0"/>
              <a:t>. Наглядный </a:t>
            </a: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агенту</a:t>
            </a:r>
            <a:r>
              <a:rPr dirty="0"/>
              <a:t> </a:t>
            </a:r>
            <a:r>
              <a:rPr dirty="0" err="1"/>
              <a:t>ставят</a:t>
            </a:r>
            <a:r>
              <a:rPr dirty="0"/>
              <a:t> </a:t>
            </a:r>
            <a:r>
              <a:rPr dirty="0" err="1"/>
              <a:t>цель</a:t>
            </a:r>
            <a:r>
              <a:rPr dirty="0"/>
              <a:t> "</a:t>
            </a:r>
            <a:r>
              <a:rPr dirty="0" err="1"/>
              <a:t>собери</a:t>
            </a:r>
            <a:r>
              <a:rPr dirty="0"/>
              <a:t> </a:t>
            </a:r>
            <a:r>
              <a:rPr dirty="0" err="1"/>
              <a:t>обзор</a:t>
            </a:r>
            <a:r>
              <a:rPr dirty="0"/>
              <a:t> </a:t>
            </a:r>
            <a:r>
              <a:rPr dirty="0" err="1"/>
              <a:t>пяти</a:t>
            </a:r>
            <a:r>
              <a:rPr dirty="0"/>
              <a:t> </a:t>
            </a:r>
            <a:r>
              <a:rPr dirty="0" err="1"/>
              <a:t>конкурентов</a:t>
            </a:r>
            <a:r>
              <a:rPr dirty="0"/>
              <a:t>",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ищет</a:t>
            </a:r>
            <a:r>
              <a:rPr dirty="0"/>
              <a:t> </a:t>
            </a:r>
            <a:r>
              <a:rPr dirty="0" err="1"/>
              <a:t>источники</a:t>
            </a:r>
            <a:r>
              <a:rPr dirty="0"/>
              <a:t>, </a:t>
            </a:r>
            <a:r>
              <a:rPr dirty="0" err="1"/>
              <a:t>выделяет</a:t>
            </a:r>
            <a:r>
              <a:rPr dirty="0"/>
              <a:t> </a:t>
            </a:r>
            <a:r>
              <a:rPr dirty="0" err="1"/>
              <a:t>признаки</a:t>
            </a:r>
            <a:r>
              <a:rPr dirty="0"/>
              <a:t> </a:t>
            </a:r>
            <a:r>
              <a:rPr dirty="0" err="1"/>
              <a:t>сравнения</a:t>
            </a:r>
            <a:r>
              <a:rPr dirty="0"/>
              <a:t>, </a:t>
            </a:r>
            <a:r>
              <a:rPr dirty="0" err="1"/>
              <a:t>собирает</a:t>
            </a:r>
            <a:r>
              <a:rPr dirty="0"/>
              <a:t> </a:t>
            </a:r>
            <a:r>
              <a:rPr dirty="0" err="1"/>
              <a:t>таблицу</a:t>
            </a:r>
            <a:r>
              <a:rPr dirty="0"/>
              <a:t> </a:t>
            </a:r>
            <a:r>
              <a:rPr dirty="0" err="1"/>
              <a:t>различий</a:t>
            </a:r>
            <a:r>
              <a:rPr dirty="0"/>
              <a:t> и </a:t>
            </a:r>
            <a:r>
              <a:rPr dirty="0" err="1"/>
              <a:t>отдельно</a:t>
            </a:r>
            <a:r>
              <a:rPr dirty="0"/>
              <a:t> </a:t>
            </a:r>
            <a:r>
              <a:rPr dirty="0" err="1"/>
              <a:t>помечает</a:t>
            </a:r>
            <a:r>
              <a:rPr dirty="0"/>
              <a:t> </a:t>
            </a:r>
            <a:r>
              <a:rPr dirty="0" err="1"/>
              <a:t>зоны</a:t>
            </a:r>
            <a:r>
              <a:rPr dirty="0"/>
              <a:t> </a:t>
            </a:r>
            <a:r>
              <a:rPr dirty="0" err="1"/>
              <a:t>неопределенности</a:t>
            </a:r>
            <a:r>
              <a:rPr dirty="0"/>
              <a:t>. </a:t>
            </a:r>
            <a:r>
              <a:rPr dirty="0" err="1"/>
              <a:t>Агент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показывать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контролируемую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"</a:t>
            </a:r>
            <a:r>
              <a:rPr dirty="0" err="1"/>
              <a:t>самостоятельный</a:t>
            </a:r>
            <a:r>
              <a:rPr dirty="0"/>
              <a:t> </a:t>
            </a:r>
            <a:r>
              <a:rPr dirty="0" err="1"/>
              <a:t>интеллект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границ</a:t>
            </a:r>
            <a:r>
              <a:rPr dirty="0"/>
              <a:t>". </a:t>
            </a:r>
            <a:r>
              <a:rPr dirty="0" err="1"/>
              <a:t>Обязательные</a:t>
            </a:r>
            <a:r>
              <a:rPr dirty="0"/>
              <a:t> </a:t>
            </a:r>
            <a:r>
              <a:rPr dirty="0" err="1"/>
              <a:t>ограничители</a:t>
            </a:r>
            <a:r>
              <a:rPr dirty="0"/>
              <a:t> </a:t>
            </a:r>
            <a:r>
              <a:rPr dirty="0" err="1"/>
              <a:t>здесь</a:t>
            </a:r>
            <a:r>
              <a:rPr dirty="0"/>
              <a:t> </a:t>
            </a:r>
            <a:r>
              <a:rPr dirty="0" err="1"/>
              <a:t>конкретны</a:t>
            </a:r>
            <a:r>
              <a:rPr dirty="0"/>
              <a:t>: </a:t>
            </a:r>
            <a:r>
              <a:rPr dirty="0" err="1"/>
              <a:t>лимит</a:t>
            </a:r>
            <a:r>
              <a:rPr dirty="0"/>
              <a:t> </a:t>
            </a:r>
            <a:r>
              <a:rPr dirty="0" err="1"/>
              <a:t>шагов</a:t>
            </a:r>
            <a:r>
              <a:rPr dirty="0"/>
              <a:t>, </a:t>
            </a:r>
            <a:r>
              <a:rPr dirty="0" err="1"/>
              <a:t>лимит</a:t>
            </a:r>
            <a:r>
              <a:rPr dirty="0"/>
              <a:t> </a:t>
            </a:r>
            <a:r>
              <a:rPr dirty="0" err="1"/>
              <a:t>стоимости</a:t>
            </a:r>
            <a:r>
              <a:rPr dirty="0"/>
              <a:t>, </a:t>
            </a:r>
            <a:r>
              <a:rPr dirty="0" err="1"/>
              <a:t>таймаут</a:t>
            </a:r>
            <a:r>
              <a:rPr dirty="0"/>
              <a:t>,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запрещенных</a:t>
            </a:r>
            <a:r>
              <a:rPr dirty="0"/>
              <a:t> </a:t>
            </a:r>
            <a:r>
              <a:rPr dirty="0" err="1"/>
              <a:t>действий</a:t>
            </a:r>
            <a:r>
              <a:rPr dirty="0"/>
              <a:t> и </a:t>
            </a:r>
            <a:r>
              <a:rPr dirty="0" err="1"/>
              <a:t>журналирование</a:t>
            </a:r>
            <a:r>
              <a:rPr dirty="0"/>
              <a:t>. </a:t>
            </a:r>
            <a:endParaRPr lang="en-US" dirty="0"/>
          </a:p>
          <a:p>
            <a:endParaRPr dirty="0"/>
          </a:p>
          <a:p>
            <a:r>
              <a:rPr dirty="0" err="1"/>
              <a:t>Практический</a:t>
            </a:r>
            <a:r>
              <a:rPr dirty="0"/>
              <a:t> </a:t>
            </a: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Агент</a:t>
            </a:r>
            <a:r>
              <a:rPr dirty="0"/>
              <a:t> </a:t>
            </a:r>
            <a:r>
              <a:rPr dirty="0" err="1"/>
              <a:t>готовит</a:t>
            </a:r>
            <a:r>
              <a:rPr dirty="0"/>
              <a:t> </a:t>
            </a:r>
            <a:r>
              <a:rPr dirty="0" err="1"/>
              <a:t>конкурентный</a:t>
            </a:r>
            <a:r>
              <a:rPr dirty="0"/>
              <a:t> </a:t>
            </a:r>
            <a:r>
              <a:rPr dirty="0" err="1"/>
              <a:t>обзор</a:t>
            </a:r>
            <a:r>
              <a:rPr dirty="0"/>
              <a:t>: </a:t>
            </a:r>
            <a:r>
              <a:rPr dirty="0" err="1"/>
              <a:t>собирает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нескольких</a:t>
            </a:r>
            <a:r>
              <a:rPr dirty="0"/>
              <a:t> </a:t>
            </a:r>
            <a:r>
              <a:rPr dirty="0" err="1"/>
              <a:t>источников</a:t>
            </a:r>
            <a:r>
              <a:rPr dirty="0"/>
              <a:t>, </a:t>
            </a:r>
            <a:r>
              <a:rPr dirty="0" err="1"/>
              <a:t>сопоставляет</a:t>
            </a:r>
            <a:r>
              <a:rPr dirty="0"/>
              <a:t> </a:t>
            </a:r>
            <a:r>
              <a:rPr dirty="0" err="1"/>
              <a:t>признаки</a:t>
            </a:r>
            <a:r>
              <a:rPr dirty="0"/>
              <a:t> и </a:t>
            </a:r>
            <a:r>
              <a:rPr dirty="0" err="1"/>
              <a:t>формирует</a:t>
            </a:r>
            <a:r>
              <a:rPr dirty="0"/>
              <a:t> </a:t>
            </a:r>
            <a:r>
              <a:rPr dirty="0" err="1"/>
              <a:t>аналитическую</a:t>
            </a:r>
            <a:r>
              <a:rPr dirty="0"/>
              <a:t> </a:t>
            </a:r>
            <a:r>
              <a:rPr dirty="0" err="1"/>
              <a:t>сводку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Ограничения</a:t>
            </a:r>
            <a:r>
              <a:rPr dirty="0"/>
              <a:t>: </a:t>
            </a:r>
            <a:r>
              <a:rPr dirty="0" err="1"/>
              <a:t>Ограничения</a:t>
            </a:r>
            <a:r>
              <a:rPr dirty="0"/>
              <a:t> </a:t>
            </a:r>
            <a:r>
              <a:rPr dirty="0" err="1"/>
              <a:t>агента</a:t>
            </a:r>
            <a:r>
              <a:rPr dirty="0"/>
              <a:t> — </a:t>
            </a:r>
            <a:r>
              <a:rPr dirty="0" err="1"/>
              <a:t>возможность</a:t>
            </a:r>
            <a:r>
              <a:rPr dirty="0"/>
              <a:t> </a:t>
            </a:r>
            <a:r>
              <a:rPr dirty="0" err="1"/>
              <a:t>зацикливания</a:t>
            </a:r>
            <a:r>
              <a:rPr dirty="0"/>
              <a:t>, </a:t>
            </a:r>
            <a:r>
              <a:rPr dirty="0" err="1"/>
              <a:t>лишние</a:t>
            </a:r>
            <a:r>
              <a:rPr dirty="0"/>
              <a:t> </a:t>
            </a:r>
            <a:r>
              <a:rPr dirty="0" err="1"/>
              <a:t>вызовы</a:t>
            </a:r>
            <a:r>
              <a:rPr dirty="0"/>
              <a:t> </a:t>
            </a:r>
            <a:r>
              <a:rPr dirty="0" err="1"/>
              <a:t>инструментов</a:t>
            </a:r>
            <a:r>
              <a:rPr dirty="0"/>
              <a:t> и </a:t>
            </a:r>
            <a:r>
              <a:rPr dirty="0" err="1"/>
              <a:t>рост</a:t>
            </a:r>
            <a:r>
              <a:rPr dirty="0"/>
              <a:t> </a:t>
            </a:r>
            <a:r>
              <a:rPr dirty="0" err="1"/>
              <a:t>стоимости</a:t>
            </a:r>
            <a:r>
              <a:rPr dirty="0"/>
              <a:t>.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недостаточной</a:t>
            </a:r>
            <a:r>
              <a:rPr dirty="0"/>
              <a:t> </a:t>
            </a:r>
            <a:r>
              <a:rPr dirty="0" err="1"/>
              <a:t>проверке</a:t>
            </a:r>
            <a:r>
              <a:rPr dirty="0"/>
              <a:t> </a:t>
            </a:r>
            <a:r>
              <a:rPr dirty="0" err="1"/>
              <a:t>источников</a:t>
            </a:r>
            <a:r>
              <a:rPr dirty="0"/>
              <a:t> </a:t>
            </a:r>
            <a:r>
              <a:rPr dirty="0" err="1"/>
              <a:t>возможны</a:t>
            </a:r>
            <a:r>
              <a:rPr dirty="0"/>
              <a:t> </a:t>
            </a:r>
            <a:r>
              <a:rPr dirty="0" err="1"/>
              <a:t>ошибочные</a:t>
            </a:r>
            <a:r>
              <a:rPr dirty="0"/>
              <a:t> </a:t>
            </a:r>
            <a:r>
              <a:rPr dirty="0" err="1"/>
              <a:t>выводы</a:t>
            </a:r>
            <a:r>
              <a:rPr dirty="0"/>
              <a:t>. </a:t>
            </a:r>
            <a:r>
              <a:rPr dirty="0" err="1"/>
              <a:t>Без</a:t>
            </a:r>
            <a:r>
              <a:rPr dirty="0"/>
              <a:t> human-in-the-loop </a:t>
            </a:r>
            <a:r>
              <a:rPr dirty="0" err="1"/>
              <a:t>критичные</a:t>
            </a:r>
            <a:r>
              <a:rPr dirty="0"/>
              <a:t> </a:t>
            </a:r>
            <a:r>
              <a:rPr dirty="0" err="1"/>
              <a:t>операции</a:t>
            </a:r>
            <a:r>
              <a:rPr dirty="0"/>
              <a:t> </a:t>
            </a:r>
            <a:r>
              <a:rPr dirty="0" err="1"/>
              <a:t>становятся</a:t>
            </a:r>
            <a:r>
              <a:rPr dirty="0"/>
              <a:t> </a:t>
            </a:r>
            <a:r>
              <a:rPr dirty="0" err="1"/>
              <a:t>рискованными</a:t>
            </a:r>
            <a:r>
              <a:rPr dirty="0"/>
              <a:t>. </a:t>
            </a:r>
            <a:r>
              <a:rPr dirty="0" err="1"/>
              <a:t>Тестирование</a:t>
            </a:r>
            <a:r>
              <a:rPr dirty="0"/>
              <a:t> </a:t>
            </a:r>
            <a:r>
              <a:rPr dirty="0" err="1"/>
              <a:t>агентных</a:t>
            </a:r>
            <a:r>
              <a:rPr dirty="0"/>
              <a:t> </a:t>
            </a:r>
            <a:r>
              <a:rPr dirty="0" err="1"/>
              <a:t>сценариев</a:t>
            </a:r>
            <a:r>
              <a:rPr dirty="0"/>
              <a:t> </a:t>
            </a:r>
            <a:r>
              <a:rPr dirty="0" err="1"/>
              <a:t>сложнее</a:t>
            </a:r>
            <a:r>
              <a:rPr dirty="0"/>
              <a:t>, </a:t>
            </a:r>
            <a:r>
              <a:rPr dirty="0" err="1"/>
              <a:t>чем</a:t>
            </a:r>
            <a:r>
              <a:rPr dirty="0"/>
              <a:t> workflow, </a:t>
            </a: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требования</a:t>
            </a:r>
            <a:r>
              <a:rPr dirty="0"/>
              <a:t> к </a:t>
            </a:r>
            <a:r>
              <a:rPr dirty="0" err="1"/>
              <a:t>телеметрии</a:t>
            </a:r>
            <a:r>
              <a:rPr dirty="0"/>
              <a:t> и </a:t>
            </a:r>
            <a:r>
              <a:rPr dirty="0" err="1"/>
              <a:t>разбору</a:t>
            </a:r>
            <a:r>
              <a:rPr dirty="0"/>
              <a:t> </a:t>
            </a:r>
            <a:r>
              <a:rPr dirty="0" err="1"/>
              <a:t>инцидентов</a:t>
            </a:r>
            <a:r>
              <a:rPr dirty="0"/>
              <a:t> </a:t>
            </a:r>
            <a:r>
              <a:rPr dirty="0" err="1"/>
              <a:t>выше</a:t>
            </a:r>
            <a:r>
              <a:rPr dirty="0"/>
              <a:t>. В </a:t>
            </a:r>
            <a:r>
              <a:rPr dirty="0" err="1"/>
              <a:t>организациях</a:t>
            </a:r>
            <a:r>
              <a:rPr dirty="0"/>
              <a:t> с </a:t>
            </a:r>
            <a:r>
              <a:rPr dirty="0" err="1"/>
              <a:t>низкой</a:t>
            </a:r>
            <a:r>
              <a:rPr dirty="0"/>
              <a:t> </a:t>
            </a:r>
            <a:r>
              <a:rPr dirty="0" err="1"/>
              <a:t>процессной</a:t>
            </a:r>
            <a:r>
              <a:rPr dirty="0"/>
              <a:t> </a:t>
            </a:r>
            <a:r>
              <a:rPr dirty="0" err="1"/>
              <a:t>зрелостью</a:t>
            </a:r>
            <a:r>
              <a:rPr dirty="0"/>
              <a:t> </a:t>
            </a:r>
            <a:r>
              <a:rPr dirty="0" err="1"/>
              <a:t>агентный</a:t>
            </a:r>
            <a:r>
              <a:rPr dirty="0"/>
              <a:t> </a:t>
            </a:r>
            <a:r>
              <a:rPr dirty="0" err="1"/>
              <a:t>слой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дать</a:t>
            </a:r>
            <a:r>
              <a:rPr dirty="0"/>
              <a:t> </a:t>
            </a:r>
            <a:r>
              <a:rPr dirty="0" err="1"/>
              <a:t>больше</a:t>
            </a:r>
            <a:r>
              <a:rPr dirty="0"/>
              <a:t> </a:t>
            </a:r>
            <a:r>
              <a:rPr dirty="0" err="1"/>
              <a:t>рисков</a:t>
            </a:r>
            <a:r>
              <a:rPr dirty="0"/>
              <a:t>,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пользы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Вывод</a:t>
            </a:r>
            <a:r>
              <a:rPr dirty="0"/>
              <a:t>: </a:t>
            </a:r>
            <a:r>
              <a:rPr dirty="0" err="1"/>
              <a:t>Агенты</a:t>
            </a:r>
            <a:r>
              <a:rPr dirty="0"/>
              <a:t> </a:t>
            </a:r>
            <a:r>
              <a:rPr dirty="0" err="1"/>
              <a:t>дают</a:t>
            </a:r>
            <a:r>
              <a:rPr dirty="0"/>
              <a:t> </a:t>
            </a:r>
            <a:r>
              <a:rPr dirty="0" err="1"/>
              <a:t>гибкость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сложных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безопасны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в </a:t>
            </a:r>
            <a:r>
              <a:rPr dirty="0" err="1"/>
              <a:t>рамках</a:t>
            </a:r>
            <a:r>
              <a:rPr dirty="0"/>
              <a:t> </a:t>
            </a:r>
            <a:r>
              <a:rPr dirty="0" err="1"/>
              <a:t>строгого</a:t>
            </a:r>
            <a:r>
              <a:rPr dirty="0"/>
              <a:t> </a:t>
            </a:r>
            <a:r>
              <a:rPr dirty="0" err="1"/>
              <a:t>управляемого</a:t>
            </a:r>
            <a:r>
              <a:rPr dirty="0"/>
              <a:t> </a:t>
            </a:r>
            <a:r>
              <a:rPr dirty="0" err="1"/>
              <a:t>контура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Термины: Workflow — формально заданный маршрут процесса. SLA — целевые показатели времени, качества и доступности.</a:t>
            </a:r>
          </a:p>
          <a:p>
            <a:endParaRPr/>
          </a:p>
          <a:p>
            <a:r>
              <a:t>Механика: Механика workflow: процесс разбивается на последовательные этапы с условиями перехода, retry-политикой, checkpoint и эскалацией. В отличие от agent-подхода, ключевое преимущество — предсказуемость и возможность аудита. Наглядный пример: заявка клиента проходит шаги классификации, чтения данных через MCP, генерации ответа, проверки confidence score и либо автоотправки, либо эскалации оператору. Здесь сразу видно, где произошла задержка, где ошибка, где нужна ручная обработка. Гибридный вариант добавляет agent только в узлы, где требуется адаптивное решение, сохраняя общий deterministic-каркас.</a:t>
            </a:r>
          </a:p>
          <a:p>
            <a:endParaRPr/>
          </a:p>
          <a:p>
            <a:r>
              <a:t>Практический пример: Процесс обработки обращений: классификация запроса -&gt; извлечение данных -&gt; генерация ответа -&gt; проверка политики -&gt; отправка или эскалация.</a:t>
            </a:r>
          </a:p>
          <a:p>
            <a:endParaRPr/>
          </a:p>
          <a:p>
            <a:r>
              <a:t>Ограничения: Ограничения: слишком жесткий workflow плохо работает на нестандартных кейсах, если нет веток исключений. Сложные графы процессов трудно сопровождать без визуализации и owner-модели. Без метрик этапов невозможно понять причины деградации SLA. Также регулярные изменения бизнес-правил требуют постоянной актуализации workflow, иначе процесс становится формально стабильным, но фактически устаревшим.</a:t>
            </a:r>
          </a:p>
          <a:p>
            <a:endParaRPr/>
          </a:p>
          <a:p>
            <a:r>
              <a:t>Вывод: Workflow — базовый слой производственной надежности, а максимальный эффект дает его сочетание с адаптивными узлами.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Термины: Демонстрационный блок — серия коротких практических сцен, связывающих теорию с реальными действиями.</a:t>
            </a:r>
          </a:p>
          <a:p>
            <a:endParaRPr/>
          </a:p>
          <a:p>
            <a:r>
              <a:t>Механика: Этот блок встроен после основных определений, чтобы аудитория сначала поняла уровни, а затем сразу увидела их на примерах. Порядок тот же, что и в основной лестнице зрелости: сначала prompt, затем instructions, skills, MCP, agent, workflow и типовые ошибки выбора.</a:t>
            </a:r>
          </a:p>
          <a:p>
            <a:endParaRPr/>
          </a:p>
          <a:p>
            <a:r>
              <a:t>Практический пример: Один сквозной сценарий позволяет показать эволюцию поддержки клиента от разового текста до управляемого процесса.</a:t>
            </a:r>
          </a:p>
          <a:p>
            <a:endParaRPr/>
          </a:p>
          <a:p>
            <a:r>
              <a:t>Ограничения: Если показать все примеры до объяснения концептов, материал превращается в набор несвязанных фрагментов. Если показать их слишком поздно, теория воспринимается абстрактно.</a:t>
            </a:r>
          </a:p>
          <a:p>
            <a:endParaRPr/>
          </a:p>
          <a:p>
            <a:r>
              <a:t>Вывод: Правильное место для examples — сразу после концептов и до общей матрицы сравнения.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Термины: Prompt — разовая текстовая постановка задачи без постоянного слоя правил.</a:t>
            </a:r>
          </a:p>
          <a:p>
            <a:endParaRPr/>
          </a:p>
          <a:p>
            <a:r>
              <a:t>Механика: Наиболее наглядная демонстрация здесь — сравнить два запроса подряд. Первый: 'Напиши письмо клиенту о задержке заказа'. Второй: 'Ты специалист клиентской поддержки. Напиши короткое вежливое письмо о задержке заказа на 2 дня. Структура: извинение, причина без технических деталей, новая дата, компенсация 10 процентов'. Аудитория сразу видит, как структура повышает качество результата.</a:t>
            </a:r>
          </a:p>
          <a:p>
            <a:endParaRPr/>
          </a:p>
          <a:p>
            <a:r>
              <a:t>Практический пример: Такой пример особенно хорошо работает в живом чате Copilot, потому что разница видна мгновенно.</a:t>
            </a:r>
          </a:p>
          <a:p>
            <a:endParaRPr/>
          </a:p>
          <a:p>
            <a:r>
              <a:t>Ограничения: Даже хороший prompt не решает проблему единых правил для команды и не подключает реальные данные о заказе.</a:t>
            </a:r>
          </a:p>
          <a:p>
            <a:endParaRPr/>
          </a:p>
          <a:p>
            <a:r>
              <a:t>Вывод: Prompt — лучший старт для проверки идеи, но не конечная архитектура процесса.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Термины: Instructions — системные правила, которые действуют поверх пользовательских запросов.</a:t>
            </a:r>
          </a:p>
          <a:p>
            <a:endParaRPr/>
          </a:p>
          <a:p>
            <a:r>
              <a:t>Механика: На практике можно показать тот же запрос 'Ответь клиенту по заказу', но сначала без системных правил, а потом с инструкциями: 'Всегда отвечай на русском языке. Не используй жаргон. Не придумывай статус заказа. В конце добавляй блок Следующий шаг'. Ответ становится предсказуемым и корпоративным по форме.</a:t>
            </a:r>
          </a:p>
          <a:p>
            <a:endParaRPr/>
          </a:p>
          <a:p>
            <a:r>
              <a:t>Практический пример: Это самый понятный способ показать, что instructions не заменяют prompt, а дисциплинируют его использование.</a:t>
            </a:r>
          </a:p>
          <a:p>
            <a:endParaRPr/>
          </a:p>
          <a:p>
            <a:r>
              <a:t>Ограничения: Instructions сами по себе не получают факты из CRM и не создают переиспользуемый модуль навыка.</a:t>
            </a:r>
          </a:p>
          <a:p>
            <a:endParaRPr/>
          </a:p>
          <a:p>
            <a:r>
              <a:t>Вывод: Этот уровень особенно важен для общих ассистентов и корпоративных copilot-сценариев.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Термины: Skill — формализованный модуль для повторяемой задачи с четким входом, процедурой и форматом выхода.</a:t>
            </a:r>
          </a:p>
          <a:p>
            <a:endParaRPr/>
          </a:p>
          <a:p>
            <a:r>
              <a:t>Механика: Удобный пример для объяснения: команда сначала вручную просит AI сделать review diff, потом фиксирует единый чек-лист и формат замечаний, а затем оформляет это в SKILL.md как 'AI Code Review'. Второй пример — 'Incident Summary', где на вход подаются логи и ошибка, а на выходе получается краткая причина, влияние и шаги диагностики.</a:t>
            </a:r>
          </a:p>
          <a:p>
            <a:endParaRPr/>
          </a:p>
          <a:p>
            <a:r>
              <a:t>Практический пример: Так аудитория видит, как из удачного prompt плюс instructions рождается библиотечный навык.</a:t>
            </a:r>
          </a:p>
          <a:p>
            <a:endParaRPr/>
          </a:p>
          <a:p>
            <a:r>
              <a:t>Ограничения: Если в один skill запихнуть все подряд, он становится тяжело поддерживаемым и теряет понятные границы ответственности.</a:t>
            </a:r>
          </a:p>
          <a:p>
            <a:endParaRPr/>
          </a:p>
          <a:p>
            <a:r>
              <a:t>Вывод: Skills особенно полезны там, где команда хочет одинаковое качество и быстрый онбординг новых людей.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Термины: MCP — протокол, через который модель подключается к инструментам и внешним источникам данных.</a:t>
            </a:r>
          </a:p>
          <a:p>
            <a:endParaRPr/>
          </a:p>
          <a:p>
            <a:r>
              <a:t>Механика: Первый наглядный пример: пользователь вводит номер заказа, ассистент через MCP читает статус из CRM и формирует ответ с актуальной датой доставки. Второй пример: ассистент читает через MCP список открытых pull request и собирает короткий daily summary по блокерам. В обоих случаях модель больше не опирается только на свою память.</a:t>
            </a:r>
          </a:p>
          <a:p>
            <a:endParaRPr/>
          </a:p>
          <a:p>
            <a:r>
              <a:t>Практический пример: Это помогает очень четко развести в голове аудитории понятия skill и MCP: один задает способ работы, второй дает реальный контекст.</a:t>
            </a:r>
          </a:p>
          <a:p>
            <a:endParaRPr/>
          </a:p>
          <a:p>
            <a:r>
              <a:t>Ограничения: Самая частая ошибка здесь — дать модели слишком широкие права или не логировать вызовы инструментов.</a:t>
            </a:r>
          </a:p>
          <a:p>
            <a:endParaRPr/>
          </a:p>
          <a:p>
            <a:r>
              <a:t>Вывод: MCP делает AI прикладным, но именно здесь сильнее всего растут требования к безопасности и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Термины: Agent — автономный исполнитель, который сам выбирает следующий шаг в пределах поставленной цели и ограничений.</a:t>
            </a:r>
          </a:p>
          <a:p>
            <a:endParaRPr/>
          </a:p>
          <a:p>
            <a:r>
              <a:t>Механика: Самый понятный пример — исследовательский агент: ему ставят задачу собрать обзор пяти конкурентов, и он сам проходит цикл поиска источников, выделения критериев, построения таблицы и формулировки выводов. Другой пример — агент, который строит план обучения команды на три месяца на основе текущего стека и пробелов компетенций.</a:t>
            </a:r>
          </a:p>
          <a:p>
            <a:endParaRPr/>
          </a:p>
          <a:p>
            <a:r>
              <a:t>Практический пример: На этих примерах хорошо видно, почему агенту нужны и instructions, и skills, и при необходимости MCP.</a:t>
            </a:r>
          </a:p>
          <a:p>
            <a:endParaRPr/>
          </a:p>
          <a:p>
            <a:r>
              <a:t>Ограничения: Без лимитов шагов, бюджета и журнала действий агент быстро становится дорогим и рискованным компонентом.</a:t>
            </a:r>
          </a:p>
          <a:p>
            <a:endParaRPr/>
          </a:p>
          <a:p>
            <a:r>
              <a:t>Вывод: Агент полезен не везде, а там, где адаптивность действительно дает ценность.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Термины: Workflow — детерминированный каркас процесса, в который AI встраивается как один или несколько шагов.</a:t>
            </a:r>
          </a:p>
          <a:p>
            <a:endParaRPr/>
          </a:p>
          <a:p>
            <a:r>
              <a:t>Механика: Первый пример: pipeline обработки обращений, где сначала идет классификация, потом чтение данных через MCP, затем генерация ответа, проверка confidence score и либо автоотправка, либо эскалация человеку. Второй пример: еженедельная аналитика вакансий, где этапы сбора, нормализации, контроля качества и публикации идут по расписанию.</a:t>
            </a:r>
          </a:p>
          <a:p>
            <a:endParaRPr/>
          </a:p>
          <a:p>
            <a:r>
              <a:t>Практический пример: Так аудитория видит, что workflow не конкурирует с agent, а задает ему рамку там, где это необходимо.</a:t>
            </a:r>
          </a:p>
          <a:p>
            <a:endParaRPr/>
          </a:p>
          <a:p>
            <a:r>
              <a:t>Ограничения: Слишком жесткий workflow без веток исключений плохо переносит нестандартные кейсы и быстро устаревает.</a:t>
            </a:r>
          </a:p>
          <a:p>
            <a:endParaRPr/>
          </a:p>
          <a:p>
            <a:r>
              <a:t>Вывод: В production-сценариях workflow чаще всего становится основой надежности и наблюдаемости.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Термины: Антипаттерн — типовое решение, которое сначала выглядит удобным, а затем системно ухудшает архитектуру.</a:t>
            </a:r>
          </a:p>
          <a:p>
            <a:endParaRPr/>
          </a:p>
          <a:p>
            <a:r>
              <a:t>Механика: Наиболее понятный набор для слайда: команда хочет 'агента на все' и получает рост стоимости; команда оставляет только prompts в production и теряет контроль качества; команда дает MCP лишние права и получает риск инцидентов. После этого полезно сразу дать контрмеру: workflow для типовых шагов, instructions и skills для стабильности, least privilege для инструментов.</a:t>
            </a:r>
          </a:p>
          <a:p>
            <a:endParaRPr/>
          </a:p>
          <a:p>
            <a:r>
              <a:t>Практический пример: Такой слайд особенно хорошо работает перед блоком сравнения и выбора, потому что аудитория уже понимает не только возможности, но и цену ошибки.</a:t>
            </a:r>
          </a:p>
          <a:p>
            <a:endParaRPr/>
          </a:p>
          <a:p>
            <a:r>
              <a:t>Ограничения: Если оставить антипаттерны только в конце, слушатели часто уже мысленно выбрали слишком сложное решение и потом сопротивляются упрощению.</a:t>
            </a:r>
          </a:p>
          <a:p>
            <a:endParaRPr/>
          </a:p>
          <a:p>
            <a:r>
              <a:t>Вывод: Хорошая архитектура начинается не с максимальной мощности, а с дисциплины выбора и ограничений.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Термины: Предсказуемость — стабильность результата при одинаковом входе. Комбинированная архитектура — совместная работа нескольких слоев.</a:t>
            </a:r>
          </a:p>
          <a:p>
            <a:endParaRPr/>
          </a:p>
          <a:p>
            <a:r>
              <a:t>Механика: Механика сравнения строится через единые критерии: скорость запуска, уровень контроля, доступ к данным, цена ошибки, стоимость сопровождения. Каждый слой закрывает разные требования, поэтому оценка "лучше/хуже" без контекста процесса неверна. В 45-минутной структуре этот слайд работает как синтез: он связывает теорию и кейсы в единую матрицу принятия решения. Полезно пройти по одному процессу и показать, где применяется каждый слой.</a:t>
            </a:r>
          </a:p>
          <a:p>
            <a:endParaRPr/>
          </a:p>
          <a:p>
            <a:r>
              <a:t>Практический пример: В helpdesk используются instructions для стиля, skills для шаблонных задач, MCP для данных и workflow для маршрута обработки; agent включается только в нестандартных кейсах.</a:t>
            </a:r>
          </a:p>
          <a:p>
            <a:endParaRPr/>
          </a:p>
          <a:p>
            <a:r>
              <a:t>Ограничения: Ограничения сравнения: если команда оценивает только скорость внедрения, она недооценивает стоимость эксплуатации и риски. Если игнорировать организационные факторы (ownership, SLA, процессы изменения), даже технически верная комбинация не даст результата. Также риск — копировать чужую архитектуру без учета своей зрелости и контекста данных.</a:t>
            </a:r>
          </a:p>
          <a:p>
            <a:endParaRPr/>
          </a:p>
          <a:p>
            <a:r>
              <a:t>Вывод: Лучший выбор — не один инструмент, а согласованная комбинация слоев под конкретный процесс и ограничения.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Термины: Decision tree — последовательность проверок для выбора архитектуры. Минимально достаточный уровень — самый простой слой, закрывающий требования.</a:t>
            </a:r>
          </a:p>
          <a:p>
            <a:endParaRPr/>
          </a:p>
          <a:p>
            <a:r>
              <a:t>Механика: Механика decision tree: шаг 1 — тип задачи (разовая или процессная), шаг 2 — цена ошибки, шаг 3 — потребность в единых правилах, шаг 4 — необходимость интеграций, шаг 5 — уровень автономии, шаг 6 — требования к аудиту и SLA. Такой алгоритм делает выбор архитектуры воспроизводимым и защищаемым перед бизнесом. В 45-минутном формате это практический инструмент, который участники могут применить сразу.</a:t>
            </a:r>
          </a:p>
          <a:p>
            <a:endParaRPr/>
          </a:p>
          <a:p>
            <a:r>
              <a:t>Практический пример: Маркетинг использует prompt для одноразового текста; поддержка выбирает workflow + MCP для ежедневного регламентированного потока.</a:t>
            </a:r>
          </a:p>
          <a:p>
            <a:endParaRPr/>
          </a:p>
          <a:p>
            <a:r>
              <a:t>Ограничения: Ограничения: если критерии оценки заданы формально, дерево выбора дает ложный результат. Если не учитывать доступные ресурсы и зрелость команды, выбранная архитектура не внедряется. Также при изменении процесса decision tree должен пересматриваться, иначе выбор быстро устаревает.</a:t>
            </a:r>
          </a:p>
          <a:p>
            <a:endParaRPr/>
          </a:p>
          <a:p>
            <a:r>
              <a:t>Вывод: Decision tree переводит архитектурный выбор из субъективного спора в проверяемую практику.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Термины</a:t>
            </a:r>
            <a:r>
              <a:rPr dirty="0"/>
              <a:t>: </a:t>
            </a:r>
            <a:r>
              <a:rPr dirty="0" err="1"/>
              <a:t>Антипаттерн</a:t>
            </a:r>
            <a:r>
              <a:rPr dirty="0"/>
              <a:t> — </a:t>
            </a:r>
            <a:r>
              <a:rPr dirty="0" err="1"/>
              <a:t>повторяемое</a:t>
            </a:r>
            <a:r>
              <a:rPr dirty="0"/>
              <a:t> </a:t>
            </a:r>
            <a:r>
              <a:rPr dirty="0" err="1"/>
              <a:t>архитектурное</a:t>
            </a:r>
            <a:r>
              <a:rPr dirty="0"/>
              <a:t> </a:t>
            </a:r>
            <a:r>
              <a:rPr dirty="0" err="1"/>
              <a:t>решение</a:t>
            </a:r>
            <a:r>
              <a:rPr dirty="0"/>
              <a:t>, </a:t>
            </a:r>
            <a:r>
              <a:rPr dirty="0" err="1"/>
              <a:t>которое</a:t>
            </a:r>
            <a:r>
              <a:rPr dirty="0"/>
              <a:t> </a:t>
            </a:r>
            <a:r>
              <a:rPr dirty="0" err="1"/>
              <a:t>дает</a:t>
            </a:r>
            <a:r>
              <a:rPr dirty="0"/>
              <a:t> </a:t>
            </a:r>
            <a:r>
              <a:rPr dirty="0" err="1"/>
              <a:t>краткосрочное</a:t>
            </a:r>
            <a:r>
              <a:rPr dirty="0"/>
              <a:t> </a:t>
            </a:r>
            <a:r>
              <a:rPr dirty="0" err="1"/>
              <a:t>удобство</a:t>
            </a:r>
            <a:r>
              <a:rPr dirty="0"/>
              <a:t> и </a:t>
            </a:r>
            <a:r>
              <a:rPr dirty="0" err="1"/>
              <a:t>долгосрочный</a:t>
            </a:r>
            <a:r>
              <a:rPr dirty="0"/>
              <a:t> </a:t>
            </a:r>
            <a:r>
              <a:rPr dirty="0" err="1"/>
              <a:t>ущерб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Механика</a:t>
            </a:r>
            <a:r>
              <a:rPr dirty="0"/>
              <a:t>: </a:t>
            </a:r>
            <a:r>
              <a:rPr dirty="0" err="1"/>
              <a:t>Механика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с </a:t>
            </a:r>
            <a:r>
              <a:rPr dirty="0" err="1"/>
              <a:t>антипаттернами</a:t>
            </a:r>
            <a:r>
              <a:rPr dirty="0"/>
              <a:t>: </a:t>
            </a: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фиксируется</a:t>
            </a:r>
            <a:r>
              <a:rPr dirty="0"/>
              <a:t> </a:t>
            </a:r>
            <a:r>
              <a:rPr dirty="0" err="1"/>
              <a:t>симптом</a:t>
            </a:r>
            <a:r>
              <a:rPr dirty="0"/>
              <a:t>,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причина</a:t>
            </a:r>
            <a:r>
              <a:rPr dirty="0"/>
              <a:t>,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контрмера</a:t>
            </a:r>
            <a:r>
              <a:rPr dirty="0"/>
              <a:t>.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практике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выглядит</a:t>
            </a:r>
            <a:r>
              <a:rPr dirty="0"/>
              <a:t> </a:t>
            </a:r>
            <a:r>
              <a:rPr dirty="0" err="1"/>
              <a:t>так</a:t>
            </a:r>
            <a:r>
              <a:rPr dirty="0"/>
              <a:t>: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говорит</a:t>
            </a:r>
            <a:r>
              <a:rPr dirty="0"/>
              <a:t> "</a:t>
            </a:r>
            <a:r>
              <a:rPr dirty="0" err="1"/>
              <a:t>давайте</a:t>
            </a:r>
            <a:r>
              <a:rPr dirty="0"/>
              <a:t> </a:t>
            </a:r>
            <a:r>
              <a:rPr dirty="0" err="1"/>
              <a:t>сделаем</a:t>
            </a:r>
            <a:r>
              <a:rPr dirty="0"/>
              <a:t> </a:t>
            </a:r>
            <a:r>
              <a:rPr dirty="0" err="1"/>
              <a:t>агента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",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сталкивается</a:t>
            </a:r>
            <a:r>
              <a:rPr dirty="0"/>
              <a:t> с </a:t>
            </a:r>
            <a:r>
              <a:rPr dirty="0" err="1"/>
              <a:t>ростом</a:t>
            </a:r>
            <a:r>
              <a:rPr dirty="0"/>
              <a:t> </a:t>
            </a:r>
            <a:r>
              <a:rPr dirty="0" err="1"/>
              <a:t>стоимости</a:t>
            </a:r>
            <a:r>
              <a:rPr dirty="0"/>
              <a:t> и </a:t>
            </a:r>
            <a:r>
              <a:rPr dirty="0" err="1"/>
              <a:t>непредсказуемостью</a:t>
            </a:r>
            <a:r>
              <a:rPr dirty="0"/>
              <a:t>,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переводит</a:t>
            </a:r>
            <a:r>
              <a:rPr dirty="0"/>
              <a:t> </a:t>
            </a:r>
            <a:r>
              <a:rPr dirty="0" err="1"/>
              <a:t>типовые</a:t>
            </a:r>
            <a:r>
              <a:rPr dirty="0"/>
              <a:t> </a:t>
            </a:r>
            <a:r>
              <a:rPr dirty="0" err="1"/>
              <a:t>операции</a:t>
            </a:r>
            <a:r>
              <a:rPr dirty="0"/>
              <a:t> в workflow, а </a:t>
            </a:r>
            <a:r>
              <a:rPr dirty="0" err="1"/>
              <a:t>агента</a:t>
            </a:r>
            <a:r>
              <a:rPr dirty="0"/>
              <a:t> </a:t>
            </a:r>
            <a:r>
              <a:rPr dirty="0" err="1"/>
              <a:t>оставляет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сложных</a:t>
            </a:r>
            <a:r>
              <a:rPr dirty="0"/>
              <a:t> </a:t>
            </a:r>
            <a:r>
              <a:rPr dirty="0" err="1"/>
              <a:t>узлов</a:t>
            </a:r>
            <a:r>
              <a:rPr dirty="0"/>
              <a:t>. </a:t>
            </a:r>
            <a:r>
              <a:rPr dirty="0" err="1"/>
              <a:t>Такой</a:t>
            </a:r>
            <a:r>
              <a:rPr dirty="0"/>
              <a:t> </a:t>
            </a:r>
            <a:r>
              <a:rPr dirty="0" err="1"/>
              <a:t>разбор</a:t>
            </a:r>
            <a:r>
              <a:rPr dirty="0"/>
              <a:t> </a:t>
            </a:r>
            <a:r>
              <a:rPr dirty="0" err="1"/>
              <a:t>формирует</a:t>
            </a:r>
            <a:r>
              <a:rPr dirty="0"/>
              <a:t> у </a:t>
            </a:r>
            <a:r>
              <a:rPr dirty="0" err="1"/>
              <a:t>аудитории</a:t>
            </a:r>
            <a:r>
              <a:rPr dirty="0"/>
              <a:t> </a:t>
            </a:r>
            <a:r>
              <a:rPr dirty="0" err="1"/>
              <a:t>инженерное</a:t>
            </a:r>
            <a:r>
              <a:rPr dirty="0"/>
              <a:t> </a:t>
            </a:r>
            <a:r>
              <a:rPr dirty="0" err="1"/>
              <a:t>мышление</a:t>
            </a:r>
            <a:r>
              <a:rPr dirty="0"/>
              <a:t> о </a:t>
            </a:r>
            <a:r>
              <a:rPr dirty="0" err="1"/>
              <a:t>рисках</a:t>
            </a:r>
            <a:r>
              <a:rPr dirty="0"/>
              <a:t>.</a:t>
            </a:r>
          </a:p>
          <a:p>
            <a:r>
              <a:rPr lang="ru-RU" dirty="0"/>
              <a:t>Добавить </a:t>
            </a:r>
            <a:r>
              <a:rPr lang="en-US" dirty="0"/>
              <a:t>Workflow</a:t>
            </a:r>
            <a:endParaRPr dirty="0"/>
          </a:p>
          <a:p>
            <a:r>
              <a:rPr dirty="0" err="1"/>
              <a:t>Практический</a:t>
            </a:r>
            <a:r>
              <a:rPr dirty="0"/>
              <a:t> </a:t>
            </a: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выдала</a:t>
            </a:r>
            <a:r>
              <a:rPr dirty="0"/>
              <a:t> </a:t>
            </a:r>
            <a:r>
              <a:rPr dirty="0" err="1"/>
              <a:t>агенту</a:t>
            </a:r>
            <a:r>
              <a:rPr dirty="0"/>
              <a:t> </a:t>
            </a:r>
            <a:r>
              <a:rPr dirty="0" err="1"/>
              <a:t>широкие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в </a:t>
            </a:r>
            <a:r>
              <a:rPr dirty="0" err="1"/>
              <a:t>прод</a:t>
            </a:r>
            <a:r>
              <a:rPr dirty="0"/>
              <a:t>, что </a:t>
            </a:r>
            <a:r>
              <a:rPr dirty="0" err="1"/>
              <a:t>привело</a:t>
            </a:r>
            <a:r>
              <a:rPr dirty="0"/>
              <a:t> к </a:t>
            </a:r>
            <a:r>
              <a:rPr dirty="0" err="1"/>
              <a:t>цепочке</a:t>
            </a:r>
            <a:r>
              <a:rPr dirty="0"/>
              <a:t> </a:t>
            </a:r>
            <a:r>
              <a:rPr dirty="0" err="1"/>
              <a:t>некорректных</a:t>
            </a:r>
            <a:r>
              <a:rPr dirty="0"/>
              <a:t> </a:t>
            </a:r>
            <a:r>
              <a:rPr dirty="0" err="1"/>
              <a:t>изменений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нестандартном</a:t>
            </a:r>
            <a:r>
              <a:rPr dirty="0"/>
              <a:t> </a:t>
            </a:r>
            <a:r>
              <a:rPr dirty="0" err="1"/>
              <a:t>сценарии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Ограничения</a:t>
            </a:r>
            <a:r>
              <a:rPr dirty="0"/>
              <a:t>: </a:t>
            </a:r>
            <a:r>
              <a:rPr dirty="0" err="1"/>
              <a:t>Ограничения</a:t>
            </a:r>
            <a:r>
              <a:rPr dirty="0"/>
              <a:t>: </a:t>
            </a:r>
            <a:r>
              <a:rPr dirty="0" err="1"/>
              <a:t>антипаттерны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выглядят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быстрый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 и </a:t>
            </a: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поздно</a:t>
            </a:r>
            <a:r>
              <a:rPr dirty="0"/>
              <a:t> </a:t>
            </a:r>
            <a:r>
              <a:rPr dirty="0" err="1"/>
              <a:t>распознаются</a:t>
            </a:r>
            <a:r>
              <a:rPr dirty="0"/>
              <a:t>. </a:t>
            </a:r>
            <a:r>
              <a:rPr dirty="0" err="1"/>
              <a:t>Без</a:t>
            </a:r>
            <a:r>
              <a:rPr dirty="0"/>
              <a:t> telemetry и postmortem-</a:t>
            </a:r>
            <a:r>
              <a:rPr dirty="0" err="1"/>
              <a:t>практики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повторяются</a:t>
            </a:r>
            <a:r>
              <a:rPr dirty="0"/>
              <a:t>.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архитектурных</a:t>
            </a:r>
            <a:r>
              <a:rPr dirty="0"/>
              <a:t> </a:t>
            </a:r>
            <a:r>
              <a:rPr dirty="0" err="1"/>
              <a:t>правил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, </a:t>
            </a:r>
            <a:r>
              <a:rPr dirty="0" err="1"/>
              <a:t>каждый</a:t>
            </a:r>
            <a:r>
              <a:rPr dirty="0"/>
              <a:t> </a:t>
            </a:r>
            <a:r>
              <a:rPr dirty="0" err="1"/>
              <a:t>проект</a:t>
            </a:r>
            <a:r>
              <a:rPr dirty="0"/>
              <a:t> </a:t>
            </a:r>
            <a:r>
              <a:rPr dirty="0" err="1"/>
              <a:t>заново</a:t>
            </a:r>
            <a:r>
              <a:rPr dirty="0"/>
              <a:t> </a:t>
            </a:r>
            <a:r>
              <a:rPr dirty="0" err="1"/>
              <a:t>наступает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те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риски</a:t>
            </a:r>
            <a:r>
              <a:rPr dirty="0"/>
              <a:t>. </a:t>
            </a:r>
            <a:r>
              <a:rPr dirty="0" err="1"/>
              <a:t>Дополнительное</a:t>
            </a:r>
            <a:r>
              <a:rPr dirty="0"/>
              <a:t> </a:t>
            </a:r>
            <a:r>
              <a:rPr dirty="0" err="1"/>
              <a:t>ограничение</a:t>
            </a:r>
            <a:r>
              <a:rPr dirty="0"/>
              <a:t> — </a:t>
            </a:r>
            <a:r>
              <a:rPr dirty="0" err="1"/>
              <a:t>организационная</a:t>
            </a:r>
            <a:r>
              <a:rPr dirty="0"/>
              <a:t> </a:t>
            </a:r>
            <a:r>
              <a:rPr dirty="0" err="1"/>
              <a:t>инерция</a:t>
            </a:r>
            <a:r>
              <a:rPr dirty="0"/>
              <a:t>: </a:t>
            </a:r>
            <a:r>
              <a:rPr dirty="0" err="1"/>
              <a:t>даже</a:t>
            </a:r>
            <a:r>
              <a:rPr dirty="0"/>
              <a:t> </a:t>
            </a:r>
            <a:r>
              <a:rPr dirty="0" err="1"/>
              <a:t>выявленные</a:t>
            </a:r>
            <a:r>
              <a:rPr dirty="0"/>
              <a:t> </a:t>
            </a:r>
            <a:r>
              <a:rPr dirty="0" err="1"/>
              <a:t>антипаттерны</a:t>
            </a:r>
            <a:r>
              <a:rPr dirty="0"/>
              <a:t> </a:t>
            </a:r>
            <a:r>
              <a:rPr dirty="0" err="1"/>
              <a:t>сложно</a:t>
            </a:r>
            <a:r>
              <a:rPr dirty="0"/>
              <a:t> </a:t>
            </a:r>
            <a:r>
              <a:rPr dirty="0" err="1"/>
              <a:t>исправлять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управленческой</a:t>
            </a:r>
            <a:r>
              <a:rPr dirty="0"/>
              <a:t> </a:t>
            </a:r>
            <a:r>
              <a:rPr dirty="0" err="1"/>
              <a:t>поддержки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Вывод</a:t>
            </a:r>
            <a:r>
              <a:rPr dirty="0"/>
              <a:t>: </a:t>
            </a:r>
            <a:r>
              <a:rPr dirty="0" err="1"/>
              <a:t>Предотвращение</a:t>
            </a:r>
            <a:r>
              <a:rPr dirty="0"/>
              <a:t> </a:t>
            </a:r>
            <a:r>
              <a:rPr dirty="0" err="1"/>
              <a:t>антипаттернов</a:t>
            </a:r>
            <a:r>
              <a:rPr dirty="0"/>
              <a:t> </a:t>
            </a:r>
            <a:r>
              <a:rPr dirty="0" err="1"/>
              <a:t>дешевле</a:t>
            </a:r>
            <a:r>
              <a:rPr dirty="0"/>
              <a:t> и </a:t>
            </a:r>
            <a:r>
              <a:rPr dirty="0" err="1"/>
              <a:t>безопаснее</a:t>
            </a:r>
            <a:r>
              <a:rPr dirty="0"/>
              <a:t>,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разбор</a:t>
            </a:r>
            <a:r>
              <a:rPr dirty="0"/>
              <a:t> </a:t>
            </a:r>
            <a:r>
              <a:rPr dirty="0" err="1"/>
              <a:t>последствий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инцидента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Термины: Эскалация — передача обращения человеку при низкой уверенности или высокой критичности. CSAT — метрика удовлетворенности клиента.</a:t>
            </a:r>
          </a:p>
          <a:p>
            <a:endParaRPr/>
          </a:p>
          <a:p>
            <a:r>
              <a:t>Механика: Механика кейса: входящее обращение классифицируется, затем через MCP подтягивается контекст клиента, после чего skills формируют черновой ответ в рамках instructions. Workflow принимает решение: автоответ или эскалация. Такой контур уменьшает среднее время ответа, стандартизирует коммуникацию и разгружает операторов от рутины. В 45-минутной подаче этот кейс хорошо демонстрирует, как слои работают совместно в реальном процессе.</a:t>
            </a:r>
          </a:p>
          <a:p>
            <a:endParaRPr/>
          </a:p>
          <a:p>
            <a:r>
              <a:t>Практический пример: Клиент запрашивает статус возврата: система читает данные из CRM, формирует ответ и эскалирует спорные случаи с уже собранным контекстом.</a:t>
            </a:r>
          </a:p>
          <a:p>
            <a:endParaRPr/>
          </a:p>
          <a:p>
            <a:r>
              <a:t>Ограничения: Ограничения: без калибровки confidence-score система либо эскалирует слишком много, либо ошибочно автоматизирует сложные случаи. При устаревшей базе знаний падает качество ответа, даже если архитектура корректна. Зависимость от внешних API требует fallback-процедур на случай деградации сервисов. Также необходимы метрики по этапам, иначе сложно понять, где именно теряется качество.</a:t>
            </a:r>
          </a:p>
          <a:p>
            <a:endParaRPr/>
          </a:p>
          <a:p>
            <a:r>
              <a:t>Вывод: Кейс поддержки показывает, что гибридная архитектура позволяет одновременно улучшать скорость, качество и контроль риска.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Термины: CI — непрерывная интеграция. Quality gate — автоматическое условие допуска изменений в основную ветку.</a:t>
            </a:r>
          </a:p>
          <a:p>
            <a:endParaRPr/>
          </a:p>
          <a:p>
            <a:r>
              <a:t>Механика: Механика внедрения по этапам: 1) ручные prompt-проверки для быстрой проверки ценности; 2) формализация критериев через instructions и skills; 3) интеграция в CI workflow с автоматическим quality gate. Конкретный пример: сначала разработчик вручную вставляет diff в чат, затем команда оформляет единые правила ревью и skill code-review, а потом каждый PR автоматически получает комментарии и блокировку при critical-находках. Такой путь снижает риск ложной автоматизации и дает контролируемую калибровку. AI-review не заменяет инженерное ревью, а отсекает рутинные дефекты и ускоряет обратную связь.</a:t>
            </a:r>
          </a:p>
          <a:p>
            <a:endParaRPr/>
          </a:p>
          <a:p>
            <a:r>
              <a:t>Практический пример: Каждый PR автоматически анализируется, критичные security и correctness-находки блокируют merge до исправления.</a:t>
            </a:r>
          </a:p>
          <a:p>
            <a:endParaRPr/>
          </a:p>
          <a:p>
            <a:r>
              <a:t>Ограничения: Ограничения: без настройки порогов чувствительности растет шум и падает доверие команды. Без обратной связи от разработчиков правила быстро устаревают. Часть архитектурных проблем AI не видит без контекста бизнес-логики. Также нужно контролировать стоимость и время выполнения проверок, чтобы CI не стал узким местом процесса.</a:t>
            </a:r>
          </a:p>
          <a:p>
            <a:endParaRPr/>
          </a:p>
          <a:p>
            <a:r>
              <a:t>Вывод: Наилучший эффект достигается, когда AI-review встроен в CI как системный слой и регулярно калибруется командой.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Термины: ROI — возврат инвестиций; нормализация — приведение данных разных источников к общей модели.</a:t>
            </a:r>
          </a:p>
          <a:p>
            <a:endParaRPr/>
          </a:p>
          <a:p>
            <a:r>
              <a:t>Механика: Механика кейса развивается по ступеням зрелости. Сначала prompt дает быстрый обзор для гипотезы. Затем agent с MCP собирает данные из источников, очищает, сопоставляет и готовит аналитическую сводку. На следующем этапе workflow закрепляет регулярный выпуск отчета, валидацию и публикацию. Для 45-минутного рассказа этот кейс иллюстрирует главный принцип: сложность добавляется только после подтверждения ценности предыдущего шага.</a:t>
            </a:r>
          </a:p>
          <a:p>
            <a:endParaRPr/>
          </a:p>
          <a:p>
            <a:r>
              <a:t>Практический пример: Еженедельный отчет по рынку включает тренды зарплат, спрос по стеку и региональные аномалии.</a:t>
            </a:r>
          </a:p>
          <a:p>
            <a:endParaRPr/>
          </a:p>
          <a:p>
            <a:r>
              <a:t>Ограничения: Ограничения: качество аналитики ограничено качеством источников и корректностью нормализации. Агент может усиливать шум при слабых правилах фильтрации. Workflow может стабильно выпускать неверный отчет, если отсутствуют проверки качества. Также нужно учитывать лаг обновления данных и сезонные эффекты, иначе управленческие решения принимаются на искаженной картине.</a:t>
            </a:r>
          </a:p>
          <a:p>
            <a:endParaRPr/>
          </a:p>
          <a:p>
            <a:r>
              <a:t>Вывод: Эволюционный подход к аналитике снижает риск и обеспечивает лучшую экономику внедрения по сравнению с "большим запуском" сразу.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Термины: Наблюдаемость — анализ состояния по логам, метрикам и трассировкам. Гибридная архитектура — сочетание детерминированных и адаптивных слоев.</a:t>
            </a:r>
          </a:p>
          <a:p>
            <a:endParaRPr/>
          </a:p>
          <a:p>
            <a:r>
              <a:t>Механика: Финальная механика принятия решения: определить цель и цену ошибки, выбрать минимально достаточный слой, задать метрики качества/стоимости, затем поэтапно усиливать архитектуру. В 45-минутной структуре этот слайд закрывает материал и переводит его в план действий. Важно вернуть аудиторию к трем вопросам: что автоматизируем, как контролируем, как измеряем эффект.</a:t>
            </a:r>
          </a:p>
          <a:p>
            <a:endParaRPr/>
          </a:p>
          <a:p>
            <a:r>
              <a:t>Практический пример: Команда выбирает один пилотный процесс на 2-4 недели, фиксирует метрики и после ретроспективы принимает решение о следующем слое зрелости.</a:t>
            </a:r>
          </a:p>
          <a:p>
            <a:endParaRPr/>
          </a:p>
          <a:p>
            <a:r>
              <a:t>Ограничения: Ограничения: без ownership и метрик архитектура не масштабируется. Без регулярной ревизии rules/integrations решение устаревает даже при хорошем старте. Организационные ограничения (безопасность, обучение, управление изменениями) часто становятся важнее технических. Если их не учитывать заранее, внедрение замедляется и теряет поддержку бизнеса.</a:t>
            </a:r>
          </a:p>
          <a:p>
            <a:endParaRPr/>
          </a:p>
          <a:p>
            <a:r>
              <a:t>Вывод: Устойчивая AI-система — это управляемая эволюция с измеримым эффектом, а не разовая настройка инструмента.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Термины: Live-demo — показ работающих артефактов в реальной IDE.</a:t>
            </a:r>
          </a:p>
          <a:p>
            <a:endParaRPr/>
          </a:p>
          <a:p>
            <a:r>
              <a:t>Механика: Этот блок переводит теорию в действие: вместо слайдов с примерами можно провести живую демонстрацию прямо в VS Code. Логика простая: сквозной сценарий 'Поддержка клиентов по заказам' демонстрирует эволюцию от простого prompt к инструкциям, skills, MCP и агенту, завёрнутому в workflow. Каждый слой добавляется поэтапно, аудитория видит файлы и конфиги в реальном времени.</a:t>
            </a:r>
          </a:p>
          <a:p>
            <a:endParaRPr/>
          </a:p>
          <a:p>
            <a:r>
              <a:t>Практический пример: За 20 минут можно показать создание .github/copilot-instructions.md, папку skills с двумя примерами, агента и финальный workflow.</a:t>
            </a:r>
          </a:p>
          <a:p>
            <a:endParaRPr/>
          </a:p>
          <a:p>
            <a:r>
              <a:t>Ограничения: Ограничение: не все файлы можно быстро создать live. Для MCP нужен рабочий сервер, что требует подготовки. Если показ сломается, пропадет весь эффект. Поэтому лучше подготовить заранее как backup.</a:t>
            </a:r>
          </a:p>
          <a:p>
            <a:endParaRPr/>
          </a:p>
          <a:p>
            <a:r>
              <a:t>Вывод: Live-demo — мощный инструмент закрепления теории в практику, но требует тщательной подготовки и репетиции.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Термины: Пошаговый demo — последовательность управляемых действий, где каждый шаг строится на предыдущем.</a:t>
            </a:r>
          </a:p>
          <a:p>
            <a:endParaRPr/>
          </a:p>
          <a:p>
            <a:r>
              <a:t>Механика: Демонстрация строится так: сначала открыть VS Code в папке проекта и написать простой prompt в чат Copilot. Потом создать .github/copilot-instructions.md с постоянными правилами. Затем быстро создать две папки skills: одну для customer-reply, вторую для policy-check. После этого создать агента, который использует оба навыка. Наконец, показать на диаграмме или коде, как это всё встраивается в workflow. Каждый шаг занимает 2-3 минуты, итого 15-20 минут.</a:t>
            </a:r>
          </a:p>
          <a:p>
            <a:endParaRPr/>
          </a:p>
          <a:p>
            <a:r>
              <a:t>Практический пример: Аудитория видит файлы, конфиги и то, как они связываются в единую систему.</a:t>
            </a:r>
          </a:p>
          <a:p>
            <a:endParaRPr/>
          </a:p>
          <a:p>
            <a:r>
              <a:t>Ограничения: Риск: если интернет медленный или расширения не загрузятся, demo может буксовать. Также нужно заранее подготовить чистую папку для демонстрации. Без репетиции легко потеряться в деталях и перерасходовать время.</a:t>
            </a:r>
          </a:p>
          <a:p>
            <a:endParaRPr/>
          </a:p>
          <a:p>
            <a:r>
              <a:t>Вывод: Успешный live-demo запоминается лучше, чем 10 слайдов с текстом.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Термины: Roadmap внедрения — конкретный план перехода от пилота к рабочему контуру.</a:t>
            </a:r>
          </a:p>
          <a:p>
            <a:endParaRPr/>
          </a:p>
          <a:p>
            <a:r>
              <a:t>Механика: Финальная механика: выбрать один реальный кейс аудитории, быстро пройти decision tree, определить целевой слой, риски, метрики и ближайший шаг. Такой формат завершения превращает презентацию в практический инструмент. На 45-минутной сессии этот блок важен для закрепления: слушатели должны уйти с понятным действием, а не только с теорией.</a:t>
            </a:r>
          </a:p>
          <a:p>
            <a:endParaRPr/>
          </a:p>
          <a:p>
            <a:r>
              <a:t>Практический пример: На примере обращения клиентов команда фиксирует MVP-архитектуру, метрики успеха и сроки первой итерации.</a:t>
            </a:r>
          </a:p>
          <a:p>
            <a:endParaRPr/>
          </a:p>
          <a:p>
            <a:r>
              <a:t>Ограничения: Ограничения: без назначенного владельца и даты следующий шаг часто не выполняется. Без реалистичной оценки доступов и данных roadmap остается теоретическим. Также есть риск расплывчатого обсуждения без приоритизации, из-за чего команда не стартует пилот.</a:t>
            </a:r>
          </a:p>
          <a:p>
            <a:endParaRPr/>
          </a:p>
          <a:p>
            <a:r>
              <a:t>Вывод: Результат обучения должен быть практическим: понятный следующий шаг, ответственность и критерии успеха.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802299"/>
            <a:ext cx="6477805" cy="2541431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3531205"/>
            <a:ext cx="6477804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329308"/>
            <a:ext cx="3730436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798973"/>
            <a:ext cx="608264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3528542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230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847088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26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756130"/>
            <a:ext cx="6482366" cy="1887950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3806196"/>
            <a:ext cx="6472835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3804985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12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804890"/>
            <a:ext cx="7204226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2010879"/>
            <a:ext cx="348386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2017343"/>
            <a:ext cx="348386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847088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347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804164"/>
            <a:ext cx="7205746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2019550"/>
            <a:ext cx="348386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824270"/>
            <a:ext cx="348386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2023004"/>
            <a:ext cx="348386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821491"/>
            <a:ext cx="348386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847088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551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847088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047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3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798973"/>
            <a:ext cx="2454824" cy="2247117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798974"/>
            <a:ext cx="4509353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3205492"/>
            <a:ext cx="2456260" cy="2248181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3205491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5745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482171"/>
            <a:ext cx="3055900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1129513"/>
            <a:ext cx="4149246" cy="1830584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1122543"/>
            <a:ext cx="209337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3145992"/>
            <a:ext cx="4143303" cy="2003742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5469857"/>
            <a:ext cx="4145513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318641"/>
            <a:ext cx="41557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3143605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28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847088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5146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798974"/>
            <a:ext cx="121180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798974"/>
            <a:ext cx="5871623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2533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7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804520"/>
            <a:ext cx="7202456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2015733"/>
            <a:ext cx="7202456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330370"/>
            <a:ext cx="26255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329308"/>
            <a:ext cx="4454127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798973"/>
            <a:ext cx="608264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262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Кот-дирижер симфонического оркестра» — картинка создана в Шедевруме">
            <a:extLst>
              <a:ext uri="{FF2B5EF4-FFF2-40B4-BE49-F238E27FC236}">
                <a16:creationId xmlns:a16="http://schemas.microsoft.com/office/drawing/2014/main" id="{9F4D5A1D-0A34-1170-6072-AA3650F0D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95" r="-2" b="8102"/>
          <a:stretch>
            <a:fillRect/>
          </a:stretch>
        </p:blipFill>
        <p:spPr bwMode="auto">
          <a:xfrm>
            <a:off x="1" y="10"/>
            <a:ext cx="914377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A0FFA78-985C-4F50-B21A-77045C7DF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2589" y="3064931"/>
            <a:ext cx="6221411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9133" y="3236470"/>
            <a:ext cx="5124375" cy="1252601"/>
          </a:xfrm>
        </p:spPr>
        <p:txBody>
          <a:bodyPr>
            <a:normAutofit/>
          </a:bodyPr>
          <a:lstStyle/>
          <a:p>
            <a:r>
              <a:rPr lang="en-US" sz="2900" b="1">
                <a:solidFill>
                  <a:srgbClr val="FFFFFE"/>
                </a:solidFill>
                <a:latin typeface="Calibri"/>
              </a:rPr>
              <a:t>Prompts vs Instructions vs Skills vs MCPs vs Agents vs Workflows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9133" y="4669144"/>
            <a:ext cx="5124374" cy="716529"/>
          </a:xfrm>
        </p:spPr>
        <p:txBody>
          <a:bodyPr>
            <a:normAutofit/>
          </a:bodyPr>
          <a:lstStyle/>
          <a:p>
            <a:r>
              <a:rPr lang="ru-RU" sz="1400">
                <a:solidFill>
                  <a:srgbClr val="FFFFFE"/>
                </a:solidFill>
                <a:latin typeface="Calibri"/>
              </a:rPr>
              <a:t>Как проектировать AI-системы: от запроса до автоматизации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5409EC7-69B1-45CC-8FB7-1964C1AB6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49131" y="4666480"/>
            <a:ext cx="5124375" cy="0"/>
          </a:xfrm>
          <a:prstGeom prst="line">
            <a:avLst/>
          </a:prstGeom>
          <a:ln w="31750">
            <a:solidFill>
              <a:srgbClr val="C38C34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Calibri"/>
              </a:rPr>
              <a:t>Лестница сложности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Prompts -&gt; Instructions -&gt; Skills -&gt; MCPs -&gt; Agents -&gt; Workflows</a:t>
            </a:r>
          </a:p>
          <a:p>
            <a:r>
              <a:rPr sz="2000">
                <a:latin typeface="Calibri"/>
              </a:rPr>
              <a:t>Слева: проще и быстрее старт</a:t>
            </a:r>
          </a:p>
          <a:p>
            <a:r>
              <a:rPr sz="2000">
                <a:latin typeface="Calibri"/>
              </a:rPr>
              <a:t>Справа: выше автономность и надежность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US" b="1">
                <a:latin typeface="Calibri"/>
              </a:rPr>
              <a:t>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4" y="2015734"/>
            <a:ext cx="4216713" cy="3450613"/>
          </a:xfrm>
        </p:spPr>
        <p:txBody>
          <a:bodyPr>
            <a:normAutofit/>
          </a:bodyPr>
          <a:lstStyle/>
          <a:p>
            <a:r>
              <a:rPr lang="ru-RU">
                <a:latin typeface="Calibri"/>
              </a:rPr>
              <a:t>Разовый текстовый запрос к AI</a:t>
            </a:r>
          </a:p>
          <a:p>
            <a:r>
              <a:rPr lang="ru-RU">
                <a:latin typeface="Calibri"/>
              </a:rPr>
              <a:t>Плюсы: скорость, гибкость, минимальный порог входа</a:t>
            </a:r>
          </a:p>
          <a:p>
            <a:r>
              <a:rPr lang="ru-RU">
                <a:latin typeface="Calibri"/>
              </a:rPr>
              <a:t>Минусы: нет стабильности и доступа к live-данным</a:t>
            </a:r>
          </a:p>
          <a:p>
            <a:r>
              <a:rPr lang="ru-RU">
                <a:latin typeface="Calibri"/>
              </a:rPr>
              <a:t>Лучше всего для быстрых одноразовых задач</a:t>
            </a:r>
          </a:p>
        </p:txBody>
      </p:sp>
      <p:pic>
        <p:nvPicPr>
          <p:cNvPr id="4" name="Picture 2" descr="52 Writing Prompts About Cats | Imagine Forest">
            <a:extLst>
              <a:ext uri="{FF2B5EF4-FFF2-40B4-BE49-F238E27FC236}">
                <a16:creationId xmlns:a16="http://schemas.microsoft.com/office/drawing/2014/main" id="{84EBEFC3-7960-A834-9196-8C57A411B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27646" y="2015734"/>
            <a:ext cx="2301452" cy="345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US" b="1">
                <a:latin typeface="Calibri"/>
              </a:rPr>
              <a:t>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4" y="2015734"/>
            <a:ext cx="4216713" cy="3450613"/>
          </a:xfrm>
        </p:spPr>
        <p:txBody>
          <a:bodyPr>
            <a:normAutofit/>
          </a:bodyPr>
          <a:lstStyle/>
          <a:p>
            <a:r>
              <a:rPr lang="ru-RU">
                <a:latin typeface="Calibri"/>
              </a:rPr>
              <a:t>Постоянные правила поведения модели (system prompt)</a:t>
            </a:r>
          </a:p>
          <a:p>
            <a:r>
              <a:rPr lang="ru-RU">
                <a:latin typeface="Calibri"/>
              </a:rPr>
              <a:t>Обеспечивают единый стиль и границы ответов</a:t>
            </a:r>
          </a:p>
          <a:p>
            <a:r>
              <a:rPr lang="ru-RU">
                <a:latin typeface="Calibri"/>
              </a:rPr>
              <a:t>Важны для корпоративных ассистентов</a:t>
            </a:r>
          </a:p>
          <a:p>
            <a:r>
              <a:rPr lang="ru-RU">
                <a:latin typeface="Calibri"/>
              </a:rPr>
              <a:t>Не заменяют доступ к данным: это роль MCP</a:t>
            </a:r>
          </a:p>
        </p:txBody>
      </p:sp>
      <p:pic>
        <p:nvPicPr>
          <p:cNvPr id="4" name="Picture 2" descr="Instructions unclear 🥴 Cat now runs the house 😹 I genuinely thought I was  doing things right. But apparently you're not supposed to hold them like a  sack of potatoes, or scoop">
            <a:extLst>
              <a:ext uri="{FF2B5EF4-FFF2-40B4-BE49-F238E27FC236}">
                <a16:creationId xmlns:a16="http://schemas.microsoft.com/office/drawing/2014/main" id="{FC61DD2B-29D0-152A-59AC-3AFC3199B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65604" y="2428272"/>
            <a:ext cx="2625536" cy="2625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73BA310-B3FB-8B9A-A909-98CB15E5940B}"/>
                  </a:ext>
                </a:extLst>
              </p14:cNvPr>
              <p14:cNvContentPartPr/>
              <p14:nvPr/>
            </p14:nvContentPartPr>
            <p14:xfrm>
              <a:off x="1222200" y="1345320"/>
              <a:ext cx="17157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73BA310-B3FB-8B9A-A909-98CB15E5940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12840" y="1335960"/>
                <a:ext cx="17344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US" b="1">
                <a:latin typeface="Calibri"/>
              </a:rPr>
              <a:t>Skills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0C6AA1-964E-03D2-393D-981290C66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122" y="2015734"/>
            <a:ext cx="3269455" cy="345061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9224" y="2015734"/>
            <a:ext cx="3121916" cy="3450613"/>
          </a:xfrm>
        </p:spPr>
        <p:txBody>
          <a:bodyPr>
            <a:normAutofit/>
          </a:bodyPr>
          <a:lstStyle/>
          <a:p>
            <a:r>
              <a:rPr lang="ru-RU">
                <a:latin typeface="Calibri"/>
              </a:rPr>
              <a:t>Переиспользуемые модули компетенций</a:t>
            </a:r>
          </a:p>
          <a:p>
            <a:r>
              <a:rPr lang="ru-RU">
                <a:latin typeface="Calibri"/>
              </a:rPr>
              <a:t>Примеры: code review, анализ ошибок, форматирование отчетов</a:t>
            </a:r>
          </a:p>
          <a:p>
            <a:r>
              <a:rPr lang="ru-RU">
                <a:latin typeface="Calibri"/>
              </a:rPr>
              <a:t>Плюсы: стандартизация и масштабирование</a:t>
            </a:r>
          </a:p>
          <a:p>
            <a:r>
              <a:rPr lang="ru-RU">
                <a:latin typeface="Calibri"/>
              </a:rPr>
              <a:t>Требуют поддержки и версионирования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Calibri"/>
              </a:rPr>
              <a:t>MCPs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Model Context Protocol: стандарт подключения инструментов</a:t>
            </a:r>
          </a:p>
          <a:p>
            <a:r>
              <a:rPr sz="2000">
                <a:latin typeface="Calibri"/>
              </a:rPr>
              <a:t>Дает доступ к файлам, БД, API, GitHub</a:t>
            </a:r>
          </a:p>
          <a:p>
            <a:r>
              <a:rPr sz="2000">
                <a:latin typeface="Calibri"/>
              </a:rPr>
              <a:t>Аналогия: USB-порт для AI</a:t>
            </a:r>
          </a:p>
          <a:p>
            <a:r>
              <a:rPr sz="2000">
                <a:latin typeface="Calibri"/>
              </a:rPr>
              <a:t>Требует строгой модели прав доступа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US" b="1">
                <a:latin typeface="Calibri"/>
              </a:rPr>
              <a:t>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4" y="2015734"/>
            <a:ext cx="4216713" cy="3450613"/>
          </a:xfrm>
        </p:spPr>
        <p:txBody>
          <a:bodyPr>
            <a:normAutofit/>
          </a:bodyPr>
          <a:lstStyle/>
          <a:p>
            <a:r>
              <a:rPr lang="ru-RU">
                <a:latin typeface="Calibri"/>
              </a:rPr>
              <a:t>Автономный цикл: восприятие -&gt; план -&gt; действие -&gt; рефлексия</a:t>
            </a:r>
          </a:p>
          <a:p>
            <a:r>
              <a:rPr lang="ru-RU">
                <a:latin typeface="Calibri"/>
              </a:rPr>
              <a:t>Сильны для нестандартных многошаговых задач</a:t>
            </a:r>
          </a:p>
          <a:p>
            <a:r>
              <a:rPr lang="ru-RU">
                <a:latin typeface="Calibri"/>
              </a:rPr>
              <a:t>Риски: петли, галлюцинации, стоимость</a:t>
            </a:r>
          </a:p>
          <a:p>
            <a:r>
              <a:rPr lang="ru-RU">
                <a:latin typeface="Calibri"/>
              </a:rPr>
              <a:t>Нужны лимиты, логи и human-in-the-loop</a:t>
            </a:r>
          </a:p>
        </p:txBody>
      </p:sp>
      <p:pic>
        <p:nvPicPr>
          <p:cNvPr id="4" name="Picture 2" descr="James Bond Cat Wall Art for Sale | Redbubble">
            <a:extLst>
              <a:ext uri="{FF2B5EF4-FFF2-40B4-BE49-F238E27FC236}">
                <a16:creationId xmlns:a16="http://schemas.microsoft.com/office/drawing/2014/main" id="{B4F0B1C5-E1C1-BC76-5F20-D0124B988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65604" y="2428272"/>
            <a:ext cx="2625536" cy="2625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Calibri"/>
              </a:rPr>
              <a:t>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Детерминированная последовательность шагов</a:t>
            </a:r>
          </a:p>
          <a:p>
            <a:r>
              <a:rPr sz="2000">
                <a:latin typeface="Calibri"/>
              </a:rPr>
              <a:t>Плюсы: предсказуемость, аудит, восстановление</a:t>
            </a:r>
          </a:p>
          <a:p>
            <a:r>
              <a:rPr sz="2000">
                <a:latin typeface="Calibri"/>
              </a:rPr>
              <a:t>Лучше для регулярных бизнес-процессов</a:t>
            </a:r>
          </a:p>
          <a:p>
            <a:r>
              <a:rPr sz="2000">
                <a:latin typeface="Calibri"/>
              </a:rPr>
              <a:t>Гибрид: workflow-оболочка + агент на сложных шагах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latin typeface="Calibri"/>
              </a:rPr>
              <a:t>Примеры по уровням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>
                <a:latin typeface="Calibri"/>
              </a:rPr>
              <a:t>От отдельного prompt к workflow и антипаттернам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ru-RU" b="1">
                <a:latin typeface="Calibri"/>
              </a:rPr>
              <a:t>Пример: </a:t>
            </a:r>
            <a:r>
              <a:rPr lang="en-US" b="1">
                <a:latin typeface="Calibri"/>
              </a:rPr>
              <a:t>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4" y="2015734"/>
            <a:ext cx="4646838" cy="3450613"/>
          </a:xfrm>
        </p:spPr>
        <p:txBody>
          <a:bodyPr>
            <a:normAutofit/>
          </a:bodyPr>
          <a:lstStyle/>
          <a:p>
            <a:r>
              <a:rPr lang="ru-RU">
                <a:latin typeface="Calibri"/>
              </a:rPr>
              <a:t>Ситуация: нужно сообщить клиенту о задержке заказа</a:t>
            </a:r>
          </a:p>
          <a:p>
            <a:r>
              <a:rPr lang="ru-RU">
                <a:latin typeface="Calibri"/>
              </a:rPr>
              <a:t>Базовый prompt: 'Напиши письмо клиенту о задержке заказа'</a:t>
            </a:r>
          </a:p>
          <a:p>
            <a:r>
              <a:rPr lang="ru-RU">
                <a:latin typeface="Calibri"/>
              </a:rPr>
              <a:t>Улучшенный prompt: роль, срок, структура, тон, компенсация</a:t>
            </a:r>
          </a:p>
          <a:p>
            <a:r>
              <a:rPr lang="ru-RU">
                <a:latin typeface="Calibri"/>
              </a:rPr>
              <a:t>Вывод: prompt хорош для быстрого черновика, но еще не гарантирует единый стандарт</a:t>
            </a:r>
          </a:p>
        </p:txBody>
      </p:sp>
      <p:pic>
        <p:nvPicPr>
          <p:cNvPr id="4" name="Picture 2" descr="Кот в ужасе делает селфи» — картинка создана в Шедевруме">
            <a:extLst>
              <a:ext uri="{FF2B5EF4-FFF2-40B4-BE49-F238E27FC236}">
                <a16:creationId xmlns:a16="http://schemas.microsoft.com/office/drawing/2014/main" id="{784D2933-D037-B024-23B7-84B82975E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68547" y="2015734"/>
            <a:ext cx="2822593" cy="2822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Calibri"/>
              </a:rPr>
              <a:t>Пример: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Тот же запрос, но уже с постоянными правилами поведения</a:t>
            </a:r>
          </a:p>
          <a:p>
            <a:r>
              <a:rPr sz="2000">
                <a:latin typeface="Calibri"/>
              </a:rPr>
              <a:t>Правила: русский язык, деловой тон, не выдумывать статус заказа</a:t>
            </a:r>
          </a:p>
          <a:p>
            <a:r>
              <a:rPr sz="2000">
                <a:latin typeface="Calibri"/>
              </a:rPr>
              <a:t>В конце ответа всегда есть блок 'Следующий шаг'</a:t>
            </a:r>
          </a:p>
          <a:p>
            <a:r>
              <a:rPr sz="2000">
                <a:latin typeface="Calibri"/>
              </a:rPr>
              <a:t>Вывод: instructions стабилизируют стиль и политику ответа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Calibri"/>
              </a:rPr>
              <a:t>Пример: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Повторяемую логику можно упаковать в skill</a:t>
            </a:r>
          </a:p>
          <a:p>
            <a:r>
              <a:rPr sz="2000">
                <a:latin typeface="Calibri"/>
              </a:rPr>
              <a:t>Пример: skill 'AI Code Review' с категориями Security, Correctness, Maintainability</a:t>
            </a:r>
          </a:p>
          <a:p>
            <a:r>
              <a:rPr sz="2000">
                <a:latin typeface="Calibri"/>
              </a:rPr>
              <a:t>Пример 2: skill 'Incident Summary' для дежурной команды</a:t>
            </a:r>
          </a:p>
          <a:p>
            <a:r>
              <a:rPr sz="2000">
                <a:latin typeface="Calibri"/>
              </a:rPr>
              <a:t>Вывод: skill превращает удачную практику в переиспользуемый модуль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Calibri"/>
              </a:rPr>
              <a:t>Пример: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Сценарий 1: поддержка клиентов + CRM через MCP</a:t>
            </a:r>
          </a:p>
          <a:p>
            <a:r>
              <a:rPr sz="2000">
                <a:latin typeface="Calibri"/>
              </a:rPr>
              <a:t>Сценарий 2: Dev Assistant + GitHub summary по открытым PR</a:t>
            </a:r>
          </a:p>
          <a:p>
            <a:r>
              <a:rPr sz="2000">
                <a:latin typeface="Calibri"/>
              </a:rPr>
              <a:t>Главная идея: AI получает факты, а не угадывает их</a:t>
            </a:r>
          </a:p>
          <a:p>
            <a:r>
              <a:rPr sz="2000">
                <a:latin typeface="Calibri"/>
              </a:rPr>
              <a:t>Вывод: MCP отвечает за доступ к данным и действиям, а не за стиль ответа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Calibri"/>
              </a:rPr>
              <a:t>Пример: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Агент конкурентного анализа: 5 конкурентов за 20 минут</a:t>
            </a:r>
          </a:p>
          <a:p>
            <a:r>
              <a:rPr sz="2000">
                <a:latin typeface="Calibri"/>
              </a:rPr>
              <a:t>Шаги: поиск источников, сравнение признаков, таблица различий, вывод</a:t>
            </a:r>
          </a:p>
          <a:p>
            <a:r>
              <a:rPr sz="2000">
                <a:latin typeface="Calibri"/>
              </a:rPr>
              <a:t>Агент подбора плана обучения: анализ стека, пробелы, roadmap по неделям</a:t>
            </a:r>
          </a:p>
          <a:p>
            <a:r>
              <a:rPr sz="2000">
                <a:latin typeface="Calibri"/>
              </a:rPr>
              <a:t>Вывод: агент оправдан там, где порядок действий нельзя полностью зафиксировать заранее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Calibri"/>
              </a:rPr>
              <a:t>Пример: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Workflow обращений: классификация -&gt; MCP -&gt; ответ -&gt; confidence -&gt; отправка/эскалация</a:t>
            </a:r>
          </a:p>
          <a:p>
            <a:r>
              <a:rPr sz="2000">
                <a:latin typeface="Calibri"/>
              </a:rPr>
              <a:t>Workflow вакансий: сбор данных -&gt; нормализация -&gt; проверка качества -&gt; отчет -&gt; архив</a:t>
            </a:r>
          </a:p>
          <a:p>
            <a:r>
              <a:rPr sz="2000">
                <a:latin typeface="Calibri"/>
              </a:rPr>
              <a:t>Главная идея: AI-узлы встроены в управляемый маршрут</a:t>
            </a:r>
          </a:p>
          <a:p>
            <a:r>
              <a:rPr sz="2000">
                <a:latin typeface="Calibri"/>
              </a:rPr>
              <a:t>Вывод: workflow нужен там, где важны SLA, аудит и восстановление после ошибок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Calibri"/>
              </a:rPr>
              <a:t>Пример: Антипаттерны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'Агент на все' -&gt; дорого и нестабильно</a:t>
            </a:r>
          </a:p>
          <a:p>
            <a:r>
              <a:rPr sz="2000">
                <a:latin typeface="Calibri"/>
              </a:rPr>
              <a:t>Prompt-only в production -&gt; нет повторяемости</a:t>
            </a:r>
          </a:p>
          <a:p>
            <a:r>
              <a:rPr sz="2000">
                <a:latin typeface="Calibri"/>
              </a:rPr>
              <a:t>Over-privileged MCP -&gt; риск инцидентов безопасности</a:t>
            </a:r>
          </a:p>
          <a:p>
            <a:r>
              <a:rPr sz="2000">
                <a:latin typeface="Calibri"/>
              </a:rPr>
              <a:t>Вывод: правильная архитектура определяется задачей, а не модностью инструмента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Calibri"/>
              </a:rPr>
              <a:t>Сравнение концептов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Prompts: просто, но менее предсказуемо</a:t>
            </a:r>
          </a:p>
          <a:p>
            <a:r>
              <a:rPr sz="2000">
                <a:latin typeface="Calibri"/>
              </a:rPr>
              <a:t>Instructions/Skills: балансируем качество и повторяемость</a:t>
            </a:r>
          </a:p>
          <a:p>
            <a:r>
              <a:rPr sz="2000">
                <a:latin typeface="Calibri"/>
              </a:rPr>
              <a:t>MCPs: подключаем реальные данные и действия</a:t>
            </a:r>
          </a:p>
          <a:p>
            <a:r>
              <a:rPr sz="2000">
                <a:latin typeface="Calibri"/>
              </a:rPr>
              <a:t>Agents: гибкость, Workflows: надежность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Calibri"/>
              </a:rPr>
              <a:t>Когда что использовать (часть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Разовая задача -&gt; Prompt</a:t>
            </a:r>
          </a:p>
          <a:p>
            <a:r>
              <a:rPr sz="2000">
                <a:latin typeface="Calibri"/>
              </a:rPr>
              <a:t>Нужны постоянные правила -&gt; Instructions</a:t>
            </a:r>
          </a:p>
          <a:p>
            <a:r>
              <a:rPr sz="2000">
                <a:latin typeface="Calibri"/>
              </a:rPr>
              <a:t>Повторяемая экспертиза -&gt; Skills</a:t>
            </a:r>
          </a:p>
          <a:p>
            <a:r>
              <a:rPr sz="2000">
                <a:latin typeface="Calibri"/>
              </a:rPr>
              <a:t>Нужен доступ к системам -&gt; MCPs</a:t>
            </a:r>
          </a:p>
          <a:p>
            <a:r>
              <a:rPr sz="2000">
                <a:latin typeface="Calibri"/>
              </a:rPr>
              <a:t>Нужна автономность -&gt; Agent</a:t>
            </a:r>
          </a:p>
          <a:p>
            <a:r>
              <a:rPr sz="2000">
                <a:latin typeface="Calibri"/>
              </a:rPr>
              <a:t>Нужна детерминированность -&gt; Workflow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Calibri"/>
              </a:rPr>
              <a:t>Когда что использовать (часть 2): антипаттерны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Антипаттерн: 'агент на все' -&gt; дорого и нестабильно</a:t>
            </a:r>
          </a:p>
          <a:p>
            <a:r>
              <a:rPr sz="2000">
                <a:latin typeface="Calibri"/>
              </a:rPr>
              <a:t>Антипаттерн: prompt-only в production -&gt; нет контроля</a:t>
            </a:r>
          </a:p>
          <a:p>
            <a:r>
              <a:rPr sz="2000">
                <a:latin typeface="Calibri"/>
              </a:rPr>
              <a:t>Антипаттерн: over-privileged MCP -&gt; риски безопасности</a:t>
            </a:r>
          </a:p>
          <a:p>
            <a:r>
              <a:rPr sz="2000">
                <a:latin typeface="Calibri"/>
              </a:rPr>
              <a:t>Антипаттерн: giant-skill -&gt; сложно поддерживать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Calibri"/>
              </a:rPr>
              <a:t>Кейс 1: Поддержка клиентов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Задача: большой поток обращений</a:t>
            </a:r>
          </a:p>
          <a:p>
            <a:r>
              <a:rPr sz="2000">
                <a:latin typeface="Calibri"/>
              </a:rPr>
              <a:t>Решение: Workflow + Instructions + Skills + MCP</a:t>
            </a:r>
          </a:p>
          <a:p>
            <a:r>
              <a:rPr sz="2000">
                <a:latin typeface="Calibri"/>
              </a:rPr>
              <a:t>Результат: типовые запросы автоматизированы</a:t>
            </a:r>
          </a:p>
          <a:p>
            <a:r>
              <a:rPr sz="2000">
                <a:latin typeface="Calibri"/>
              </a:rPr>
              <a:t>Сложные кейсы эскалируются оператору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Calibri"/>
              </a:rPr>
              <a:t>Кейс 2: AI Code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Эволюция: Prompt -&gt; Instructions/Skills -&gt; CI Workflow</a:t>
            </a:r>
          </a:p>
          <a:p>
            <a:r>
              <a:rPr sz="2000">
                <a:latin typeface="Calibri"/>
              </a:rPr>
              <a:t>Каждый PR получает быстрый структурированный review</a:t>
            </a:r>
          </a:p>
          <a:p>
            <a:r>
              <a:rPr sz="2000">
                <a:latin typeface="Calibri"/>
              </a:rPr>
              <a:t>Критичные находки блокируют merge</a:t>
            </a:r>
          </a:p>
          <a:p>
            <a:r>
              <a:rPr sz="2000">
                <a:latin typeface="Calibri"/>
              </a:rPr>
              <a:t>Стабильный рост качества кода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Calibri"/>
              </a:rPr>
              <a:t>Кейс 3: Аналитика вакансий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Prompt: быстро, но поверхностно</a:t>
            </a:r>
          </a:p>
          <a:p>
            <a:r>
              <a:rPr sz="2000">
                <a:latin typeface="Calibri"/>
              </a:rPr>
              <a:t>Agent + MCP: глубже и актуальнее</a:t>
            </a:r>
          </a:p>
          <a:p>
            <a:r>
              <a:rPr sz="2000">
                <a:latin typeface="Calibri"/>
              </a:rPr>
              <a:t>Workflow: регулярный отчет по расписанию</a:t>
            </a:r>
          </a:p>
          <a:p>
            <a:r>
              <a:rPr sz="2000">
                <a:latin typeface="Calibri"/>
              </a:rPr>
              <a:t>Поэтапная эволюция дает лучший ROI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Calibri"/>
              </a:rPr>
              <a:t>Итоги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Главная мысль: это уровни, а не конкуренты</a:t>
            </a:r>
          </a:p>
          <a:p>
            <a:r>
              <a:rPr sz="2000">
                <a:latin typeface="Calibri"/>
              </a:rPr>
              <a:t>Начинаем с простого, усложняем по необходимости</a:t>
            </a:r>
          </a:p>
          <a:p>
            <a:r>
              <a:rPr sz="2000">
                <a:latin typeface="Calibri"/>
              </a:rPr>
              <a:t>Для продакшена важны контроль и мониторинг</a:t>
            </a:r>
          </a:p>
          <a:p>
            <a:r>
              <a:rPr sz="2000">
                <a:latin typeface="Calibri"/>
              </a:rPr>
              <a:t>Лучший подход: гибридная архитектура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latin typeface="Calibri"/>
              </a:rPr>
              <a:t>Локальная демонстрация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>
                <a:latin typeface="Calibri"/>
              </a:rPr>
              <a:t>Как показать все уровни в VS Code за 20 минут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Calibri"/>
              </a:rPr>
              <a:t>Local Demo: пошаговый сценарий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Шаг 1: Базовый prompt в Copilot чате</a:t>
            </a:r>
          </a:p>
          <a:p>
            <a:r>
              <a:rPr sz="2000">
                <a:latin typeface="Calibri"/>
              </a:rPr>
              <a:t>Шаг 2: Добавляем copilot-instructions.md в .github</a:t>
            </a:r>
          </a:p>
          <a:p>
            <a:r>
              <a:rPr sz="2000">
                <a:latin typeface="Calibri"/>
              </a:rPr>
              <a:t>Шаг 3: Создаём папку .github/skills с двумя skills</a:t>
            </a:r>
          </a:p>
          <a:p>
            <a:r>
              <a:rPr sz="2000">
                <a:latin typeface="Calibri"/>
              </a:rPr>
              <a:t>Шаг 4: Создаём .github/agents/support-agent.agent.md</a:t>
            </a:r>
          </a:p>
          <a:p>
            <a:r>
              <a:rPr sz="2000">
                <a:latin typeface="Calibri"/>
              </a:rPr>
              <a:t>Шаг 5: Показываем workflow-логику как diagram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latin typeface="Calibri"/>
              </a:rPr>
              <a:t>Спасибо!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>
                <a:latin typeface="Calibri"/>
              </a:rPr>
              <a:t>Вопросы и обсуждение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197</TotalTime>
  <Words>5218</Words>
  <Application>Microsoft Office PowerPoint</Application>
  <PresentationFormat>On-screen Show (4:3)</PresentationFormat>
  <Paragraphs>352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Gill Sans MT</vt:lpstr>
      <vt:lpstr>Gallery</vt:lpstr>
      <vt:lpstr>Prompts vs Instructions vs Skills vs MCPs vs Agents vs Workflows</vt:lpstr>
      <vt:lpstr>Лестница сложности</vt:lpstr>
      <vt:lpstr>Prompts</vt:lpstr>
      <vt:lpstr>Instructions</vt:lpstr>
      <vt:lpstr>Skills</vt:lpstr>
      <vt:lpstr>MCPs</vt:lpstr>
      <vt:lpstr>Agents</vt:lpstr>
      <vt:lpstr>Workflows</vt:lpstr>
      <vt:lpstr>Примеры по уровням</vt:lpstr>
      <vt:lpstr>Пример: Prompts</vt:lpstr>
      <vt:lpstr>Пример: Instructions</vt:lpstr>
      <vt:lpstr>Пример: Skills</vt:lpstr>
      <vt:lpstr>Пример: MCP</vt:lpstr>
      <vt:lpstr>Пример: Agents</vt:lpstr>
      <vt:lpstr>Пример: Workflows</vt:lpstr>
      <vt:lpstr>Пример: Антипаттерны</vt:lpstr>
      <vt:lpstr>Сравнение концептов</vt:lpstr>
      <vt:lpstr>Когда что использовать (часть 1)</vt:lpstr>
      <vt:lpstr>Когда что использовать (часть 2): антипаттерны</vt:lpstr>
      <vt:lpstr>Кейс 1: Поддержка клиентов</vt:lpstr>
      <vt:lpstr>Кейс 2: AI Code Review</vt:lpstr>
      <vt:lpstr>Кейс 3: Аналитика вакансий</vt:lpstr>
      <vt:lpstr>Итоги</vt:lpstr>
      <vt:lpstr>Локальная демонстрация</vt:lpstr>
      <vt:lpstr>Local Demo: пошаговый сценарий</vt:lpstr>
      <vt:lpstr>Спасибо!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Maksim Lioshyn</cp:lastModifiedBy>
  <cp:revision>16</cp:revision>
  <dcterms:created xsi:type="dcterms:W3CDTF">2013-01-27T09:14:16Z</dcterms:created>
  <dcterms:modified xsi:type="dcterms:W3CDTF">2026-06-26T14:12:59Z</dcterms:modified>
  <cp:category/>
</cp:coreProperties>
</file>