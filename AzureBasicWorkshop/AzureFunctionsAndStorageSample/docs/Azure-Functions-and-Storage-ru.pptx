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039" autoAdjust="0"/>
  </p:normalViewPr>
  <p:slideViewPr>
    <p:cSldViewPr snapToGrid="0" snapToObjects="1">
      <p:cViewPr varScale="1">
        <p:scale>
          <a:sx n="64" d="100"/>
          <a:sy n="64" d="100"/>
        </p:scale>
        <p:origin x="139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1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Оценка Azure-сервисов для интеграции строится на нескольких критериях. Первый критерий - модель входа: синхронный HTTP-вызов, асинхронное сообщение, расписание или реакция на событие платформы. Второй критерий - профиль нагрузки: постоянная или пиковая. Третий критерий - требования к latency и SLA. Четвертый критерий - эксплуатационная стоимость: насколько сложно сопровождать решение, масштабировать его и наблюдать поведение в production. Правильный выбор сервиса на архитектурном этапе уменьшает технический долг и снижает стоимость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Azure Functions - это serverless-модель вычислений, в которой код запускается по событию. Разработчик работает с триггерами, входными данными и бизнес-логикой, а инфраструктурные задачи масштабирования и управления runtime берет на себя платформа. Такая модель особенно эффективна для интеграционных задач с неравномерным трафиком, где нет смысла держать постоянно активные вычислительные ресурсы.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Создание Function App в Azure Portal включает выбор resource group, региона, runtime stack, hosting plan и storage account. Каждый параметр влияет на свойства решения. Регион влияет на задержку и размещение данных. Runtime определяет язык и модель выполнения. Hosting plan влияет на масштабирование и стоимость. Storage Account является обязательным инфраструктурным компонентом, который используется runtime-ом и триггерами. Поэтому этап создания Function App нужно рассматривать как проектирование платформенного контура, а не как формальное заполнение полей.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Тип триггера определяет модель обработки. HttpTrigger применяется в API-сценариях и webhook-интеграциях. TimerTrigger используется для периодических операций, например nightly-процессов и housekeeping-задач. QueueTrigger применяют для асинхронной обработки и развязки компонентов по времени выполнения. BlobTrigger подходит для автоматической реакции на появление или изменение файлов. Event Grid и Service Bus используются для событийной интеграции между сервисами и enterprise-сценариев с более строгими требованиями к маршрутизации сообщений.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Мониторинг и тестирование Azure Functions в портале строятся вокруг нескольких инструментов: Code + Test, Monitor, Log Stream и Application Insights. Code + Test позволяет быстро проверить корректность функции. Monitor показывает историю запусков и статус выполнения. Log Stream дает поток событий в реальном времени. Application Insights обеспечивает метрики, трассировку и диагностику ошибок. Полноценная эксплуатация требует контроля не только факта выполнения функции, но и ее стабильности, скорости и корректности обработки на реальных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Разработка Azure Functions в Visual Studio дает полноценный инженерный цикл: создание проекта, локальный запуск, отладка через breakpoints, управление зависимостями и интеграция с системой контроля версий. Для качественной архитектуры бизнес-логику рекомендуется выносить из обработчика триггера в отдельные сервисы. Тогда функцию проще тестировать, а код легче поддерживать и расширять.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Azure Storage включает несколько специализированных типов хранения. Blob Storage предназначен для объектных данных: документов, изображений, логов и любых файлов. Queue Storage используется для обмена сообщениями между компонентами и организации асинхронной обработки. Table Storage подходит для простого NoSQL key-value хранения структурированных записей. Azure Files предоставляет файловые шары по SMB/NFS, а Azure Disk используется как блочное хранилище для виртуальных машин. Выбор типа хранения определяется форматом данных и способом доступа к 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Blob Storage access tiers задают экономическую модель хранения. Hot оптимален для часто используемых данных. Cool подходит для менее частых обращений. Cold и Archive применяются для долгого хранения с приоритетом минимальной стоимости. При создании Storage Account также выбирается тип репликации: LRS, ZRS или GRS, что напрямую влияет на отказоустойчивость и доступность. Дополнительно учитываются требования безопасности, приватные endpoints и lifecycle-политики для автоматического управления жизненным циклом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Типовой паттерн хранения данных приложения в Azure выглядит так: входящий файл или контент сохраняется в Blob Storage, рядом фиксируются метаданные, после чего запускается асинхронная обработка через событие или очередь. Такой подход разделяет ответственность между приемом данных, хранением и обработкой. В результате компоненты меньше зависят друг от друга, а система легче масштабируется и лучше переносит пиковую нагрузку.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Использование Storage Account в .NET через Azure SDK строится вокруг клиентских объектов, например BlobServiceClient. Базовые операции включают получение контейнера, загрузку blob, скачивание содержимого, чтение свойств и удаление объекта. Для подключения в учебных и простых сценариях часто применяется connection string. Для production-среды предпочтительнее managed identity и role-based access, что повышает безопасность и упрощает управление секретами.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67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62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32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32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67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29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82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34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362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03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83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15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Azure Functions and Storage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Критерии выбора сервиса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Тип события и нагрузка</a:t>
            </a:r>
          </a:p>
          <a:p>
            <a:pPr>
              <a:defRPr sz="2200"/>
            </a:pPr>
            <a:r>
              <a:t>SLA, latency, стоимость</a:t>
            </a:r>
          </a:p>
          <a:p>
            <a:pPr>
              <a:defRPr sz="2200"/>
            </a:pPr>
            <a:r>
              <a:t>Сложность поддержки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t>Azure Functions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pPr>
              <a:defRPr sz="2600"/>
            </a:pPr>
            <a:r>
              <a:t>Serverless-вычисления</a:t>
            </a:r>
          </a:p>
          <a:p>
            <a:pPr>
              <a:defRPr sz="2200"/>
            </a:pPr>
            <a:r>
              <a:t>Запуск по событию</a:t>
            </a:r>
          </a:p>
          <a:p>
            <a:pPr>
              <a:defRPr sz="2200"/>
            </a:pPr>
            <a:r>
              <a:t>Масштабирование по нагрузке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F6609D-F46D-BA74-B1DA-202E2C44A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69" y="805583"/>
            <a:ext cx="4817325" cy="466076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App в Azure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Resource Group и регион</a:t>
            </a:r>
          </a:p>
          <a:p>
            <a:pPr>
              <a:defRPr sz="2200"/>
            </a:pPr>
            <a:r>
              <a:t>Runtime и hosting plan</a:t>
            </a:r>
          </a:p>
          <a:p>
            <a:pPr>
              <a:defRPr sz="2200"/>
            </a:pPr>
            <a:r>
              <a:t>Storage Account и публикация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триггеры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HTTP, Timer</a:t>
            </a:r>
          </a:p>
          <a:p>
            <a:pPr>
              <a:defRPr sz="2200"/>
            </a:pPr>
            <a:r>
              <a:t>Queue, Blob</a:t>
            </a:r>
          </a:p>
          <a:p>
            <a:pPr>
              <a:defRPr sz="2200"/>
            </a:pPr>
            <a:r>
              <a:t>Event Grid, Service Bus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Мониторинг и тестирование в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Code + Test</a:t>
            </a:r>
          </a:p>
          <a:p>
            <a:pPr>
              <a:defRPr sz="2200"/>
            </a:pPr>
            <a:r>
              <a:t>Monitor и Log Stream</a:t>
            </a:r>
          </a:p>
          <a:p>
            <a:pPr>
              <a:defRPr sz="2200"/>
            </a:pPr>
            <a:r>
              <a:t>Application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Разработка в Visual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rPr dirty="0" err="1"/>
              <a:t>Создание</a:t>
            </a:r>
            <a:r>
              <a:rPr dirty="0"/>
              <a:t> Function-</a:t>
            </a:r>
            <a:r>
              <a:rPr dirty="0" err="1"/>
              <a:t>проекта</a:t>
            </a:r>
            <a:endParaRPr dirty="0"/>
          </a:p>
          <a:p>
            <a:pPr>
              <a:defRPr sz="2200"/>
            </a:pP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и debug</a:t>
            </a:r>
          </a:p>
          <a:p>
            <a:pPr>
              <a:defRPr sz="2200"/>
            </a:pPr>
            <a:r>
              <a:rPr dirty="0" err="1"/>
              <a:t>Тесты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бизнес-логики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t>Azure Storage сервисы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pPr>
              <a:defRPr sz="2600"/>
            </a:pPr>
            <a:r>
              <a:t>Blob - файлы и объекты</a:t>
            </a:r>
          </a:p>
          <a:p>
            <a:pPr>
              <a:defRPr sz="2200"/>
            </a:pPr>
            <a:r>
              <a:t>Queue - сообщения</a:t>
            </a:r>
          </a:p>
          <a:p>
            <a:pPr>
              <a:defRPr sz="2200"/>
            </a:pPr>
            <a:r>
              <a:t>Table - NoSQL key-value</a:t>
            </a:r>
          </a:p>
          <a:p>
            <a:pPr>
              <a:defRPr sz="2200"/>
            </a:pPr>
            <a:r>
              <a:t>Files и Disk - спецсценарии</a:t>
            </a:r>
          </a:p>
        </p:txBody>
      </p:sp>
      <p:pic>
        <p:nvPicPr>
          <p:cNvPr id="2050" name="Picture 2" descr="Curious Cat Worker with Box in Warehouse Stock Illustration - Illustration  of supply, curious: 356447516">
            <a:extLst>
              <a:ext uri="{FF2B5EF4-FFF2-40B4-BE49-F238E27FC236}">
                <a16:creationId xmlns:a16="http://schemas.microsoft.com/office/drawing/2014/main" id="{99D371A1-03C4-6FD9-B660-62CE4B5EE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6492" y="805583"/>
            <a:ext cx="2936280" cy="46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2060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Blob tiers и выбор Storage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Hot, Cool, Cold, Archive</a:t>
            </a:r>
          </a:p>
          <a:p>
            <a:pPr>
              <a:defRPr sz="2200"/>
            </a:pPr>
            <a:r>
              <a:t>LRS, ZRS, GRS</a:t>
            </a:r>
          </a:p>
          <a:p>
            <a:pPr>
              <a:defRPr sz="2200"/>
            </a:pPr>
            <a:r>
              <a:t>Безопасность и lifecycle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Хранение данных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rPr dirty="0" err="1"/>
              <a:t>Паттерн</a:t>
            </a:r>
            <a:r>
              <a:rPr dirty="0"/>
              <a:t> upload to blob</a:t>
            </a:r>
          </a:p>
          <a:p>
            <a:pPr>
              <a:defRPr sz="2200"/>
            </a:pPr>
            <a:r>
              <a:rPr dirty="0" err="1"/>
              <a:t>Метаданные</a:t>
            </a:r>
            <a:r>
              <a:rPr dirty="0"/>
              <a:t> </a:t>
            </a:r>
            <a:r>
              <a:rPr dirty="0" err="1"/>
              <a:t>объекта</a:t>
            </a:r>
            <a:endParaRPr dirty="0"/>
          </a:p>
          <a:p>
            <a:pPr>
              <a:defRPr sz="2200"/>
            </a:pPr>
            <a:r>
              <a:rPr dirty="0" err="1"/>
              <a:t>Асинхронная</a:t>
            </a:r>
            <a:r>
              <a:rPr dirty="0"/>
              <a:t>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события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SDK в 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BlobServiceClient</a:t>
            </a:r>
          </a:p>
          <a:p>
            <a:pPr>
              <a:defRPr sz="2200"/>
            </a:pPr>
            <a:r>
              <a:t>Upload / Download / Properties</a:t>
            </a:r>
          </a:p>
          <a:p>
            <a:pPr>
              <a:defRPr sz="2200"/>
            </a:pPr>
            <a:r>
              <a:t>Connection string или Managed Identity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</TotalTime>
  <Words>863</Words>
  <Application>Microsoft Office PowerPoint</Application>
  <PresentationFormat>Widescreen</PresentationFormat>
  <Paragraphs>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Azure Functions and Storage</vt:lpstr>
      <vt:lpstr>Критерии выбора сервиса</vt:lpstr>
      <vt:lpstr>Azure Functions</vt:lpstr>
      <vt:lpstr>Function App в Azure Portal</vt:lpstr>
      <vt:lpstr>Основные триггеры</vt:lpstr>
      <vt:lpstr>Мониторинг и тестирование в Portal</vt:lpstr>
      <vt:lpstr>Разработка в Visual Studio</vt:lpstr>
      <vt:lpstr>Azure Storage сервисы</vt:lpstr>
      <vt:lpstr>Blob tiers и выбор Storage Account</vt:lpstr>
      <vt:lpstr>Хранение данных приложения</vt:lpstr>
      <vt:lpstr>Storage SDK в .NET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Maksim Lioshyn</cp:lastModifiedBy>
  <cp:revision>7</cp:revision>
  <dcterms:created xsi:type="dcterms:W3CDTF">2013-01-27T09:14:16Z</dcterms:created>
  <dcterms:modified xsi:type="dcterms:W3CDTF">2026-05-08T11:05:32Z</dcterms:modified>
  <cp:category/>
</cp:coreProperties>
</file>