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8D4"/>
                </a:solidFill>
                <a:latin typeface="Segoe UI"/>
              </a:rPr>
              <a:t>Microsoft Azure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8016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Segoe UI"/>
              </a:rPr>
              <a:t>Базы данных в Azure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423160"/>
            <a:ext cx="7616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2606040"/>
            <a:ext cx="1216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CCCCCC"/>
                </a:solidFill>
                <a:latin typeface="Segoe UI"/>
              </a:rPr>
              <a:t>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BCD4"/>
                </a:solidFill>
                <a:latin typeface="Segoe UI"/>
              </a:rPr>
              <a:t>Azure Functions (Serverless)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0360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dirty="0">
                <a:solidFill>
                  <a:srgbClr val="CCCCCC"/>
                </a:solidFill>
                <a:latin typeface="Segoe UI"/>
              </a:rPr>
              <a:t>C# Azure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Содержание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78D4"/>
                </a:solidFill>
                <a:latin typeface="Segoe UI"/>
              </a:rPr>
              <a:t>🗄️  ЧАСТЬ 1 — Базы данных в Azure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7631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Segoe UI"/>
              </a:rPr>
              <a:t>    1.  Azure SQL Database — реляционная, облачная версия SQL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Segoe UI"/>
              </a:rPr>
              <a:t>    2.  Azure Cosmos DB — NoSQL, глобально-распределённая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0428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Segoe UI"/>
              </a:rPr>
              <a:t>    3.  Azure Database for PostgreSQL — управляемый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426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Segoe UI"/>
              </a:rPr>
              <a:t>    4.  Azure Cache for Redis — in-memory хранилище / кэш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1810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CD4"/>
                </a:solidFill>
                <a:latin typeface="Segoe UI"/>
              </a:rPr>
              <a:t>⚡  ЧАСТЬ 2 — Azure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4845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Segoe UI"/>
              </a:rPr>
              <a:t>    5.  Что такое Serverless и Azure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8678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Segoe UI"/>
              </a:rPr>
              <a:t>    6.  Модель выполнения: триггеры, привязки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2511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Segoe UI"/>
              </a:rPr>
              <a:t>    7.  Работа с очередями: Queue, Service Bus, Event Hubs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  <a:latin typeface="Segoe UI"/>
              </a:rPr>
              <a:t>    8.  Best Practices для C# разработчиков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4 ключевые БД в Azure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4552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2651760" cy="5303520"/>
          </a:xfrm>
          <a:prstGeom prst="rect">
            <a:avLst/>
          </a:prstGeom>
          <a:solidFill>
            <a:srgbClr val="2A2A3E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265176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  <a:latin typeface="Segoe UI"/>
              </a:rPr>
              <a:t>🗃️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2468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78D4"/>
                </a:solidFill>
                <a:latin typeface="Segoe UI"/>
              </a:rPr>
              <a:t>Azure SQL
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  <a:latin typeface="Segoe UI"/>
              </a:rPr>
              <a:t>Реляционная
PaaS / SQL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91840"/>
            <a:ext cx="2286000" cy="3657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340156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• OLTP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72160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• Отчётность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04164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• ERP/CRM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36168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• Транзакции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9272" y="960120"/>
            <a:ext cx="2651760" cy="5303520"/>
          </a:xfrm>
          <a:prstGeom prst="rect">
            <a:avLst/>
          </a:prstGeom>
          <a:solidFill>
            <a:srgbClr val="2A2A3E"/>
          </a:solidFill>
          <a:ln w="2540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19272" y="960120"/>
            <a:ext cx="2651760" cy="109728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9272" y="10972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1920240"/>
            <a:ext cx="2468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9B59B6"/>
                </a:solidFill>
                <a:latin typeface="Segoe UI"/>
              </a:rPr>
              <a:t>Azure
Cosmos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265176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  <a:latin typeface="Segoe UI"/>
              </a:rPr>
              <a:t>NoSQL
Мульти-модель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2152" y="3291840"/>
            <a:ext cx="2286000" cy="36576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83864" y="340156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• IoT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3864" y="372160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• Каталоги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3864" y="404164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• Рекомендации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83864" y="436168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• Глобальный SLA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72784" y="960120"/>
            <a:ext cx="2651760" cy="5303520"/>
          </a:xfrm>
          <a:prstGeom prst="rect">
            <a:avLst/>
          </a:prstGeom>
          <a:solidFill>
            <a:srgbClr val="2A2A3E"/>
          </a:solidFill>
          <a:ln w="254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72784" y="960120"/>
            <a:ext cx="2651760" cy="109728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72784" y="10972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  <a:latin typeface="Segoe UI"/>
              </a:rPr>
              <a:t>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1920240"/>
            <a:ext cx="2468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CC71"/>
                </a:solidFill>
                <a:latin typeface="Segoe UI"/>
              </a:rPr>
              <a:t>Azure DB for
PostgreSQL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265176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  <a:latin typeface="Segoe UI"/>
              </a:rPr>
              <a:t>Open-source
Реляционная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3291840"/>
            <a:ext cx="2286000" cy="36576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37376" y="340156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• Open-source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372160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• Geo/JSON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404164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• Django/EF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436168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• Аналитика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26296" y="960120"/>
            <a:ext cx="2651760" cy="5303520"/>
          </a:xfrm>
          <a:prstGeom prst="rect">
            <a:avLst/>
          </a:prstGeom>
          <a:solidFill>
            <a:srgbClr val="2A2A3E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26296" y="960120"/>
            <a:ext cx="2651760" cy="1097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26296" y="10972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17736" y="1920240"/>
            <a:ext cx="2468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6B35"/>
                </a:solidFill>
                <a:latin typeface="Segoe UI"/>
              </a:rPr>
              <a:t>Azure Cache
for Redis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17736" y="265176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  <a:latin typeface="Segoe UI"/>
              </a:rPr>
              <a:t>In-Memory
Кэш / очереди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09176" y="3291840"/>
            <a:ext cx="2286000" cy="3657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90888" y="340156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• Кэш сессий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90888" y="372160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• Pub/Sub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90888" y="404164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• Лидерборды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90888" y="436168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• Очереди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🗃️  Azure SQL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566160" cy="5440680"/>
          </a:xfrm>
          <a:prstGeom prst="rect">
            <a:avLst/>
          </a:prstGeom>
          <a:solidFill>
            <a:srgbClr val="2A2A3E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Segoe UI"/>
              </a:rPr>
              <a:t>🔍 Особенности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35608"/>
            <a:ext cx="3566160" cy="3657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508760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Управляемый SQL Server в облаке (PaaS)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4708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Полный T-SQL, хранимые процедуры, триггеры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185416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Встроенный HA: Geo-replication, Auto-failover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523744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Elastic Pool — экономия при множестве БД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862072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Serverless tier — автопауза при неактивности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200400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Built-in security: TDE, Always Encrypted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53872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Автоматическое резервное копирование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877056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Поддержка точечного восстановления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1005840"/>
            <a:ext cx="2468880" cy="2606040"/>
          </a:xfrm>
          <a:prstGeom prst="rect">
            <a:avLst/>
          </a:prstGeom>
          <a:solidFill>
            <a:srgbClr val="2A2A3E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0" y="10515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Segoe UI"/>
              </a:rPr>
              <a:t>✅ Плюсы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1435608"/>
            <a:ext cx="2468880" cy="36576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33087" y="150876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Полная совместимость с SQL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18653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Entity Framework Core «из коробки»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7" y="222199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SLA 99.99%, зональная избыточность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7" y="25786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Богатый инструментарий (SSMS, Azure Data Studio)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7" y="293522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Знакомый T-SQL для большинства .NET разработчиков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005840"/>
            <a:ext cx="2468880" cy="2606040"/>
          </a:xfrm>
          <a:prstGeom prst="rect">
            <a:avLst/>
          </a:prstGeom>
          <a:solidFill>
            <a:srgbClr val="2A2A3E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0" y="10515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Segoe UI"/>
              </a:rPr>
              <a:t>❌ Минусы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1435608"/>
            <a:ext cx="2468880" cy="36576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84848" y="150876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Стоимость выше NoSQL решений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18653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Горизонтальное масштабирование сложнее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222199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Sharding требует ручной настройки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25786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Нет гибкой схемы данных (schema-first)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1005840"/>
            <a:ext cx="2606040" cy="2606040"/>
          </a:xfrm>
          <a:prstGeom prst="rect">
            <a:avLst/>
          </a:prstGeom>
          <a:solidFill>
            <a:srgbClr val="2A2A3E"/>
          </a:solidFill>
          <a:ln w="1905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18320" y="10515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Segoe UI"/>
              </a:rPr>
              <a:t>🕐 Когда применять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1435608"/>
            <a:ext cx="2606040" cy="36576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36608" y="15087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OLTP приложения (ERP, CRM)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186537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Финансовые транзакции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36608" y="222199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Сложные JOIN и отчёты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8" y="257860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Миграция с SQL Server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36608" y="293522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Команда знает T-SQL/EF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94760"/>
            <a:ext cx="11658600" cy="2651760"/>
          </a:xfrm>
          <a:prstGeom prst="rect">
            <a:avLst/>
          </a:prstGeom>
          <a:solidFill>
            <a:srgbClr val="2A2A3E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38404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CD4"/>
                </a:solidFill>
                <a:latin typeface="Segoe UI"/>
              </a:rPr>
              <a:t>💻 C# / .NET — как работать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224528"/>
            <a:ext cx="11658600" cy="36576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" y="4297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Microsoft.Data.SqlClient — низкоуровневый ADO.NET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4297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Microsoft.EntityFrameworkCore.SqlServer — 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2440" y="4297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Dapper — легковесный micro-ORM поверх ADO.NET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4663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Используйте connection pooling (по умолчанию включён)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4663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Async методы: SaveChangesAsync, ToListAsync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92440" y="4663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ConnectionString храните в Azure Key Vault / App Settings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🌐  Azure Cosmos DB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566160" cy="5440680"/>
          </a:xfrm>
          <a:prstGeom prst="rect">
            <a:avLst/>
          </a:prstGeom>
          <a:solidFill>
            <a:srgbClr val="2A2A3E"/>
          </a:solidFill>
          <a:ln w="1905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  <a:latin typeface="Segoe UI"/>
              </a:rPr>
              <a:t>🔍 Особенности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35608"/>
            <a:ext cx="3566160" cy="36576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508760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Мульти-модель: Document, Key-Value, Graph, 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4708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SQL API, MongoDB API, Cassandra API, Gremlin,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185416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Глобальная репликация в несколько регионов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523744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Настраиваемые уровни согласованности (5 моделей)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862072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SLA: 99.999% доступность для мульти-региона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200400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Автоматическое индексирование всех полей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53872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Serverless и Autoscale режимы тарификации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877056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Change Feed — поток изменений в реальном времени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1005840"/>
            <a:ext cx="2468880" cy="2606040"/>
          </a:xfrm>
          <a:prstGeom prst="rect">
            <a:avLst/>
          </a:prstGeom>
          <a:solidFill>
            <a:srgbClr val="2A2A3E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0" y="10515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Segoe UI"/>
              </a:rPr>
              <a:t>✅ Плюсы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1435608"/>
            <a:ext cx="2468880" cy="36576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33087" y="150876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Горизонтальное масштабирование «из коробки»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18653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Гибкая JSON-схема, нет миграций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7" y="222199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Глобальная латентность &lt; 10 мс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7" y="25786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Multiple API — переезд с MongoDB прост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7" y="293522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Глубокая интеграция с Azure Functions (Change Feed trigger)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005840"/>
            <a:ext cx="2468880" cy="2606040"/>
          </a:xfrm>
          <a:prstGeom prst="rect">
            <a:avLst/>
          </a:prstGeom>
          <a:solidFill>
            <a:srgbClr val="2A2A3E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0" y="10515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Segoe UI"/>
              </a:rPr>
              <a:t>❌ Минусы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1435608"/>
            <a:ext cx="2468880" cy="36576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84848" y="150876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Дорогостоящий при высоком RU потреблении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18653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Ограниченные JOIN и агрегации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222199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Partition key важно выбрать правильно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25786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Strong consistency снижает производительность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293522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Нет полноценных транзакций (только в рамках партиции)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1005840"/>
            <a:ext cx="2606040" cy="2606040"/>
          </a:xfrm>
          <a:prstGeom prst="rect">
            <a:avLst/>
          </a:prstGeom>
          <a:solidFill>
            <a:srgbClr val="2A2A3E"/>
          </a:solidFill>
          <a:ln w="1905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18320" y="10515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Segoe UI"/>
              </a:rPr>
              <a:t>🕐 Когда применять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1435608"/>
            <a:ext cx="2606040" cy="36576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36608" y="15087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IoT данные / телеметрия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36608" y="186537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Каталоги товаров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8" y="222199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Профили пользователей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36608" y="257860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Рекомендательные системы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36608" y="293522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Глобальные SLA-требования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794760"/>
            <a:ext cx="11658600" cy="2651760"/>
          </a:xfrm>
          <a:prstGeom prst="rect">
            <a:avLst/>
          </a:prstGeom>
          <a:solidFill>
            <a:srgbClr val="2A2A3E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38404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CD4"/>
                </a:solidFill>
                <a:latin typeface="Segoe UI"/>
              </a:rPr>
              <a:t>💻 C# / .NET — как работать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224528"/>
            <a:ext cx="11658600" cy="36576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4297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Azure.Cosmos NuGet — официальный SDK v3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4297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CosmosClient — singleton, используйте DI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4297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container.UpsertItemAsync&lt;T&gt; — создание/обновление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4663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LINQ-запросы: container.GetItemLinqQueryable&lt;T&gt;()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4663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Change Feed Processor — подпишитесь на изменения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4663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PartitionKey — обязательно при операциях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🐘  Azure Database for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566160" cy="5440680"/>
          </a:xfrm>
          <a:prstGeom prst="rect">
            <a:avLst/>
          </a:prstGeom>
          <a:solidFill>
            <a:srgbClr val="2A2A3E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Segoe UI"/>
              </a:rPr>
              <a:t>🔍 Особенности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35608"/>
            <a:ext cx="3566160" cy="36576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508760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Управляемый PostgreSQL (Flexible Server — актуально)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4708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Полная совместимость с PostgreSQL 14/15/16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185416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Поддержка расширений: PostGIS, pgvector, pg_trgm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523744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JSON и JSONB колонки для гибридных 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862072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Встроенная репликация и Point-in-Time Restore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200400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Compute + Storage масштабируются независимо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53872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High Availability с Zonal или Geo-redundancy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877056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pgvector: хранение векторных эмбеддингов (AI/ML)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1005840"/>
            <a:ext cx="2468880" cy="2606040"/>
          </a:xfrm>
          <a:prstGeom prst="rect">
            <a:avLst/>
          </a:prstGeom>
          <a:solidFill>
            <a:srgbClr val="2A2A3E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0" y="10515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Segoe UI"/>
              </a:rPr>
              <a:t>✅ Плюсы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1435608"/>
            <a:ext cx="2468880" cy="36576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33087" y="150876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Открытый исходный код, нет vendor lock-in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18653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Богатый SQL + оконные функции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7" y="222199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Поддержка JSON/XML/массивов в колонках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7" y="25786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Низкая стоимость по сравнению с SQL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7" y="293522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Отлично подходит для EF Core Migrations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005840"/>
            <a:ext cx="2468880" cy="2606040"/>
          </a:xfrm>
          <a:prstGeom prst="rect">
            <a:avLst/>
          </a:prstGeom>
          <a:solidFill>
            <a:srgbClr val="2A2A3E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0" y="10515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Segoe UI"/>
              </a:rPr>
              <a:t>❌ Минусы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1435608"/>
            <a:ext cx="2468880" cy="36576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84848" y="150876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Меньше Azure-native интеграций чем у SQL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18653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T-SQL код не совместим (нужен рефакторинг)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222199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Горизонтальное масштабирование: только через Citus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25786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Managed service: меньше гибкости чем self-hosted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1005840"/>
            <a:ext cx="2606040" cy="2606040"/>
          </a:xfrm>
          <a:prstGeom prst="rect">
            <a:avLst/>
          </a:prstGeom>
          <a:solidFill>
            <a:srgbClr val="2A2A3E"/>
          </a:solidFill>
          <a:ln w="1905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18320" y="10515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Segoe UI"/>
              </a:rPr>
              <a:t>🕐 Когда применять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1435608"/>
            <a:ext cx="2606040" cy="36576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36608" y="15087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Open-source стек (.NET + PG)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186537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Геопространственные данные (PostGIS)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36608" y="222199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AI features (векторный поиск)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8" y="257860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Аналитика с оконными функц.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36608" y="293522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Замена MySQL/MariaDB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94760"/>
            <a:ext cx="11658600" cy="2651760"/>
          </a:xfrm>
          <a:prstGeom prst="rect">
            <a:avLst/>
          </a:prstGeom>
          <a:solidFill>
            <a:srgbClr val="2A2A3E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38404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CD4"/>
                </a:solidFill>
                <a:latin typeface="Segoe UI"/>
              </a:rPr>
              <a:t>💻 C# / .NET — как работать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224528"/>
            <a:ext cx="11658600" cy="36576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" y="4297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Npgsql — основной ADO.NET провайдер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4297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Npgsql.EntityFrameworkCore.PostgreSQL — EF Core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2440" y="4297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UseNpgsql() в DbContext OnConfiguring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4663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NodaTime поддержка через Npgsql.NodaTime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4663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Pgvector: Npgsql.EntityFrameworkCore.PostgreSQL.Vector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92440" y="4663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Async I/O: все операции async/await совместимы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⚡  Azure Cache for Redis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566160" cy="5440680"/>
          </a:xfrm>
          <a:prstGeom prst="rect">
            <a:avLst/>
          </a:prstGeom>
          <a:solidFill>
            <a:srgbClr val="2A2A3E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Segoe UI"/>
              </a:rPr>
              <a:t>🔍 Особенности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35608"/>
            <a:ext cx="3566160" cy="3657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508760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In-memory хранилище: строки, хэши, списки, sets, sorted 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4708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Streams — очередь сообщений сохранением истории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185416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Pub/Sub — мгновенная рассылка без хранения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523744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Persistence: RDB снэпшоты + AOF лог (Premium/Ent.)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862072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Redis Sentinel / Cluster — HA и горизонтальное масштаб.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200400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Встроенный TTL для автоматического истечения ключей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53872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Redis Search — полнотекстовый поиск (Enterprise)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877056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Geo-replication (Premium и Enterprise тиры)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1005840"/>
            <a:ext cx="2468880" cy="2606040"/>
          </a:xfrm>
          <a:prstGeom prst="rect">
            <a:avLst/>
          </a:prstGeom>
          <a:solidFill>
            <a:srgbClr val="2A2A3E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0" y="10515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Segoe UI"/>
              </a:rPr>
              <a:t>✅ Плюсы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1435608"/>
            <a:ext cx="2468880" cy="36576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33087" y="150876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Задержка &lt; 1 мс — быстрее любой БД в этом списке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18653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Снижает нагрузку на SQL/Cosmos DB на 80%+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7" y="222199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Универсальность: кэш, очередь, сессии, лидерборды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7" y="25786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Простой API, легко интегрируется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7" y="293522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Поддержка Lua-скриптов для атомарных операций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005840"/>
            <a:ext cx="2468880" cy="2606040"/>
          </a:xfrm>
          <a:prstGeom prst="rect">
            <a:avLst/>
          </a:prstGeom>
          <a:solidFill>
            <a:srgbClr val="2A2A3E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0" y="10515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Segoe UI"/>
              </a:rPr>
              <a:t>❌ Минусы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1435608"/>
            <a:ext cx="2468880" cy="36576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84848" y="150876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Данные в памяти — дороже хранилище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18653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Не основная БД — дополняет другие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222199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Persistence на Basic/Standard ограничена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25786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Объём данных ограничен RAM сервера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293522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Нет сложных запросов (только ключ → значение)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1005840"/>
            <a:ext cx="2606040" cy="2606040"/>
          </a:xfrm>
          <a:prstGeom prst="rect">
            <a:avLst/>
          </a:prstGeom>
          <a:solidFill>
            <a:srgbClr val="2A2A3E"/>
          </a:solidFill>
          <a:ln w="1905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18320" y="10515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Segoe UI"/>
              </a:rPr>
              <a:t>🕐 Когда применять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1435608"/>
            <a:ext cx="2606040" cy="36576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36608" y="150876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Кэш результатов запросов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36608" y="186537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Хранение HTTP-сессий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8" y="222199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Rate limiting / throttling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36608" y="257860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Лидерборды (Sorted Set)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36608" y="293522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Pub/Sub уведомления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794760"/>
            <a:ext cx="11658600" cy="2651760"/>
          </a:xfrm>
          <a:prstGeom prst="rect">
            <a:avLst/>
          </a:prstGeom>
          <a:solidFill>
            <a:srgbClr val="2A2A3E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38404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CD4"/>
                </a:solidFill>
                <a:latin typeface="Segoe UI"/>
              </a:rPr>
              <a:t>💻 C# / .NET — как работать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224528"/>
            <a:ext cx="11658600" cy="36576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4297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StackExchange.Redis — стандартный .NET клиент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4297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IConnectionMultiplexer — singleton через DI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4297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IDistributedCache — абстракция ASP.NET Core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4663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'await db.StringSetAsync(key, value, TimeSpan.FromMinutes(5))'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4663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Output Cache (.NET 8): services.AddOutputCache()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4663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▸  Session storage: services.AddStackExchangeRedisCache()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Сравнение: когда какую БД выбрать?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3000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2523744" cy="4114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50976"/>
            <a:ext cx="243230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Критерий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914400"/>
            <a:ext cx="2066543" cy="4114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359" y="950976"/>
            <a:ext cx="197510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Azure SQL 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59" y="914400"/>
            <a:ext cx="2066543" cy="41148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83479" y="950976"/>
            <a:ext cx="197510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Cosmos 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79" y="914400"/>
            <a:ext cx="2066543" cy="41148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86599" y="950976"/>
            <a:ext cx="197510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PostgreSQL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914400"/>
            <a:ext cx="2066543" cy="4114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9720" y="950976"/>
            <a:ext cx="197510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Redis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25880"/>
            <a:ext cx="252374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" y="1371600"/>
            <a:ext cx="2377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Модель данных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39" y="1325880"/>
            <a:ext cx="2066543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07791" y="1371600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8D4"/>
                </a:solidFill>
                <a:latin typeface="Segoe UI"/>
              </a:rPr>
              <a:t>Реляционная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59" y="1325880"/>
            <a:ext cx="2066543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10912" y="1371600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B59B6"/>
                </a:solidFill>
                <a:latin typeface="Segoe UI"/>
              </a:rPr>
              <a:t>Мульти-модель (JSON…)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79" y="1325880"/>
            <a:ext cx="2066543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14031" y="1371600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  <a:latin typeface="Segoe UI"/>
              </a:rPr>
              <a:t>Реляционная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325880"/>
            <a:ext cx="2066543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17152" y="1371600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Segoe UI"/>
              </a:rPr>
              <a:t>Key-Value / Streams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1947672"/>
            <a:ext cx="2523744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1993391"/>
            <a:ext cx="2377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Запросы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39" y="1947672"/>
            <a:ext cx="2066543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07791" y="1993391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8D4"/>
                </a:solidFill>
                <a:latin typeface="Segoe UI"/>
              </a:rPr>
              <a:t>T-SQL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59" y="1947672"/>
            <a:ext cx="2066543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10912" y="1993391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B59B6"/>
                </a:solidFill>
                <a:latin typeface="Segoe UI"/>
              </a:rPr>
              <a:t>SQL API / Gremlin…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79" y="1947672"/>
            <a:ext cx="2066543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14031" y="1993391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  <a:latin typeface="Segoe UI"/>
              </a:rPr>
              <a:t>SQL / PL/pgSQL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1947672"/>
            <a:ext cx="2066543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17152" y="1993391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Segoe UI"/>
              </a:rPr>
              <a:t>Команды Redis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569464"/>
            <a:ext cx="252374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7472" y="2615184"/>
            <a:ext cx="2377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Масштабируемость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39" y="2569464"/>
            <a:ext cx="2066543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07791" y="2615184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8D4"/>
                </a:solidFill>
                <a:latin typeface="Segoe UI"/>
              </a:rPr>
              <a:t>Вертикальная + read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59" y="2569464"/>
            <a:ext cx="2066543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10912" y="2615184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B59B6"/>
                </a:solidFill>
                <a:latin typeface="Segoe UI"/>
              </a:rPr>
              <a:t>Горизонтальная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0879" y="2569464"/>
            <a:ext cx="2066543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14031" y="2615184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  <a:latin typeface="Segoe UI"/>
              </a:rPr>
              <a:t>Вертикальная + read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2569464"/>
            <a:ext cx="2066543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17152" y="2615184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Segoe UI"/>
              </a:rPr>
              <a:t>Горизонтальная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191256"/>
            <a:ext cx="2523744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7472" y="3236976"/>
            <a:ext cx="2377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Транзакции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39" y="3191256"/>
            <a:ext cx="2066543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07791" y="3236976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8D4"/>
                </a:solidFill>
                <a:latin typeface="Segoe UI"/>
              </a:rPr>
              <a:t>Полный ACID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59" y="3191256"/>
            <a:ext cx="2066543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10912" y="3236976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B59B6"/>
                </a:solidFill>
                <a:latin typeface="Segoe UI"/>
              </a:rPr>
              <a:t>Ограниченный ACID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0879" y="3191256"/>
            <a:ext cx="2066543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114031" y="3236976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  <a:latin typeface="Segoe UI"/>
              </a:rPr>
              <a:t>Полный ACID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3191256"/>
            <a:ext cx="2066543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217152" y="3236976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Segoe UI"/>
              </a:rPr>
              <a:t>Lua-скрипты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813048"/>
            <a:ext cx="252374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47472" y="3858768"/>
            <a:ext cx="2377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Глобальное реплицирование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34639" y="3813048"/>
            <a:ext cx="2066543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907791" y="3858768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8D4"/>
                </a:solidFill>
                <a:latin typeface="Segoe UI"/>
              </a:rPr>
              <a:t>Geo-replication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37759" y="3813048"/>
            <a:ext cx="2066543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10912" y="3858768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B59B6"/>
                </a:solidFill>
                <a:latin typeface="Segoe UI"/>
              </a:rPr>
              <a:t>Встроено (мульти-регион)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40879" y="3813048"/>
            <a:ext cx="2066543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114031" y="3858768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  <a:latin typeface="Segoe UI"/>
              </a:rPr>
              <a:t>Citus / Flex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0" y="3813048"/>
            <a:ext cx="2066543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217152" y="3858768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Segoe UI"/>
              </a:rPr>
              <a:t>Geo-replication (Prem)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434840"/>
            <a:ext cx="2523744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47472" y="4480560"/>
            <a:ext cx="2377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Типичный use-case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34639" y="4434840"/>
            <a:ext cx="2066543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907791" y="4480560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8D4"/>
                </a:solidFill>
                <a:latin typeface="Segoe UI"/>
              </a:rPr>
              <a:t>ERP, CRM, OLTP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37759" y="4434840"/>
            <a:ext cx="2066543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010912" y="4480560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B59B6"/>
                </a:solidFill>
                <a:latin typeface="Segoe UI"/>
              </a:rPr>
              <a:t>IoT, каталоги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40879" y="4434840"/>
            <a:ext cx="2066543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114031" y="4480560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  <a:latin typeface="Segoe UI"/>
              </a:rPr>
              <a:t>Open-source workloads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0" y="4434840"/>
            <a:ext cx="2066543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217152" y="4480560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Segoe UI"/>
              </a:rPr>
              <a:t>Кэш, сессии, Pub/Sub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5056632"/>
            <a:ext cx="252374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47472" y="5102352"/>
            <a:ext cx="23774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NuGet пакет (C#)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834639" y="5056632"/>
            <a:ext cx="2066543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907791" y="5102352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8D4"/>
                </a:solidFill>
                <a:latin typeface="Segoe UI"/>
              </a:rPr>
              <a:t>Microsoft.Data.SqlClient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37759" y="5056632"/>
            <a:ext cx="2066543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010912" y="5102352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B59B6"/>
                </a:solidFill>
                <a:latin typeface="Segoe UI"/>
              </a:rPr>
              <a:t>Azure.Cosmos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40879" y="5056632"/>
            <a:ext cx="2066543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114031" y="5102352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  <a:latin typeface="Segoe UI"/>
              </a:rPr>
              <a:t>Npgsql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144000" y="5056632"/>
            <a:ext cx="2066543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217152" y="5102352"/>
            <a:ext cx="19202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Segoe UI"/>
              </a:rPr>
              <a:t>StackExchange.Redis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645920" cy="1645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373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Azure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7432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CCCCCC"/>
                </a:solidFill>
                <a:latin typeface="Segoe UI"/>
              </a:rPr>
              <a:t>Serverless Computing в Azure — Часть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645920" cy="1645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373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Azure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7432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CCCCCC"/>
                </a:solidFill>
                <a:latin typeface="Segoe UI"/>
              </a:rPr>
              <a:t>Serverless — пишешь код, платишь только за выполнение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▸  Serverless = нет серверов для управления — только код и конфигурация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159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▸  Модель оплаты: за вызовы (первые 1 млн — бесплатно) + за GB·с потребления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0001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▸  Автоматическое масштабирование от 0 до N экземпляров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8406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▸  Поддержка C# (.NET 8 Isolated / In-Process), Java, Python, JS/TS, PowerShell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6811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▸  Интеграция с большинством сервисов Azure через привязки (Bindings)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Анатомия Azure Function (C# .NET 8 Isolated)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7040880" cy="5394960"/>
          </a:xfrm>
          <a:prstGeom prst="rect">
            <a:avLst/>
          </a:prstGeom>
          <a:solidFill>
            <a:srgbClr val="12121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005840"/>
            <a:ext cx="6858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ED4DA"/>
                </a:solidFill>
                <a:latin typeface="Cascadia Code"/>
              </a:rPr>
              <a:t>[Function("ProcessOrder")]
public async Task&lt;HttpResponseData&gt; Run(
    [HttpTrigger(AuthorizationLevel.Function,
        "post", Route = "orders")] HttpRequestData req,
    [CosmosDBInput("shop", "orders",
        Connection = "CosmosDBConnection")] IEnumerable&lt;Order&gt; existing,
    FunctionContext context)
{
    var logger = context.GetLogger&lt;ProcessOrderFunction&gt;();
    var body   = await req.ReadFromJsonAsync&lt;OrderDto&gt;();
    logger.LogInformation("New order: {Id}", body!.Id);
    var response = req.CreateResponse(HttpStatusCode.OK);
    await response.WriteAsJsonAsync(new { status = "accepted" });
    return response;
}</a:t>
            </a:r>
          </a:p>
        </p:txBody>
      </p:sp>
      <p:sp>
        <p:nvSpPr>
          <p:cNvPr id="8" name="Rectangle 7"/>
          <p:cNvSpPr/>
          <p:nvPr/>
        </p:nvSpPr>
        <p:spPr>
          <a:xfrm>
            <a:off x="7543800" y="1005840"/>
            <a:ext cx="164592" cy="2926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1005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Function name — имя вашей функции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1755648"/>
            <a:ext cx="164592" cy="29260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7556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Trigger — источник событий (HTTP, Queue, Timer…)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505456"/>
            <a:ext cx="164592" cy="292608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250545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Input binding — данные доставляются автоматически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3255263"/>
            <a:ext cx="164592" cy="292608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3255263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FunctionContext — DI, логгер, cancellation token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4005072"/>
            <a:ext cx="164592" cy="292608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0" y="40050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Output binding — запись результата без явного кода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4754880"/>
            <a:ext cx="164592" cy="29260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47548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.NET 8 Isolated: полный контроль DI и middleware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Триггеры Azure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3000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2834640" cy="2011680"/>
          </a:xfrm>
          <a:prstGeom prst="rect">
            <a:avLst/>
          </a:prstGeom>
          <a:solidFill>
            <a:srgbClr val="2A2A3E"/>
          </a:solidFill>
          <a:ln w="2286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2834640" cy="914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04241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  <a:latin typeface="Segoe UI"/>
              </a:rPr>
              <a:t>🌐 HTTP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44752"/>
            <a:ext cx="26517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scadia Code"/>
              </a:rPr>
              <a:t>Событие: входящий HTTP запрос
Пример: REST API, webhook
[HttpTrigger(AuthorizationLevel.Function)]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914400"/>
            <a:ext cx="2834640" cy="2011680"/>
          </a:xfrm>
          <a:prstGeom prst="rect">
            <a:avLst/>
          </a:prstGeom>
          <a:solidFill>
            <a:srgbClr val="2A2A3E"/>
          </a:solidFill>
          <a:ln w="2286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120" y="914400"/>
            <a:ext cx="2834640" cy="9144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104241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CD4"/>
                </a:solidFill>
                <a:latin typeface="Segoe UI"/>
              </a:rPr>
              <a:t>⏱️ Timer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444752"/>
            <a:ext cx="26517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scadia Code"/>
              </a:rPr>
              <a:t>Событие: расписание CRON
Пример: ежедневные отчёты
[TimerTrigger("0 */5 * * * *")]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14400"/>
            <a:ext cx="2834640" cy="2011680"/>
          </a:xfrm>
          <a:prstGeom prst="rect">
            <a:avLst/>
          </a:prstGeom>
          <a:solidFill>
            <a:srgbClr val="2A2A3E"/>
          </a:solidFill>
          <a:ln w="2286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2834640" cy="9144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59" y="104241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Segoe UI"/>
              </a:rPr>
              <a:t>📨 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444752"/>
            <a:ext cx="26517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scadia Code"/>
              </a:rPr>
              <a:t>Событие: сообщение в Azure Queue
Пример: фоновая обработка заказа
[QueueTrigger("orders-queue")]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914400"/>
            <a:ext cx="2834640" cy="2011680"/>
          </a:xfrm>
          <a:prstGeom prst="rect">
            <a:avLst/>
          </a:prstGeom>
          <a:solidFill>
            <a:srgbClr val="2A2A3E"/>
          </a:solidFill>
          <a:ln w="2286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914400"/>
            <a:ext cx="2834640" cy="914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1160" y="104241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  <a:latin typeface="Segoe UI"/>
              </a:rPr>
              <a:t>🚌 Service Bus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444752"/>
            <a:ext cx="26517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scadia Code"/>
              </a:rPr>
              <a:t>Событие: сообщение в SB Queue/Topic
Пример: надёжная очередь задач
[ServiceBusTrigger("orders", ...)]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090672"/>
            <a:ext cx="2834640" cy="2011680"/>
          </a:xfrm>
          <a:prstGeom prst="rect">
            <a:avLst/>
          </a:prstGeom>
          <a:solidFill>
            <a:srgbClr val="2A2A3E"/>
          </a:solidFill>
          <a:ln w="2286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3090672"/>
            <a:ext cx="2834640" cy="9144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321868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  <a:latin typeface="Segoe UI"/>
              </a:rPr>
              <a:t>📡 Event 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621024"/>
            <a:ext cx="26517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scadia Code"/>
              </a:rPr>
              <a:t>Событие: поток событий (IoT, logs)
Пример: телеметрия устройств
[EventHubTrigger("telemetry", ...)]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3090672"/>
            <a:ext cx="2834640" cy="2011680"/>
          </a:xfrm>
          <a:prstGeom prst="rect">
            <a:avLst/>
          </a:prstGeom>
          <a:solidFill>
            <a:srgbClr val="2A2A3E"/>
          </a:solidFill>
          <a:ln w="2286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46120" y="3090672"/>
            <a:ext cx="2834640" cy="91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37560" y="321868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Segoe UI"/>
              </a:rPr>
              <a:t>📁 Blob 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621024"/>
            <a:ext cx="26517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scadia Code"/>
              </a:rPr>
              <a:t>Событие: загрузка файла в контейнер
Пример: обработка изображений
[BlobTrigger("images/{name}")]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090672"/>
            <a:ext cx="2834640" cy="2011680"/>
          </a:xfrm>
          <a:prstGeom prst="rect">
            <a:avLst/>
          </a:prstGeom>
          <a:solidFill>
            <a:srgbClr val="2A2A3E"/>
          </a:solidFill>
          <a:ln w="2286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3090672"/>
            <a:ext cx="2834640" cy="914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59" y="321868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Segoe UI"/>
              </a:rPr>
              <a:t>🌍 Cosmos 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3621024"/>
            <a:ext cx="26517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scadia Code"/>
              </a:rPr>
              <a:t>Событие: новая/изменённая запись в БД
Пример: реакция на изменения
[CosmosDBTrigger("shop", "orders")]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3090672"/>
            <a:ext cx="2834640" cy="2011680"/>
          </a:xfrm>
          <a:prstGeom prst="rect">
            <a:avLst/>
          </a:prstGeom>
          <a:solidFill>
            <a:srgbClr val="2A2A3E"/>
          </a:solidFill>
          <a:ln w="2286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89720" y="3090672"/>
            <a:ext cx="2834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81160" y="321868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CCCC"/>
                </a:solidFill>
                <a:latin typeface="Segoe UI"/>
              </a:rPr>
              <a:t>📅 Event Grid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3621024"/>
            <a:ext cx="26517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scadia Code"/>
              </a:rPr>
              <a:t>Событие: событие из любого источника Azure
Пример: VM создана → уведомление
[EventGridTrigger]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Привязки (Bindings) — магия Azure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3000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286000" cy="1371600"/>
          </a:xfrm>
          <a:prstGeom prst="rect">
            <a:avLst/>
          </a:prstGeom>
          <a:solidFill>
            <a:srgbClr val="2A2A3E"/>
          </a:solidFill>
          <a:ln w="254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  <a:latin typeface="Segoe UI"/>
              </a:rPr>
              <a:t>Input Bindings
(входные)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188720"/>
            <a:ext cx="2743200" cy="10058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1234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⚡ FUNCTION
(ваш C# код)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05840"/>
            <a:ext cx="2286000" cy="1371600"/>
          </a:xfrm>
          <a:prstGeom prst="rect">
            <a:avLst/>
          </a:prstGeom>
          <a:solidFill>
            <a:srgbClr val="2A2A3E"/>
          </a:solidFill>
          <a:ln w="2540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10972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B59B6"/>
                </a:solidFill>
                <a:latin typeface="Segoe UI"/>
              </a:rPr>
              <a:t>Output Bindings
(выходные)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645920"/>
            <a:ext cx="274320" cy="54864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0" y="1645920"/>
            <a:ext cx="274320" cy="54864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5146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Segoe UI"/>
              </a:rPr>
              <a:t>Примеры входных привязок: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26080"/>
            <a:ext cx="1463040" cy="36576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9626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Blob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98094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Читает файл из Storage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2"/>
            <a:ext cx="1463040" cy="36576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4015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Cosmos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4198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Загружает документ по 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03904"/>
            <a:ext cx="1463040" cy="36576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38404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HTTP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8587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Читает тело запроса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42816"/>
            <a:ext cx="1463040" cy="36576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427939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SignalR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29768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Получает данные клиента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51460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  <a:latin typeface="Segoe UI"/>
              </a:rPr>
              <a:t>Примеры выходных привязок: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2926080"/>
            <a:ext cx="1737360" cy="36576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15400" y="29626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Queue 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98094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Помещает сообщение в очередь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3364992"/>
            <a:ext cx="1737360" cy="36576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15400" y="34015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Cosmos 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41985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Записывает документ в БД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3803904"/>
            <a:ext cx="1737360" cy="36576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15400" y="38404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SendGrid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385876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Отправляет email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4242816"/>
            <a:ext cx="1737360" cy="36576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15400" y="42793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SignalR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29768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Segoe UI"/>
              </a:rPr>
              <a:t>Push уведомление клиенту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754880"/>
            <a:ext cx="11430000" cy="731520"/>
          </a:xfrm>
          <a:prstGeom prst="rect">
            <a:avLst/>
          </a:prstGeom>
          <a:solidFill>
            <a:srgbClr val="2A2A3E"/>
          </a:solidFill>
          <a:ln w="254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4800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💡  Привязки — декларативны: никаких явных SDK-вызовов для чтения/записи. Runtime Azure Functions сам создаёт подключения, десериализует данные и передаёт их в метод.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Очереди в Azure — обзор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3000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2834640" cy="5760720"/>
          </a:xfrm>
          <a:prstGeom prst="rect">
            <a:avLst/>
          </a:prstGeom>
          <a:solidFill>
            <a:srgbClr val="2A2A3E"/>
          </a:solidFill>
          <a:ln w="254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2834640" cy="109728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"/>
              </a:rPr>
              <a:t>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361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2ECC71"/>
                </a:solidFill>
                <a:latin typeface="Segoe UI"/>
              </a:rPr>
              <a:t>Azure Storage 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29967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Segoe UI"/>
              </a:rPr>
              <a:t>📏  64 KB / 500 TB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4086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Segoe UI"/>
              </a:rPr>
              <a:t>📅  7 дней (до 7 д.)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517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BCD4"/>
                </a:solidFill>
                <a:latin typeface="Cascadia Code"/>
              </a:rPr>
              <a:t>📦  Azure.Storage.Queues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626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39C12"/>
                </a:solidFill>
                <a:latin typeface="Cascadia Code"/>
              </a:rPr>
              <a:t>[QueueTrigger]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91840"/>
            <a:ext cx="2651760" cy="36576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336499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Простейшая очередь FIFO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68503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REST-based, без отдельного брокера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00507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Максимальная простота и дешевизна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32511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Visibility timeout (до 7 дней)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645151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Poison message → авто переход в -poison очередь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577840"/>
            <a:ext cx="2651760" cy="36576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5650992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39C12"/>
                </a:solidFill>
                <a:latin typeface="Segoe UI"/>
              </a:rPr>
              <a:t>Простые фоновые задачи,
нет гарантий порядка,
малый объём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27832" y="914400"/>
            <a:ext cx="2834640" cy="5760720"/>
          </a:xfrm>
          <a:prstGeom prst="rect">
            <a:avLst/>
          </a:prstGeom>
          <a:solidFill>
            <a:srgbClr val="2A2A3E"/>
          </a:solidFill>
          <a:ln w="254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27832" y="914400"/>
            <a:ext cx="2834640" cy="10972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27832" y="10058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"/>
              </a:rPr>
              <a:t>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1" y="15361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39C12"/>
                </a:solidFill>
                <a:latin typeface="Segoe UI"/>
              </a:rPr>
              <a:t>Azure Service Bus Queue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9272" y="2029967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Segoe UI"/>
              </a:rPr>
              <a:t>📏  256 KB – 100 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9272" y="234086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Segoe UI"/>
              </a:rPr>
              <a:t>📅  до 14 дней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9272" y="26517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BCD4"/>
                </a:solidFill>
                <a:latin typeface="Cascadia Code"/>
              </a:rPr>
              <a:t>📦  Azure.Messaging.ServiceBus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29626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39C12"/>
                </a:solidFill>
                <a:latin typeface="Cascadia Code"/>
              </a:rPr>
              <a:t>[ServiceBusTrigger]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9272" y="3291840"/>
            <a:ext cx="2651760" cy="36576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37560" y="336499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Корпоративный брокер сообщений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368503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Гарантированная доставка (AMQP)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400507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Dead Letter Queue (DLQ) — встроено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32511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Sessions — упорядоченная обработка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4645151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Transactions — атомарность операций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9272" y="5577840"/>
            <a:ext cx="2651760" cy="36576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19272" y="5650992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39C12"/>
                </a:solidFill>
                <a:latin typeface="Segoe UI"/>
              </a:rPr>
              <a:t>Надёжная доставка, финансовые
операции, сложные workflows,
 DLQ нужен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81344" y="914400"/>
            <a:ext cx="2834640" cy="5760720"/>
          </a:xfrm>
          <a:prstGeom prst="rect">
            <a:avLst/>
          </a:prstGeom>
          <a:solidFill>
            <a:srgbClr val="2A2A3E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81344" y="914400"/>
            <a:ext cx="2834640" cy="1097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81344" y="10058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"/>
              </a:rPr>
              <a:t>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27064" y="15361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6B35"/>
                </a:solidFill>
                <a:latin typeface="Segoe UI"/>
              </a:rPr>
              <a:t>Azure Service Bus Topic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2783" y="2029967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Segoe UI"/>
              </a:rPr>
              <a:t>📏  256 KB – 100 MB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72783" y="234086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Segoe UI"/>
              </a:rPr>
              <a:t>📅  до 14 дней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72783" y="26517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BCD4"/>
                </a:solidFill>
                <a:latin typeface="Cascadia Code"/>
              </a:rPr>
              <a:t>📦  Azure.Messaging.ServiceBus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2783" y="29626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39C12"/>
                </a:solidFill>
                <a:latin typeface="Cascadia Code"/>
              </a:rPr>
              <a:t>[ServiceBusTrigger(topic, sub)]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72783" y="3291840"/>
            <a:ext cx="2651760" cy="3657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91072" y="336499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Pub/Sub — 1 сообщение → N подписчиков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91072" y="368503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Подписки с SQL-фильтрами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91072" y="400507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ForwardTo для цепочек подписок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91072" y="432511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Идеально для микросервисов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1072" y="4645151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Можно комбинировать с DLQ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72783" y="5577840"/>
            <a:ext cx="2651760" cy="3657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72783" y="5650992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39C12"/>
                </a:solidFill>
                <a:latin typeface="Segoe UI"/>
              </a:rPr>
              <a:t>Микросервисная шина,
event-driven архитектура,
веерная рассылка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34856" y="914400"/>
            <a:ext cx="2834640" cy="5760720"/>
          </a:xfrm>
          <a:prstGeom prst="rect">
            <a:avLst/>
          </a:prstGeom>
          <a:solidFill>
            <a:srgbClr val="2A2A3E"/>
          </a:solidFill>
          <a:ln w="2540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134856" y="914400"/>
            <a:ext cx="2834640" cy="109728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34856" y="10058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"/>
              </a:rPr>
              <a:t>🌊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0576" y="15361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9B59B6"/>
                </a:solidFill>
                <a:latin typeface="Segoe UI"/>
              </a:rPr>
              <a:t>Azure Event Hubs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26296" y="2029967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Segoe UI"/>
              </a:rPr>
              <a:t>📏  ~1 MB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26296" y="234086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Segoe UI"/>
              </a:rPr>
              <a:t>📅  1-90 дней (capture → ADLS)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26296" y="26517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BCD4"/>
                </a:solidFill>
                <a:latin typeface="Cascadia Code"/>
              </a:rPr>
              <a:t>📦  Azure.Messaging.EventHubs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26296" y="29626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39C12"/>
                </a:solidFill>
                <a:latin typeface="Cascadia Code"/>
              </a:rPr>
              <a:t>[EventHubTrigger]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26296" y="3291840"/>
            <a:ext cx="2651760" cy="36576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244584" y="336499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Потоки событий (stream), до 10M/с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44584" y="368503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Партиции — параллельная обработка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44584" y="400507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Consumer groups — несколько читателей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44584" y="432511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Kafka-совместимый API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44584" y="4645151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• Capture: авто-сохранение в Blob/ADLS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26296" y="5577840"/>
            <a:ext cx="2651760" cy="36576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226296" y="5650992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39C12"/>
                </a:solidFill>
                <a:latin typeface="Segoe UI"/>
              </a:rPr>
              <a:t>Телеметрия IoT, big data,
логи / audit, высокий
трафик событий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Segoe UI"/>
              </a:rPr>
              <a:t>Сравнение очередей — выбор правильного инструмента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3000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914400"/>
            <a:ext cx="2523744" cy="4114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950976"/>
            <a:ext cx="243230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Критерий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914400"/>
            <a:ext cx="2157984" cy="41148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34639" y="950976"/>
            <a:ext cx="206654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Storage Queue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79" y="914400"/>
            <a:ext cx="2157984" cy="41148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199" y="950976"/>
            <a:ext cx="206654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SB Queue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914400"/>
            <a:ext cx="2157984" cy="4114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59" y="950976"/>
            <a:ext cx="206654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SB Topic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2600" y="914400"/>
            <a:ext cx="2157984" cy="41148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0" y="950976"/>
            <a:ext cx="2066543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Event Hubs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325880"/>
            <a:ext cx="252374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" y="1362456"/>
            <a:ext cx="239572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  <a:latin typeface="Segoe UI"/>
              </a:rPr>
              <a:t>Модель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1325880"/>
            <a:ext cx="215798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52927" y="1362456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ECC71"/>
                </a:solidFill>
                <a:latin typeface="Segoe UI"/>
              </a:rPr>
              <a:t>Point-to-Point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79" y="1325880"/>
            <a:ext cx="215798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47488" y="1362456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39C12"/>
                </a:solidFill>
                <a:latin typeface="Segoe UI"/>
              </a:rPr>
              <a:t>Point-to-Point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1325880"/>
            <a:ext cx="215798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42048" y="1362456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35"/>
                </a:solidFill>
                <a:latin typeface="Segoe UI"/>
              </a:rPr>
              <a:t>Pub/Sub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1325880"/>
            <a:ext cx="215798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36608" y="1362456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B59B6"/>
                </a:solidFill>
                <a:latin typeface="Segoe UI"/>
              </a:rPr>
              <a:t>Поток событий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1947672"/>
            <a:ext cx="2523744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2608" y="1984248"/>
            <a:ext cx="239572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  <a:latin typeface="Segoe UI"/>
              </a:rPr>
              <a:t>Гарантия доставки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1947672"/>
            <a:ext cx="2157984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52927" y="1984248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ECC71"/>
                </a:solidFill>
                <a:latin typeface="Segoe UI"/>
              </a:rPr>
              <a:t>At-least-once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79" y="1947672"/>
            <a:ext cx="2157984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47488" y="1984248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39C12"/>
                </a:solidFill>
                <a:latin typeface="Segoe UI"/>
              </a:rPr>
              <a:t>At-least-once
Exactly-once (сес.)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1947672"/>
            <a:ext cx="2157984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42048" y="1984248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35"/>
                </a:solidFill>
                <a:latin typeface="Segoe UI"/>
              </a:rPr>
              <a:t>At-least-once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72600" y="1947672"/>
            <a:ext cx="2157984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36608" y="1984248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B59B6"/>
                </a:solidFill>
                <a:latin typeface="Segoe UI"/>
              </a:rPr>
              <a:t>At-least-once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2569464"/>
            <a:ext cx="252374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2608" y="2606040"/>
            <a:ext cx="239572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  <a:latin typeface="Segoe UI"/>
              </a:rPr>
              <a:t>Размер сообщения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2569464"/>
            <a:ext cx="215798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852927" y="2606040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ECC71"/>
                </a:solidFill>
                <a:latin typeface="Segoe UI"/>
              </a:rPr>
              <a:t>64 KB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79" y="2569464"/>
            <a:ext cx="215798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47488" y="2606040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39C12"/>
                </a:solidFill>
                <a:latin typeface="Segoe UI"/>
              </a:rPr>
              <a:t>256 KB–100 MB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78040" y="2569464"/>
            <a:ext cx="215798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42048" y="2606040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35"/>
                </a:solidFill>
                <a:latin typeface="Segoe UI"/>
              </a:rPr>
              <a:t>256 KB–100 MB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72600" y="2569464"/>
            <a:ext cx="215798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36608" y="2606040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B59B6"/>
                </a:solidFill>
                <a:latin typeface="Segoe UI"/>
              </a:rPr>
              <a:t>~1 MB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191256"/>
            <a:ext cx="2523744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92608" y="3227832"/>
            <a:ext cx="239572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  <a:latin typeface="Segoe UI"/>
              </a:rPr>
              <a:t>Dead Letter Queue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88920" y="3191256"/>
            <a:ext cx="2157984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852927" y="3227832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ECC71"/>
                </a:solidFill>
                <a:latin typeface="Segoe UI"/>
              </a:rPr>
              <a:t>❌ poison queue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83479" y="3191256"/>
            <a:ext cx="2157984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47488" y="3227832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39C12"/>
                </a:solidFill>
                <a:latin typeface="Segoe UI"/>
              </a:rPr>
              <a:t>✅ встроен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78040" y="3191256"/>
            <a:ext cx="2157984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42048" y="3227832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35"/>
                </a:solidFill>
                <a:latin typeface="Segoe UI"/>
              </a:rPr>
              <a:t>✅ встроен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72600" y="3191256"/>
            <a:ext cx="2157984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36608" y="3227832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B59B6"/>
                </a:solidFill>
                <a:latin typeface="Segoe UI"/>
              </a:rPr>
              <a:t>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3813048"/>
            <a:ext cx="252374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92608" y="3849624"/>
            <a:ext cx="239572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  <a:latin typeface="Segoe UI"/>
              </a:rPr>
              <a:t>Sessions / порядок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88920" y="3813048"/>
            <a:ext cx="215798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852927" y="3849624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ECC71"/>
                </a:solidFill>
                <a:latin typeface="Segoe UI"/>
              </a:rPr>
              <a:t>Нет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83479" y="3813048"/>
            <a:ext cx="215798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47488" y="3849624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39C12"/>
                </a:solidFill>
                <a:latin typeface="Segoe UI"/>
              </a:rPr>
              <a:t>✅ Sessions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78040" y="3813048"/>
            <a:ext cx="215798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42048" y="3849624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35"/>
                </a:solidFill>
                <a:latin typeface="Segoe UI"/>
              </a:rPr>
              <a:t>✅ Sessions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72600" y="3813048"/>
            <a:ext cx="215798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436608" y="3849624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B59B6"/>
                </a:solidFill>
                <a:latin typeface="Segoe UI"/>
              </a:rPr>
              <a:t>Партиции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4434840"/>
            <a:ext cx="2523744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92608" y="4471416"/>
            <a:ext cx="239572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  <a:latin typeface="Segoe UI"/>
              </a:rPr>
              <a:t>Пропускная способность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88920" y="4434840"/>
            <a:ext cx="2157984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852927" y="4471416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ECC71"/>
                </a:solidFill>
                <a:latin typeface="Segoe UI"/>
              </a:rPr>
              <a:t>Высокая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83479" y="4434840"/>
            <a:ext cx="2157984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047488" y="4471416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39C12"/>
                </a:solidFill>
                <a:latin typeface="Segoe UI"/>
              </a:rPr>
              <a:t>Высокая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78040" y="4434840"/>
            <a:ext cx="2157984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242048" y="4471416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B35"/>
                </a:solidFill>
                <a:latin typeface="Segoe UI"/>
              </a:rPr>
              <a:t>Высокая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72600" y="4434840"/>
            <a:ext cx="2157984" cy="585216"/>
          </a:xfrm>
          <a:prstGeom prst="rect">
            <a:avLst/>
          </a:prstGeom>
          <a:solidFill>
            <a:srgbClr val="222238"/>
          </a:solidFill>
          <a:ln w="1016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436608" y="4471416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 dirty="0" err="1">
                <a:solidFill>
                  <a:srgbClr val="9B59B6"/>
                </a:solidFill>
                <a:latin typeface="Segoe UI"/>
              </a:rPr>
              <a:t>Экстремальная</a:t>
            </a:r>
            <a:endParaRPr sz="115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28600" y="5056632"/>
            <a:ext cx="252374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1E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92608" y="5093208"/>
            <a:ext cx="239572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  <a:latin typeface="Segoe UI"/>
              </a:rPr>
              <a:t>Подходит для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88920" y="5056632"/>
            <a:ext cx="215798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852927" y="5093208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 dirty="0" err="1">
                <a:solidFill>
                  <a:srgbClr val="2ECC71"/>
                </a:solidFill>
                <a:latin typeface="Segoe UI"/>
              </a:rPr>
              <a:t>Простые</a:t>
            </a:r>
            <a:r>
              <a:rPr sz="1150" b="0" i="0" dirty="0">
                <a:solidFill>
                  <a:srgbClr val="2ECC71"/>
                </a:solidFill>
                <a:latin typeface="Segoe UI"/>
              </a:rPr>
              <a:t> </a:t>
            </a:r>
            <a:r>
              <a:rPr sz="1150" b="0" i="0" dirty="0" err="1">
                <a:solidFill>
                  <a:srgbClr val="2ECC71"/>
                </a:solidFill>
                <a:latin typeface="Segoe UI"/>
              </a:rPr>
              <a:t>задачи</a:t>
            </a:r>
            <a:endParaRPr sz="1150" b="0" i="0" dirty="0">
              <a:solidFill>
                <a:srgbClr val="2ECC71"/>
              </a:solidFill>
              <a:latin typeface="Segoe UI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4983479" y="5056632"/>
            <a:ext cx="215798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047488" y="5093208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39C12"/>
                </a:solidFill>
                <a:latin typeface="Segoe UI"/>
              </a:rPr>
              <a:t>Надёжная бизнес-
логика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78040" y="5056632"/>
            <a:ext cx="215798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42048" y="5093208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 dirty="0" err="1">
                <a:solidFill>
                  <a:srgbClr val="FF6B35"/>
                </a:solidFill>
                <a:latin typeface="Segoe UI"/>
              </a:rPr>
              <a:t>Микросервисы</a:t>
            </a:r>
            <a:r>
              <a:rPr sz="1150" b="0" i="0" dirty="0">
                <a:solidFill>
                  <a:srgbClr val="FF6B35"/>
                </a:solidFill>
                <a:latin typeface="Segoe UI"/>
              </a:rPr>
              <a:t>
Event-driven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72600" y="5056632"/>
            <a:ext cx="2157984" cy="585216"/>
          </a:xfrm>
          <a:prstGeom prst="rect">
            <a:avLst/>
          </a:prstGeom>
          <a:solidFill>
            <a:srgbClr val="2A2A3E"/>
          </a:solidFill>
          <a:ln w="1016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436608" y="5093208"/>
            <a:ext cx="202996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 dirty="0">
                <a:solidFill>
                  <a:srgbClr val="9B59B6"/>
                </a:solidFill>
                <a:latin typeface="Segoe UI"/>
              </a:rPr>
              <a:t>IoT, big data
</a:t>
            </a:r>
            <a:r>
              <a:rPr sz="1150" b="0" i="0" dirty="0" err="1">
                <a:solidFill>
                  <a:srgbClr val="9B59B6"/>
                </a:solidFill>
                <a:latin typeface="Segoe UI"/>
              </a:rPr>
              <a:t>стриминг</a:t>
            </a:r>
            <a:endParaRPr sz="1150" b="0" i="0" dirty="0">
              <a:solidFill>
                <a:srgbClr val="9B59B6"/>
              </a:solidFill>
              <a:latin typeface="Segoe UI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C# примеры работы с очередями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3000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3794760" cy="2606040"/>
          </a:xfrm>
          <a:prstGeom prst="rect">
            <a:avLst/>
          </a:prstGeom>
          <a:solidFill>
            <a:srgbClr val="12121F"/>
          </a:solidFill>
          <a:ln w="2286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3794760" cy="347472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950976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Storage Queue — отправка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325880"/>
            <a:ext cx="3566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D4DA"/>
                </a:solidFill>
                <a:latin typeface="Cascadia Code"/>
              </a:rPr>
              <a:t>var client = new QueueClient(
    connectionString, "orders-queue");
await client.SendMessageAsync(
    BinaryData.FromObjectAsJson(order));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914400"/>
            <a:ext cx="3794760" cy="2606040"/>
          </a:xfrm>
          <a:prstGeom prst="rect">
            <a:avLst/>
          </a:prstGeom>
          <a:solidFill>
            <a:srgbClr val="12121F"/>
          </a:solidFill>
          <a:ln w="2286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914400"/>
            <a:ext cx="3794760" cy="347472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59" y="950976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Storage Queue — триггер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325880"/>
            <a:ext cx="3566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D4DA"/>
                </a:solidFill>
                <a:latin typeface="Cascadia Code"/>
              </a:rPr>
              <a:t>[Function("ProcessQueue")]
public void Run(
    [QueueTrigger("orders-queue")]
    OrderDto order,
    FunctionContext ctx) { ...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914400"/>
            <a:ext cx="3794760" cy="2606040"/>
          </a:xfrm>
          <a:prstGeom prst="rect">
            <a:avLst/>
          </a:prstGeom>
          <a:solidFill>
            <a:srgbClr val="12121F"/>
          </a:solidFill>
          <a:ln w="2286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914400"/>
            <a:ext cx="3794760" cy="34747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950976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Service Bus — отправка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325880"/>
            <a:ext cx="3566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D4DA"/>
                </a:solidFill>
                <a:latin typeface="Cascadia Code"/>
              </a:rPr>
              <a:t>await using var client =
    new ServiceBusClient(connStr);
var sender = client.CreateSender("orders");
await sender.SendMessageAsync(
    new ServiceBusMessage(body));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57600"/>
            <a:ext cx="3794760" cy="2606040"/>
          </a:xfrm>
          <a:prstGeom prst="rect">
            <a:avLst/>
          </a:prstGeom>
          <a:solidFill>
            <a:srgbClr val="12121F"/>
          </a:solidFill>
          <a:ln w="2286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657600"/>
            <a:ext cx="3794760" cy="34747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694176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Service Bus — триггер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069080"/>
            <a:ext cx="3566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D4DA"/>
                </a:solidFill>
                <a:latin typeface="Cascadia Code"/>
              </a:rPr>
              <a:t>[Function("ProcessOrder")]
public void Run(
    [ServiceBusTrigger("orders",
        Connection = "SBConn")]
    ServiceBusReceivedMessage msg) { ... 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657600"/>
            <a:ext cx="3794760" cy="2606040"/>
          </a:xfrm>
          <a:prstGeom prst="rect">
            <a:avLst/>
          </a:prstGeom>
          <a:solidFill>
            <a:srgbClr val="12121F"/>
          </a:solidFill>
          <a:ln w="2286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0520" y="3657600"/>
            <a:ext cx="3794760" cy="347472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51959" y="3694176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Event Hubs — триггер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069080"/>
            <a:ext cx="3566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D4DA"/>
                </a:solidFill>
                <a:latin typeface="Cascadia Code"/>
              </a:rPr>
              <a:t>[Function("ProcessTelemetry")]
public void Run(
    [EventHubTrigger("telemetry",
        Connection = "EHConn")]
    EventData[] events) { ... 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657600"/>
            <a:ext cx="3794760" cy="2606040"/>
          </a:xfrm>
          <a:prstGeom prst="rect">
            <a:avLst/>
          </a:prstGeom>
          <a:solidFill>
            <a:srgbClr val="12121F"/>
          </a:solidFill>
          <a:ln w="2286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0" y="3657600"/>
            <a:ext cx="3794760" cy="34747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3694176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Service Bus Topic — подписка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069080"/>
            <a:ext cx="3566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D4DA"/>
                </a:solidFill>
                <a:latin typeface="Cascadia Code"/>
              </a:rPr>
              <a:t>[Function("OrderNotifier")]
public void Run(
    [ServiceBusTrigger("orders",
        "email-subscription",
        Connection = "SBConn")]
    string messageBody) { ...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Best Practices: Azure Functions + C#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3000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577840" cy="2468880"/>
          </a:xfrm>
          <a:prstGeom prst="rect">
            <a:avLst/>
          </a:prstGeom>
          <a:solidFill>
            <a:srgbClr val="2A2A3E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5577840" cy="38404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969264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🏗️  Архитектура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389888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▸  Используйте .NET 8 Isolated Process — полная поддержка DI и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2880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▸  Регистрируйте зависимости в Program.cs через builder.Services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67712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▸  Один класс = одна функция или связанные функции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706624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▸  Избегайте статического состояния — функции могут масштабироваться горизонтально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14400"/>
            <a:ext cx="5577840" cy="2468880"/>
          </a:xfrm>
          <a:prstGeom prst="rect">
            <a:avLst/>
          </a:prstGeom>
          <a:solidFill>
            <a:srgbClr val="2A2A3E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89320" y="914400"/>
            <a:ext cx="5577840" cy="384048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59" y="969264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⚡  Производительность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389888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▸  Используйте async/await везде — не блокируйте поток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82880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▸  Переиспользуйте HttpClient через IHttpClientFactory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267712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▸  Consumption Plan: избегайте cold start через Premium или App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706624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▸  Батчинг: EventHubTrigger и QueueTrigger поддерживают массивы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20440"/>
            <a:ext cx="5577840" cy="2468880"/>
          </a:xfrm>
          <a:prstGeom prst="rect">
            <a:avLst/>
          </a:prstGeom>
          <a:solidFill>
            <a:srgbClr val="2A2A3E"/>
          </a:solidFill>
          <a:ln w="1905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3520440"/>
            <a:ext cx="5577840" cy="38404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575304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🔒  Надёжность и ошибки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3995928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▸  Для важных задач: Service Bus + DLQ вместо Storage Queue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43484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▸  Настройте maxDequeueCount для poison messages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4873752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▸  Используйте idempotent функции — сообщение может прийти дважды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5312664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▸  Structured logging через ILogger&lt;T&gt;, отправляйте в App Insights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3520440"/>
            <a:ext cx="5577840" cy="2468880"/>
          </a:xfrm>
          <a:prstGeom prst="rect">
            <a:avLst/>
          </a:prstGeom>
          <a:solidFill>
            <a:srgbClr val="2A2A3E"/>
          </a:solidFill>
          <a:ln w="1905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89320" y="3520440"/>
            <a:ext cx="5577840" cy="384048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80759" y="3575304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🔧  Конфигурация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995928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▸  Храните строки подключения в Azure Key Vault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43484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▸  Используйте Managed Identity вместо Connection String где возможно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873752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▸  local.settings.json — только для локальной разработки, не в git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312664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▸  Разделяйте окружения через слоты (Staging / Production)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Типовая архитектура: C# + Azure Functions + БД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1143000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554480" cy="731520"/>
          </a:xfrm>
          <a:prstGeom prst="rect">
            <a:avLst/>
          </a:prstGeom>
          <a:solidFill>
            <a:srgbClr val="2A2A3E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1463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🌐 Client
(React / Mobile</a:t>
            </a:r>
            <a:r>
              <a:rPr lang="en-US" sz="1200" b="0" i="0">
                <a:solidFill>
                  <a:srgbClr val="FFFFFF"/>
                </a:solidFill>
                <a:latin typeface="Segoe UI"/>
              </a:rPr>
              <a:t> / PC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417320"/>
            <a:ext cx="548640" cy="54864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01952" y="126187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Segoe UI"/>
              </a:rPr>
              <a:t>HTTP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097280"/>
            <a:ext cx="1554480" cy="731520"/>
          </a:xfrm>
          <a:prstGeom prst="rect">
            <a:avLst/>
          </a:prstGeom>
          <a:solidFill>
            <a:srgbClr val="2A2A3E"/>
          </a:solidFill>
          <a:ln w="254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4600" y="11430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CD4"/>
                </a:solidFill>
                <a:latin typeface="Segoe UI"/>
              </a:rPr>
              <a:t>🔀 API
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417320"/>
            <a:ext cx="548640" cy="54864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896112"/>
            <a:ext cx="3017520" cy="5303520"/>
          </a:xfrm>
          <a:prstGeom prst="rect">
            <a:avLst/>
          </a:prstGeom>
          <a:solidFill>
            <a:srgbClr val="2A2A3E"/>
          </a:solidFill>
          <a:ln w="317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63440" y="896112"/>
            <a:ext cx="3017520" cy="38404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914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⚡ Azure Functions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371600"/>
            <a:ext cx="2834640" cy="777240"/>
          </a:xfrm>
          <a:prstGeom prst="rect">
            <a:avLst/>
          </a:prstGeom>
          <a:solidFill>
            <a:srgbClr val="1E1E2E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144475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8D4"/>
                </a:solidFill>
                <a:latin typeface="Segoe UI"/>
              </a:rPr>
              <a:t>HTTP Function
(REST API)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286000"/>
            <a:ext cx="2834640" cy="777240"/>
          </a:xfrm>
          <a:prstGeom prst="rect">
            <a:avLst/>
          </a:prstGeom>
          <a:solidFill>
            <a:srgbClr val="1E1E2E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235915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  <a:latin typeface="Segoe UI"/>
              </a:rPr>
              <a:t>Queue Function
(Background)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200400"/>
            <a:ext cx="2834640" cy="777240"/>
          </a:xfrm>
          <a:prstGeom prst="rect">
            <a:avLst/>
          </a:prstGeom>
          <a:solidFill>
            <a:srgbClr val="1E1E2E"/>
          </a:solidFill>
          <a:ln w="1905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0600" y="327355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39C12"/>
                </a:solidFill>
                <a:latin typeface="Segoe UI"/>
              </a:rPr>
              <a:t>Timer Function
(Scheduled)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4114800"/>
            <a:ext cx="2834640" cy="777240"/>
          </a:xfrm>
          <a:prstGeom prst="rect">
            <a:avLst/>
          </a:prstGeom>
          <a:solidFill>
            <a:srgbClr val="1E1E2E"/>
          </a:solidFill>
          <a:ln w="1905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4187952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B59B6"/>
                </a:solidFill>
                <a:latin typeface="Segoe UI"/>
              </a:rPr>
              <a:t>CosmosDB Function
(Change feed)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914400"/>
            <a:ext cx="2011680" cy="749808"/>
          </a:xfrm>
          <a:prstGeom prst="rect">
            <a:avLst/>
          </a:prstGeom>
          <a:solidFill>
            <a:srgbClr val="2A2A3E"/>
          </a:solidFill>
          <a:ln w="2286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82712" y="96926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  <a:latin typeface="Segoe UI"/>
              </a:rPr>
              <a:t>🗃️  Azure SQL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2712" y="1316736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  <a:latin typeface="Segoe UI"/>
              </a:rPr>
              <a:t>OLTP данные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1243584"/>
            <a:ext cx="228600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09560" y="1874519"/>
            <a:ext cx="2011680" cy="749808"/>
          </a:xfrm>
          <a:prstGeom prst="rect">
            <a:avLst/>
          </a:prstGeom>
          <a:solidFill>
            <a:srgbClr val="2A2A3E"/>
          </a:solidFill>
          <a:ln w="2286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82712" y="192938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B6"/>
                </a:solidFill>
                <a:latin typeface="Segoe UI"/>
              </a:rPr>
              <a:t>🌐 Cosmos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2712" y="2276856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  <a:latin typeface="Segoe UI"/>
              </a:rPr>
              <a:t>Документы / события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2203703"/>
            <a:ext cx="228600" cy="54864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09560" y="2834639"/>
            <a:ext cx="2011680" cy="749808"/>
          </a:xfrm>
          <a:prstGeom prst="rect">
            <a:avLst/>
          </a:prstGeom>
          <a:solidFill>
            <a:srgbClr val="2A2A3E"/>
          </a:solidFill>
          <a:ln w="2286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82712" y="2889503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Segoe UI"/>
              </a:rPr>
              <a:t>🐘 PostgreSQL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2712" y="3236975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  <a:latin typeface="Segoe UI"/>
              </a:rPr>
              <a:t>Аналитика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3163823"/>
            <a:ext cx="228600" cy="54864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909560" y="3794759"/>
            <a:ext cx="2011680" cy="749808"/>
          </a:xfrm>
          <a:prstGeom prst="rect">
            <a:avLst/>
          </a:prstGeom>
          <a:solidFill>
            <a:srgbClr val="2A2A3E"/>
          </a:solidFill>
          <a:ln w="2286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82712" y="3849623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"/>
              </a:rPr>
              <a:t>⚡ Redis Cache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82712" y="4197096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  <a:latin typeface="Segoe UI"/>
              </a:rPr>
              <a:t>Кэш / сессии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0" y="4123944"/>
            <a:ext cx="22860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909560" y="4800600"/>
            <a:ext cx="2011680" cy="749808"/>
          </a:xfrm>
          <a:prstGeom prst="rect">
            <a:avLst/>
          </a:prstGeom>
          <a:solidFill>
            <a:srgbClr val="2A2A3E"/>
          </a:solidFill>
          <a:ln w="2286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82712" y="485546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Segoe UI"/>
              </a:rPr>
              <a:t>🚌 Service Bus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82712" y="5166360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  <a:latin typeface="Segoe UI"/>
              </a:rPr>
              <a:t>Очереди / Topics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5120640"/>
            <a:ext cx="228600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0" y="5760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  <a:latin typeface="Segoe UI"/>
              </a:rPr>
              <a:t>← все функции имеют доступ через Bindings 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Итоги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097280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43891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96926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🗄️  Базы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89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▸  Azure SQL DB → надёжный OLTP, ACID, T-SQL — для ERP/CRM в C#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64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▸  Cosmos DB → глобальное NoSQL, мульти-модель — для IoT/каталогов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3969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▸  PostgreSQL → open-source, geo/JSON, EF Core — для стандартного CRUD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▸  Redis → in-memory кэш, Pub/Sub, лидерборды — ускоряет любую архитектуру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26664"/>
            <a:ext cx="11247120" cy="438912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08152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⚡  Azure 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02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▸  Serverless = нет управления сервером, оплата за выполнение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7705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▸  Триггеры + Bindings — декларативная интеграция с Azure сервисами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▸  .NET 8 Isolated + DI + async/await — современный C# стиль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268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▸  Очереди: Storage Queue → просто; SB Queue → надёжно; Event Hubs → масштабно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solidFill>
            <a:srgbClr val="2A2A3E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1447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CD4"/>
                </a:solidFill>
                <a:latin typeface="Segoe UI"/>
              </a:rPr>
              <a:t>🚀  Следующий шаг: создайте Azure Functions App в VS Code с расширением Azure Functions + Azurite (локальный Storage эмулятор)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  <a:latin typeface="Segoe U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2905</Words>
  <Application>Microsoft Office PowerPoint</Application>
  <PresentationFormat>Custom</PresentationFormat>
  <Paragraphs>458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Cascadia Code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Maksim Lioshyn</cp:lastModifiedBy>
  <cp:revision>3</cp:revision>
  <dcterms:created xsi:type="dcterms:W3CDTF">2013-01-27T09:14:16Z</dcterms:created>
  <dcterms:modified xsi:type="dcterms:W3CDTF">2026-05-22T13:27:35Z</dcterms:modified>
  <cp:category/>
</cp:coreProperties>
</file>