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4706" autoAdjust="0"/>
  </p:normalViewPr>
  <p:slideViewPr>
    <p:cSldViewPr snapToGrid="0" snapToObjects="1">
      <p:cViewPr varScale="1">
        <p:scale>
          <a:sx n="37" d="100"/>
          <a:sy n="37" d="100"/>
        </p:scale>
        <p:origin x="2419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533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948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Эта</a:t>
            </a:r>
            <a:r>
              <a:rPr dirty="0"/>
              <a:t> </a:t>
            </a:r>
            <a:r>
              <a:rPr dirty="0" err="1"/>
              <a:t>презентация</a:t>
            </a:r>
            <a:r>
              <a:rPr dirty="0"/>
              <a:t> </a:t>
            </a:r>
            <a:r>
              <a:rPr dirty="0" err="1"/>
              <a:t>построена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единый</a:t>
            </a:r>
            <a:r>
              <a:rPr dirty="0"/>
              <a:t> </a:t>
            </a:r>
            <a:r>
              <a:rPr dirty="0" err="1"/>
              <a:t>учебный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: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контейнеризации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безопасного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и </a:t>
            </a:r>
            <a:r>
              <a:rPr dirty="0" err="1"/>
              <a:t>управления</a:t>
            </a:r>
            <a:r>
              <a:rPr dirty="0"/>
              <a:t> Azure-</a:t>
            </a:r>
            <a:r>
              <a:rPr dirty="0" err="1"/>
              <a:t>средой</a:t>
            </a:r>
            <a:r>
              <a:rPr dirty="0"/>
              <a:t>. </a:t>
            </a:r>
            <a:r>
              <a:rPr dirty="0" err="1"/>
              <a:t>Материал</a:t>
            </a:r>
            <a:r>
              <a:rPr dirty="0"/>
              <a:t> </a:t>
            </a:r>
            <a:r>
              <a:rPr dirty="0" err="1"/>
              <a:t>подходит</a:t>
            </a:r>
            <a:r>
              <a:rPr dirty="0"/>
              <a:t> и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студентов</a:t>
            </a:r>
            <a:r>
              <a:rPr dirty="0"/>
              <a:t>, и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практикующих</a:t>
            </a:r>
            <a:r>
              <a:rPr dirty="0"/>
              <a:t> IT-</a:t>
            </a:r>
            <a:r>
              <a:rPr dirty="0" err="1"/>
              <a:t>специалистов</a:t>
            </a:r>
            <a:r>
              <a:rPr dirty="0"/>
              <a:t>, </a:t>
            </a:r>
            <a:r>
              <a:rPr dirty="0" err="1"/>
              <a:t>потому</a:t>
            </a:r>
            <a:r>
              <a:rPr dirty="0"/>
              <a:t> что </a:t>
            </a:r>
            <a:r>
              <a:rPr dirty="0" err="1"/>
              <a:t>сочетает</a:t>
            </a:r>
            <a:r>
              <a:rPr dirty="0"/>
              <a:t> </a:t>
            </a:r>
            <a:r>
              <a:rPr dirty="0" err="1"/>
              <a:t>теорию</a:t>
            </a:r>
            <a:r>
              <a:rPr dirty="0"/>
              <a:t>, </a:t>
            </a:r>
            <a:r>
              <a:rPr dirty="0" err="1"/>
              <a:t>архитектурные</a:t>
            </a:r>
            <a:r>
              <a:rPr dirty="0"/>
              <a:t> </a:t>
            </a:r>
            <a:r>
              <a:rPr dirty="0" err="1"/>
              <a:t>принципы</a:t>
            </a:r>
            <a:r>
              <a:rPr dirty="0"/>
              <a:t> и </a:t>
            </a:r>
            <a:r>
              <a:rPr dirty="0" err="1"/>
              <a:t>эксплуатационные</a:t>
            </a:r>
            <a:r>
              <a:rPr dirty="0"/>
              <a:t> </a:t>
            </a:r>
            <a:r>
              <a:rPr dirty="0" err="1"/>
              <a:t>сценарии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Ключевая</a:t>
            </a:r>
            <a:r>
              <a:rPr dirty="0"/>
              <a:t> </a:t>
            </a:r>
            <a:r>
              <a:rPr dirty="0" err="1"/>
              <a:t>идея</a:t>
            </a:r>
            <a:r>
              <a:rPr dirty="0"/>
              <a:t> </a:t>
            </a:r>
            <a:r>
              <a:rPr dirty="0" err="1"/>
              <a:t>курса</a:t>
            </a:r>
            <a:r>
              <a:rPr dirty="0"/>
              <a:t>: </a:t>
            </a:r>
            <a:r>
              <a:rPr dirty="0" err="1"/>
              <a:t>современное</a:t>
            </a:r>
            <a:r>
              <a:rPr dirty="0"/>
              <a:t> </a:t>
            </a:r>
            <a:r>
              <a:rPr dirty="0" err="1"/>
              <a:t>облачное</a:t>
            </a:r>
            <a:r>
              <a:rPr dirty="0"/>
              <a:t> </a:t>
            </a: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рассматривать</a:t>
            </a:r>
            <a:r>
              <a:rPr dirty="0"/>
              <a:t> </a:t>
            </a:r>
            <a:r>
              <a:rPr dirty="0" err="1"/>
              <a:t>отдельно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частям</a:t>
            </a:r>
            <a:r>
              <a:rPr dirty="0"/>
              <a:t>. </a:t>
            </a:r>
            <a:r>
              <a:rPr dirty="0" err="1"/>
              <a:t>Контейнеры</a:t>
            </a:r>
            <a:r>
              <a:rPr dirty="0"/>
              <a:t> </a:t>
            </a:r>
            <a:r>
              <a:rPr dirty="0" err="1"/>
              <a:t>отвечают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предсказуемую</a:t>
            </a:r>
            <a:r>
              <a:rPr dirty="0"/>
              <a:t> </a:t>
            </a:r>
            <a:r>
              <a:rPr dirty="0" err="1"/>
              <a:t>доставку</a:t>
            </a:r>
            <a:r>
              <a:rPr dirty="0"/>
              <a:t> </a:t>
            </a:r>
            <a:r>
              <a:rPr dirty="0" err="1"/>
              <a:t>кода</a:t>
            </a:r>
            <a:r>
              <a:rPr dirty="0"/>
              <a:t>, </a:t>
            </a:r>
            <a:r>
              <a:rPr dirty="0" err="1"/>
              <a:t>идентификация</a:t>
            </a:r>
            <a:r>
              <a:rPr dirty="0"/>
              <a:t> и </a:t>
            </a:r>
            <a:r>
              <a:rPr dirty="0" err="1"/>
              <a:t>авторизация</a:t>
            </a:r>
            <a:r>
              <a:rPr dirty="0"/>
              <a:t> </a:t>
            </a:r>
            <a:r>
              <a:rPr dirty="0" err="1"/>
              <a:t>отвечают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безопасность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, а governance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управляемость</a:t>
            </a:r>
            <a:r>
              <a:rPr dirty="0"/>
              <a:t>, </a:t>
            </a:r>
            <a:r>
              <a:rPr dirty="0" err="1"/>
              <a:t>контроль</a:t>
            </a:r>
            <a:r>
              <a:rPr dirty="0"/>
              <a:t> </a:t>
            </a:r>
            <a:r>
              <a:rPr dirty="0" err="1"/>
              <a:t>рисков</a:t>
            </a:r>
            <a:r>
              <a:rPr dirty="0"/>
              <a:t> и </a:t>
            </a:r>
            <a:r>
              <a:rPr dirty="0" err="1"/>
              <a:t>затрат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лекции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отражает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реальный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жизненный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цикл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продукта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Сначала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собираем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доставляем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Docker и Azure Container Registry (ACR).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Microsoft Entra ID и OpenID Connect.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закрепляем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Azure,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экзамена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AZ-900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практической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компании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компромисс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ускоряют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ограничивают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гибкость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гибкие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требуют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зрелости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fundamentals, ACR, and Azure container runtime options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Обсудим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контейнеризации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преимущества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Docker,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ACR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сравнение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вариантов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Azure (App Service, AKS, Container Instances).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понимать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выбор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влияет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масштабируемость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стоимость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эксплуатации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Hands-on path: local compose -&gt; ACR push -&gt; App Service for Containers deployment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Пошаговая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практика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локальная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сборка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тестирование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публикация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ACR,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автоматизированное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развертывание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Azure App Service.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Покажем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CI/CD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ошибок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переходе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production.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Entra ID, OpenID Connect, app registration, and B2B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Разберём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интегрировать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авторизацию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помощью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Entra ID и OpenID Connect.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Поясним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регистрация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B2B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внешних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внутренних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AZ-900 governance: management groups, subscriptions, RBAC, policy, and cost control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Объясним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структуру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Azure: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подписок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политик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Покажем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инструменты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помогают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контролировать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соответствие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требованиям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оптимизировать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расходы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пояснение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изолированные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работающие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ядре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хостовой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ОС,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полноценные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виртуальные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машины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Благодаря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namespace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cgroups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быстро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стартуют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эффективно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состоят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слоёв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влияет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скорость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сборки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надёжность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релизов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 production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digest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идентификации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артефактов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баланс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производительностью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безопасностью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управляемостью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Грамотная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сборкой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напрямую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влияет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скорость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стабильность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production.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 = isolated process group, not a full virtual machine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запускают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изолированные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хостовой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ОС, что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накладные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расходы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сравнению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виртуальными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машинами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Images are layered, immutable artifacts identified by digest and tag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кешируется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сборку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доставку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Digest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криптографический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хэш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уникальность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неизменность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артефакта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критично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production.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Dockerfile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instruction order directly affects cache reuse and CI speed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Порядок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инструкций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Dockerfile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будут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переиспользованы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сборке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Оптимизация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структуры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файла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локальную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разработку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CI/CD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Multi-stage builds reduce attack surface and runtime image size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Multi-stage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сборка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компиляции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включив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финальный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компоненты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уменьшает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размер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Bind mounts are useful in development; immutable images are required in production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разработке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удобно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bind mounts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динамического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обновления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файлов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 production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неизменяемые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идентифицируемые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digest,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повторяемость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надёжность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релизов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command flow: build -&gt; run -&gt; logs -&gt; inspect -&gt; push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жизненный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цикл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сборка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диагностика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публикация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Автоматизация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pipeline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повышает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эффективность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вероятность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ошибок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пояснение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Dockerfile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.NET-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строится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учётом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производительности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сначала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копируются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файлы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эффективного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кеширования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restore,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исходники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publish.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секреты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должны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передаваться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механизмы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Грамотная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структура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Dockerfile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секретами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быстрой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надёжной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защищённой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доставки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.NET-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production.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 from trusted official base images and pin major/minor versions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официальных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актуальных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базовых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уязвимостей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совместимости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Фиксация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версий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mcr.microsoft.com/dotnet/aspnet:8.0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предсказуемость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сборки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 project files strategically to maximize restore layer caching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Сначала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копируются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csproj-файлы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выполняется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restore,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остальные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исходники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publish.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подход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переиспользовать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восстановления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пакетов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изменениях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ускоряя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сборку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CI/CD.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.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dockerignore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avoid shipping source control and build artifacts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Файл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dockerignore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исключает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контекста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сборки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лишние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файлы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.git, bin, obj,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временные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чувствительные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уменьшает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размер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утечки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as non-root when possible and expose only required ports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root-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минимизирует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последствия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возможной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компрометации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Открывайте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ограничить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поверхность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атаки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Externalize configuration via environment variables, never baked-in secrets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Секреты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конфигурация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должны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передаваться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окружения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Azure Key Vault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managed identity.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Никогда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добавляйте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Dockerfile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исходники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привести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утечке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Scan images in CI and apply regular base image patch updates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Регулярное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сканирование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наличие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уязвимостей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помощью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Trivy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Snyk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обновление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базовых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поддержанию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production-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пояснение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docker-compose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описывать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локальную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повторяемость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простоту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минимизирует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различия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окружениями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разработчиков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onboarding.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учитывать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depends_on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порядком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готовность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дополнительных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механизмов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healthchecks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retry-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docker-compose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ключевой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инструмент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стандартизации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локальной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тестирования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грамотной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надёжной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зависимых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Compose defines multi-service topology as code for repeatable local environments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docker-compose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описывает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локального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окружения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декларативно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быстро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одинаково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упрощает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onboarding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участников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вероятность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ошибок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из-за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различий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names become DNS entries inside the compose network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compose-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автоматически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получают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DNS-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обращаться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имени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IP.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делает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конфигурацию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более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переносимой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удобной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масштабирования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.env files for environment-specific overrides and onboarding simplicity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.env-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файлы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вынести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окружения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пределы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compose-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манифеста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облегчая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адаптацию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конфигурации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сценарии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ускоряя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подключение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разработчиков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Profiles can separate minimal vs full-stack local execution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Profiles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возможность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конкретной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экономя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ускоряя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разработку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тестовую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Healthchecks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improve startup reliability for dependent services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Healthchecks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убедиться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действительно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запущен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зависят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компоненты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брокеры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сообщений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 cycle: up, logs, exec, down, and volume cleanup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цикл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compose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включает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анализ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отладку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корректное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завершение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очистку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volume cleanup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Автоматизация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повышает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эффективность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вероятность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ошибок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пояснение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Container Registry (ACR)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приватный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реестр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интегрированный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Azure IAM.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служит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центральной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точкой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поставки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артефактов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контролировать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версии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автоматизацию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доставки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push и pull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компрометации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runtime.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управляемость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автоматизацию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поставки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грамотная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сканирования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минимизирует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production.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 is a private OCI-compliant registry integrated with Azure IAM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ACR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предоставляет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приватное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OCI-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совместимых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интегрируется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Azure Identity &amp; Access Management.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гибко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защищать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артефакты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несанкционированного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 model supports environment and release tagging conventions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Стратегия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именования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репозиториев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тегов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версии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релизов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облегчает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аудит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автоматизацию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отслеживание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продвижения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окружениями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Webhooks can trigger app restarts or deployment automation on push events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Встроенные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webhooks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автоматически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инициировать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обновление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CI/CD-процессов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публикации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сокращая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время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доставки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ручные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 Tasks can build in cloud and remove dependency on local Docker agents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ACR Tasks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сборку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непосредственно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облаке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избавляя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локальные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Docker-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агенты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упрощая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централизованное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managed identity and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AcrPull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runtime services instead of registry passwords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production-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managed identity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AcrPull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предоставляющую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соответствует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принципу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минимальных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привилегий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повышает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trust and scanning workflows reduce software supply-chain risks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Включение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доверия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автоматического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сканирования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наличие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уязвимостей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помогает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защитить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поставки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сторонних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базовых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внешних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зависимостей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пояснение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Жизненный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цикл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должен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строиться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принципе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продвижения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артефакта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(digest)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окружениями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dev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prod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пересборки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устраняет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дрейф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версий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 production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проверенный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артефакт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Retention policy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помогает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хранением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стоимость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аудит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автоматизация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жизненного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цикла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управляемости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корпоративной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инфраструктуры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Disable anonymous pull and enforce least-privilege RBAC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Отключение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анонимного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pull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ограничивает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образам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авторизованными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упрощает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аудит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несанкционированного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артефактов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Separate push and pull identities by responsibility boundary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Разделяйте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учетные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сборки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(push)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(pull)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подход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минимизирует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последствия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компрометации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сторон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соответствует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принципу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наименьших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привилегий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retention policies to clean stale tags and reduce storage costs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Retention policy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автоматически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удаляет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устаревшие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временные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теги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затраты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упрощая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реестром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также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уменьшает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поверхность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атаки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облегчает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аудит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Promote immutable versions across environments instead of rebuilding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продвижения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окружениями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digest,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пересобирайте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идентичность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артефакта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предотвращает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дрейф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окружений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Audit access and image pull patterns for anomaly detection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Регулярный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аудит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pull/push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помогает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выявлять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аномалии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расследовать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инциденты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поддерживать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высокий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Integrate with CI quality gates before publishing production tags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Внедрение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quality gates в CI/CD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статический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анализ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security checks)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публикации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production-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тегов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минимальный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качества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релизов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пояснение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Выбор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Azure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должен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определяться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реальными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требованиями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нагрузки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SLA,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зрелость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требования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сразу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выбирать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вырост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оптимально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начинать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эволюционно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переходить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более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продвинутым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платформам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роста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потребностей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Рациональный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выбор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операционные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фокусироваться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бизнес-задачах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инфраструктуре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App for Containers: managed PaaS for HTTP workloads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Идеален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быстрого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минимальной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операционной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нагрузкой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Azure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инфраструктурой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масштабированием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обновлениями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сосредоточиться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разработке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Container Instances: fast single-container execution without cluster ops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Подходит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коротким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временем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жизни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нерегулярным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требуется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полноценная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оркестрация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кластерами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стартуют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секунды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Container Apps: managed microservices with event-driven autoscaling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Предлагает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баланс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простотой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PaaS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гибкостью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оркестрации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микросервисную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автоматическое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масштабирование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события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другими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Azure-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Kubernetes Service: full Kubernetes control for complex production systems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Выбор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распределённых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сетями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политиками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масштабированием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жизненным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циклом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микросервисов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высокой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зрелости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готовности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самостоятельному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кластером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dimensions: operational overhead, scaling model, and platform control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Выбор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должен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учитывать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операционные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издержки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масштабирования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требования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SLA,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бюджет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скорость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изменений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универсального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подбирается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конкретные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возможности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пояснение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App for Containers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PaaS-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контейнеризированных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Azure.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инфраструктурой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патчинг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базовый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runtime,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отвечает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конфигурацию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мониторинг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подход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релизы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операционные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правильной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платформенными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возможностями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App for Containers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оптимален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скорость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простота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эксплуатации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инфраструктурой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 containerized web workloads on App Service plan compute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запускаются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вычислительных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ресурсах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 Service Plan.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Масштабирование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возможно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вертикально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(scale-up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увеличение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инстанции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горизонтально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(scale-out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увеличение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инстанций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подобрать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оптимальное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сочетание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стабильной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экономии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бюджета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 image source can be ACR, Docker Hub, or private registry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загрузку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различных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реестров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Azure Container Registry, Docker Hub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приватных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registry.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даёт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гибкость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организации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поставки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интегрировать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существующие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CI/CD.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контролировать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обновления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production.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Built-in TLS termination, deployment slots, and platform diagnostics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Встроенная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TLS-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терминации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подключение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дополнительной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сертификатов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Deployment slots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выкатывать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версии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прогревать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переключения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трафика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Платформенная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диагностика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помогает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быстро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выявлять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устранять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старте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Scale-up changes SKU resources; scale-out increases instance count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Scale-up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увеличивает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вычислительные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инстанции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(CPU, RAM), scale-out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количество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одновременно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работающих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инстанций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отказоустойчивости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производительности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правильно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комбинировать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подхода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WEBSITES_PORT and startup behavior must match application listening port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должен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слушать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указан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переменной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WEBSITES_PORT.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Несовпадение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приведёт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тому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сможет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трафик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даже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успешно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стартовал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fit for teams that prioritize velocity over cluster-level control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Web App for Containers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идеально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подходит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скорость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релизов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минимальная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операционная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нагрузка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глубокий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инфраструктурой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сетями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порог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вывод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продукта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рынок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пояснение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Container Instances (ACI)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serverless-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быстрого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кластерами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Идеально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подходит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разовых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пакетной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обработки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временных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окружений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тестовых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стендов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ограничения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оркестрации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сетевым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возможностям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поэтому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микросервисных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лучше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AKS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Container Apps.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ACI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отличный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выбор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сценариев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скорость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простота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эксплуатации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требуется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оркестрация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глубокая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Serverless container runtime with per-second billing characteristics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В ACI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реализована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serverless-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инфраструктурой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оплата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идёт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фактическое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время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помесячно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посекундно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ответственность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конфигурацию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мониторинг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остаётся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control plane management and no Kubernetes dependency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В ACI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отсутствует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плоскость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(control plane)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зависимости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Kubernetes.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упрощает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эксплуатацию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требования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квалификации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ограничивает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возможности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оркестрации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Supports single container and basic container group scenarios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ACI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одиночных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общими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сетевыми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файловыми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удобно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изолированных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подходит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микросервисных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топологий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Useful for burst workloads, scheduled jobs, and temporary execution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Идеально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подходит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сценариев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непостоянной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нагрузкой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пакетная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обработка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автоматизированные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расписанию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временные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тестовые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миграции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Networking can be public or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VNet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-integrated depending on architecture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могут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интернета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интегрированы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виртуальной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сетью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VNet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внутренним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корпоративным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сервисам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Выбор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зависит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требований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Less suitable for advanced traffic management and long-lived platform patterns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ACI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предназначен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трафиком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blue/green deployment, service mesh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продвинутых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сценариев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долгоживущих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микросервисных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лучше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AKS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Container Apps.</a:t>
            </a:r>
          </a:p>
          <a:p>
            <a:br>
              <a:rPr lang="en-U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пояснение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Kubernetes Service (AKS)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полноценная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построения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эксплуатации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распределённых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AKS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предоставляет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высокий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инфраструктурой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зрелого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подхода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эксплуатации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обновления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мониторинг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становятся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ответственности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подходит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зрелых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высокими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требованиями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гибкости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масштабируемости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надёжности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глубоких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Kubernetes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DevOps.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Managed Kubernetes control plane with configurable node pools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AKS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предоставляет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управляемую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плоскость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Kubernetes (control plane),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настраивать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рабочих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узлов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(node pools)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нагрузки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даёт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гибкость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масштабировании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Pods, deployments, services, and ingress form the runtime abstraction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Kubernetes:</a:t>
            </a:r>
          </a:p>
          <a:p>
            <a:pPr lvl="1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минимальная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развертывания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жизненным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циклом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обновлениями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масштабированием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стабильный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сетевой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pod.</a:t>
            </a:r>
          </a:p>
          <a:p>
            <a:pPr lvl="1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маршрутизирует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HTTP/HTTPS-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трафик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кластера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абстракции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гибкие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надёжные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runtime-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Enables advanced rollout strategies: blue-green and canary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AKS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стратегии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выката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версий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blue-green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параллельный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старой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версии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 canary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постепенное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переключение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трафика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релизах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быстро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откатываться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случае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Supports autoscaling at pod and node levels (HPA and cluster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autoscaler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В AKS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реализовано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автомасштабирование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двух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уровнях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Horizontal Pod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Autoscaler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(HPA)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масштабирует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количество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зависимости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нагрузки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Cluster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Autoscaler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автоматически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удаляет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пуле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оптимальное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 fit for multi-team microservice platforms with strict SLOs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AKS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отлично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подходит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крупных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организаций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строящих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микросервисные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жёсткими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требованиями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производительности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(SLO/SLA).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централизованно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политиками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сетями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 mature operations for observability, security, and upgrade cadence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успешной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эксплуатации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AKS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зрелые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Наблюдаемость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мониторинг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логирование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алертинг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vl="1"/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сетевые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политики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RBAC,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секреты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vl="1"/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Регулярные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обновления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кластер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node pools,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источником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инцидентов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пояснение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иллюстрирует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последовательный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release pipeline: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локальной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автоматического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обновления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Azure.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проводить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валидацию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попадали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production.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учебных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полезно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разбирать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успешные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сценарии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типовые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формирует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навык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диагностики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понимание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поставки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должен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воспроизводимым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прозрачным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диагностика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ошибок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частью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исключением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Dockerfile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validate local runtime behavior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Начните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написания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Dockerfile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убедитесь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корректно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запускается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локально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выявить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раннем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дальнейшую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the stack with docker-compose for repeatable local testing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docker-compose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зависимых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локально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повторяемость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помогает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выявить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публикации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and tag release image for ACR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Соберите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корректно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тегируйте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публикации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ACR.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осмысленные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теги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версию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commit hash)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отслеживания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артефактов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 image to ACR and verify repository state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Опубликуйте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Azure Container Registry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проверьте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появился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правильным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тегом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предотвращает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связанные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неправильными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версиями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отсутствием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Configure Web App for Containers with managed identity and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AcrPull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App for Containers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managed identity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ролью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AcrPull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образам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паролей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соответствует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принципу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минимальных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привилегий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 continuous deployment using registry webhook events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Включите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автоматическое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обновление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появлении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реестре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помощью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webhook.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доставку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изменений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ручные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Практический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совет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Показывайте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идеальный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сценарий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типовые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неправильный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несовпадение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WEBSITES_PORT,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отсутствие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AcrPull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managed identity.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pipeline,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эффективно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диагностировать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устранять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пояснение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чётко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(authentication)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(authorization).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Даже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реализован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надёжно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отсутствие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корректной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авторизации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привести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компрометации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окружения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identity-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должны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развиваться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синхронно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уязвимость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звеньев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ослабляет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авторизации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API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критичны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 Microsoft Entra ID role in enterprise identity architecture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Microsoft Entra ID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ранее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Azure AD)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централизованное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идентификацией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упрощает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аудит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масштабирование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политики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организации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 OpenID Connect sign-in for web applications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OpenID Connect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протокол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web-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построенный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поверх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OAuth 2.0.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интегрировать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точку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современные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механизмы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многофакторной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Configure app registration, redirect URIs, and credentials safely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Корректная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регистрация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Entra ID,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redirect URI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client credentials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атак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redirect URI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могут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привести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уязвимостям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 redirect.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 B2B collaboration for external users with governance controls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Механизм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B2B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предоставлять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внешним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пользователям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партнёрам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подрядчикам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сохранением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централизованного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корпоративных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политик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Validate claims-based authorization behavior in application code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Claims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токене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содержат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информацию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правах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корректно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интерпретировать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claims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принятия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авторизации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персонализации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тестировать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сценарии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предотвращения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эскалации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пояснение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Entra ID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централизованный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облачный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идентичностями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учетные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обрабатывает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выдает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токены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политики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включая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Conditional Access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адаптивного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 ID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фундамент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корпоративной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объединяет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политиками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точку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Centralized identity and access management service in Azure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Entra ID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централизованное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идентификацией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упрощает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аудит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масштабирование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политики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организации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Supports workforce identities, applications, and conditional access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Conditional Access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мощный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инструмент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позволяющий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дополнительные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зависимости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контекста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устройство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местоположение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MFA.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вероятность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компрометации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аккаунтов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автоматизирует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реагирование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подозрительные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попытки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Authentication confirms identity; authorization enforces permissions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(authentication)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подтверждает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личность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авторизация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(authorization)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действия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ему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должны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реализованы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корректно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предотвращения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несанкционированного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эскалации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 standards: OAuth 2.0, OpenID Connect, and SAML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Entra ID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открытые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авторизации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OAuth 2.0, OpenID Connect и SAML.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совместимость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современными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сторонними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также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упрощает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Integrates with app registrations, enterprise apps, and security policy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Entra ID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интегрируется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регистрацией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корпоративными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политиками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Azure.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централизованно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соответствие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требованиям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(compliance).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пояснение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OpenID Connect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web-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Entra ID.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проходит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стороне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Entra,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authorization code,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обменивает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токены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пользовательскую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сессию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различать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токенов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ID token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используется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идентификации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access token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защищённым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приводят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уязвимостям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Понимание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различий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токенами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корректная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redirect URI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корректной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is redirected to Entra sign-in endpoint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попытке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перенаправляется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защищённую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страницу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Entra ID.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ввод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пароля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происходит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доверенной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фишинга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 receives authorization code at registered redirect URI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успешной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Entra ID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перенаправляет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заранее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зарегистрированный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redirect URI,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передавая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authorization code.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redirect URI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защищает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атак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подменой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адреса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утечки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 exchanges code for tokens via secure backchannel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middleware)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защищённому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каналу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(backchannel)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обменивает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authorization code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 token и access token.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предотвращает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перехват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токенов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злоумышленниками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 token establishes user session and identity claims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ID token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содержит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claims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утверждения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email,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т.д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создаёт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сессию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 token is used only for protected downstream APIs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Access token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предназначен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исключительно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обращения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защищённым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Microsoft Graph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собственные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access token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сессии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ведущая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 validation must check signature, issuer, audience, and expiry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обязательно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подпись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токена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издателя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(issuer),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назначение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(audience)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срок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действия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(expiry).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защищает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подделки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токенов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устаревших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украденных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пояснение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 registration в Microsoft Entra ID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доверенную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конфигурацию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идентификаторы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tenant, redirect URI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запрашиваемые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разрешения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Корректная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критична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могут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привести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уязвимостям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сбоям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production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сертификаты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секретов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внедрять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ротации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credentials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аварийным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восстановлением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идентификаторов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redirect URI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credentials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защищённой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Entra ID.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identifiers: Tenant ID, Client ID, and redirect URI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Tenant ID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организацию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Client ID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уникальный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идентификатор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redirect URI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адрес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возврата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Redirect URI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должен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настроен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иначе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отклонит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предотвращая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атаки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подменой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адреса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 setup differs for Web, SPA, and native clients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Конфигурация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регистрации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зависит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клиента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web-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SPA (Single Page Application)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нативные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клиенты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требуют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настроек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redirect URI,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разрешений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Неправильная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привести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сбоям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утечке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токенов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Credentials can be client secret or certificate-based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production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сертификаты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managed identity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client secret,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сертификаты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сложнее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скомпрометировать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credentials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должны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храниться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защищённых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хранилищах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регулярно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ротироваться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minimum API permissions and explicit admin consent flow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запрашивать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минимально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разрешения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чувствительных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требуется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явное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согласие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администратора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(admin consent), что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эскалации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 secrets in Key Vault or secure secret store, never in source control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Секреты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credentials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нельзя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исходном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Dockerfile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Azure Key Vault,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окружения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managed identity.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предотвращает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утечку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компрометации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 credential rotation and break-glass recovery procedures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заранее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планировать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регулярную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ротацию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credentials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аварийный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(break-glass)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восстановления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компрометации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восстановление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пояснение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B2B-сценарий в Microsoft Entra ID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подключать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внешних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партнёров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подрядчиков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гостевые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учетные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ваш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tenant.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централизованный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минимизирует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дублирование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аккаунтов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упрощает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жизненным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циклом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внешних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регулярный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аудит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пересмотр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B2B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баланс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удобством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совместной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строгим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регулярного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пересмотра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мониторинга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подключения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могут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источником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 users are represented as guest identities in your tenant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Внешние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добавляются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гостевые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учетные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(guest identities)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ваш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tenant.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централизованно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корпоративные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политики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 can be assigned through groups and RBAC-aligned app roles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гостям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назначается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согласованные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RBAC (role-based access control).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Четкая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ошибок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несанкционированных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изменений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также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упрощает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изменении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состава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Conditional access can enforce MFA, device trust, and sign-in risk policy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Conditional Access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дополнительные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гостей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многофакторная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(MFA),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доверия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устройства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анализ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географии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вероятность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компрометации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гостевых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аккаунтов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 reviews remove stale guest permissions over time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Регулярные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access review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пересмотр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своевременно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отзывать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устаревшие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избыточные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внешних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предотвращая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накопление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лишних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Audit logs and risky sign-ins support security operations monitoring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Аудит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отслеживание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подозрительных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(risky sign-ins)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помогают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выявлять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аномалии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расследовать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инциденты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поддерживать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высокий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внешними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пользователями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пояснение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Практический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сценарий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должен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охватывать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весь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регистрации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Entra ID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OpenID Connect в ASP.NET Core,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маршрутов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claims.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показать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claims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используются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бизнес-правил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административному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определённой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ролью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связывает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теорию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токенов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реальным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поведением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Участники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должны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увидеть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настраивается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понять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claims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влияют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бизнес-логику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Register web app in Entra and configure callback endpoint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Зарегистрируйте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Entra ID,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укажите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корректный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callback (redirect URI)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возврата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корректную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аутентификационного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Microsoft.Identity.Web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ASP.NET Core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Подключите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библиотеку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Microsoft.Identity.Web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быстрой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OpenID Connect в ASP.NET Core.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упростит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токенами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claims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middleware.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 routes with authorization attributes and policy-based checks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атрибуты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[Authorize]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политики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ограничения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маршрутам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гибко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реализовывать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сценарии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авторизации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Inspect claims to verify identity context and tenant boundaries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анализируйте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claims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токена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идентичности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принадлежности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нужному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tenant.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разграничения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персонализации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функционала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guest sign-in scenario and role-driven access outcomes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Проверьте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сценарии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гостевых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(B2B)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убедитесь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защищённым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разделам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предоставляется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наличии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демонстрирует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claims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реализуют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бизнес-логику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пояснение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экзамена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AZ-900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практической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Azure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понимать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иерархию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Management Group → Subscription → Resource Group → Resource.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структура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применяются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политики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ограничения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связке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RBAC, Policy и Locks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формирует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надёжный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контур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Иерархия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механизмы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централизованно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контролировать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защиту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уровнях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облачной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инфраструктуры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Hierarchy: Management Group → Subscription → Resource Group → Resource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Иерархия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Azure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политик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затрат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выше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Management Group),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шире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действия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организации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Subscriptions define billing and quota boundaries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Подписка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(Subscription)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граница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выставления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счетов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квот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бюджеты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лимитами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изолировать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бизнес-единицы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 groups define lifecycle boundary for related assets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Resource Group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объединяет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связанные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VM,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совместного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жизненным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циклом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развертывание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обновление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удаление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упрощает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организацию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автоматизацию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инфраструктуры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RBAC controls who can do what at each scope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Role-Based Access Control (RBAC)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действия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иерархии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Грамотная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ошибок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несанкционированных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изменений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Policy controls what can be deployed and configured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Azure Policy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задаёт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допустимые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параметры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конфигурации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соответствие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стандартам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корпоративным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требованиям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Политики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автоматически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применяются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выбранных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уровнях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иерархии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 locks protect critical assets from accidental change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Resource Locks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защищают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случайного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удаления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изменения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production-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привести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серьёзным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сбоям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пояснение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Azure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затратами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(cost management)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корпоративное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(governance)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связаны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Теги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бюджеты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алерты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корректная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помогают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контролировать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расходы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распределять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ответственность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предотвращать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Модель shared responsibility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что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отвечает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облачный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провайдер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что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клиент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Эффективное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затратами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возможно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грамотной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организации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прозрачности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владения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своевременном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реагировании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отклонения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бюджета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Tagging enables chargeback, ownership, and governance reporting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Теги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связывать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владельцами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cost center.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облегчает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распределение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затрат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формирование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отчетности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Budgets and alerts provide proactive spend management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Бюджеты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алерты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заранее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отслеживать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перерасход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принимать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окончания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расчетного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периода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неожиданных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затрат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помогает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держать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расходы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vs regional service scope appears in many exam questions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понимать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Azure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предоставляются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глобальном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Azure AD),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региона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виртуальные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машины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влияет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отказоустойчивость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стоимость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Shared responsibility model defines cloud provider vs customer duties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Модель shared responsibility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чётко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разделяет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ответственности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Microsoft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отвечает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доступность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облачной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клиент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защиту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identity,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конфигурацию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Governance is strongest when RBAC, Policy, and cost controls are combined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Максимальная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управляемость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достигается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совместном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использовании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RBAC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действий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Policy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ограничения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параметры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инструментов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затратами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ошибок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несанкционированных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изменений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перерасхода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бюджета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пояснение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финальный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чеклист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удобный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инструмент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подготовки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экзамену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AZ-900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стандартизации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внутренних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IT-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компании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Сначала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закрепить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теорию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архитектурные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взаимосвязи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себя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сценарных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вопросах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закрепить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практикой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Azure Portal и CLI.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компаний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чеклист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мини-проекта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быстрого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качественного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онбординга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сотрудников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Рекомендуемый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Последовательное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прохождение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чеклиста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помогает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подготовиться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экзамену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выстроить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прочную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практическую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Azure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реальных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проектах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Подробный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разбор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слайда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 able to explain container runtime options and tradeoffs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уметь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объяснить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варианты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Azure,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отличаются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компромиссы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связаны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выбором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принятия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архитектурных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оценки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production.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 able to describe OpenID Connect and app registration essentials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понимать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OpenID Connect,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регистрация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Entra ID,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механизмы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обеспечивают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безопасную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web-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 able to map RBAC and Policy decisions to governance outcomes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уметь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связывать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RBAC и Policy с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реальными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области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доступом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соответствия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стандартам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предотвращения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ошибок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инцидентов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Practice portal tasks and short CLI scenarios before AZ-900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Практические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Azure Portal и CLI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закрепляют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теорию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позволяют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уверенно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ориентироваться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интерфейсе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критично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успешной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сдачи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экзамена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дальнейшей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Translate theory into one mini-project: build, deploy, secure, and govern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Лучший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способ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закрепить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мини-проект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собрать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задеплоить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его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Azure,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аутентификацию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Entra ID,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применить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RBAC/Policy и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базовые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механизмы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затрат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использовать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внутренний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онбординга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сотрудников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538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297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317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2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147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228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92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154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9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823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312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31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sz="6000" dirty="0"/>
              <a:t>Azure Containers, Authentication, and AZ-900 Essentials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Docker fundamentals, ACR, and Azure container runtime options</a:t>
            </a:r>
          </a:p>
          <a:p>
            <a:pPr>
              <a:defRPr sz="1700"/>
            </a:pPr>
            <a:r>
              <a:rPr sz="1700" dirty="0"/>
              <a:t>Hands-on path: local compose -&gt; ACR push -&gt; App Service for Containers deployment</a:t>
            </a:r>
          </a:p>
          <a:p>
            <a:pPr>
              <a:defRPr sz="1700"/>
            </a:pPr>
            <a:r>
              <a:rPr sz="1700" dirty="0"/>
              <a:t>Microsoft Entra ID, OpenID Connect, app registration, and B2B</a:t>
            </a:r>
          </a:p>
          <a:p>
            <a:pPr>
              <a:defRPr sz="1700"/>
            </a:pPr>
            <a:r>
              <a:rPr sz="1700" dirty="0"/>
              <a:t>AZ-900 governance: management groups, subscriptions, RBAC, policy, and cost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Fundamentals in 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Container = isolated process group, not a full virtual machine</a:t>
            </a:r>
          </a:p>
          <a:p>
            <a:pPr>
              <a:defRPr sz="1700"/>
            </a:pPr>
            <a:r>
              <a:rPr sz="1700" dirty="0"/>
              <a:t>Images are layered, immutable artifacts identified by digest and tag</a:t>
            </a:r>
          </a:p>
          <a:p>
            <a:pPr>
              <a:defRPr sz="1700"/>
            </a:pPr>
            <a:r>
              <a:rPr sz="1700" dirty="0" err="1"/>
              <a:t>Dockerfile</a:t>
            </a:r>
            <a:r>
              <a:rPr sz="1700" dirty="0"/>
              <a:t> instruction order directly affects cache reuse and CI speed</a:t>
            </a:r>
          </a:p>
          <a:p>
            <a:pPr>
              <a:defRPr sz="1700"/>
            </a:pPr>
            <a:r>
              <a:rPr sz="1700" dirty="0"/>
              <a:t>Multi-stage builds reduce attack surface and runtime image size</a:t>
            </a:r>
          </a:p>
          <a:p>
            <a:pPr>
              <a:defRPr sz="1700"/>
            </a:pPr>
            <a:r>
              <a:rPr sz="1700" dirty="0"/>
              <a:t>Bind mounts are useful in development; immutable images are required in production</a:t>
            </a:r>
          </a:p>
          <a:p>
            <a:pPr>
              <a:defRPr sz="1700"/>
            </a:pPr>
            <a:r>
              <a:rPr sz="1700" dirty="0"/>
              <a:t>Core command flow: build -&gt; run -&gt; logs -&gt; inspect -&gt; push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Dockerfile Engineering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Start from trusted official base images and pin major/minor versions</a:t>
            </a:r>
          </a:p>
          <a:p>
            <a:pPr>
              <a:defRPr sz="1700"/>
            </a:pPr>
            <a:r>
              <a:rPr sz="1700" dirty="0"/>
              <a:t>Copy project files strategically to maximize restore layer caching</a:t>
            </a:r>
          </a:p>
          <a:p>
            <a:pPr>
              <a:defRPr sz="1700"/>
            </a:pPr>
            <a:r>
              <a:rPr sz="1700" dirty="0"/>
              <a:t>Use .</a:t>
            </a:r>
            <a:r>
              <a:rPr sz="1700" dirty="0" err="1"/>
              <a:t>dockerignore</a:t>
            </a:r>
            <a:r>
              <a:rPr sz="1700" dirty="0"/>
              <a:t> to avoid shipping source control and build artifacts</a:t>
            </a:r>
          </a:p>
          <a:p>
            <a:pPr>
              <a:defRPr sz="1700"/>
            </a:pPr>
            <a:r>
              <a:rPr sz="1700" dirty="0"/>
              <a:t>Run as non-root when possible and expose only required ports</a:t>
            </a:r>
          </a:p>
          <a:p>
            <a:pPr>
              <a:defRPr sz="1700"/>
            </a:pPr>
            <a:r>
              <a:rPr sz="1700" dirty="0"/>
              <a:t>Externalize configuration via environment variables, never baked-in secrets</a:t>
            </a:r>
          </a:p>
          <a:p>
            <a:pPr>
              <a:defRPr sz="1700"/>
            </a:pPr>
            <a:r>
              <a:rPr sz="1700" dirty="0"/>
              <a:t>Scan images in CI and apply regular base image patch updates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docker-compose for Local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Compose defines multi-service topology as code for repeatable local environments</a:t>
            </a:r>
          </a:p>
          <a:p>
            <a:pPr>
              <a:defRPr sz="1700"/>
            </a:pPr>
            <a:r>
              <a:rPr sz="1700" dirty="0"/>
              <a:t>Service names become DNS entries inside the compose network</a:t>
            </a:r>
          </a:p>
          <a:p>
            <a:pPr>
              <a:defRPr sz="1700"/>
            </a:pPr>
            <a:r>
              <a:rPr sz="1700" dirty="0"/>
              <a:t>Use .env files for environment-specific overrides and onboarding simplicity</a:t>
            </a:r>
          </a:p>
          <a:p>
            <a:pPr>
              <a:defRPr sz="1700"/>
            </a:pPr>
            <a:r>
              <a:rPr sz="1700" dirty="0"/>
              <a:t>Profiles can separate minimal vs full-stack local execution</a:t>
            </a:r>
          </a:p>
          <a:p>
            <a:pPr>
              <a:defRPr sz="1700"/>
            </a:pPr>
            <a:r>
              <a:rPr sz="1700" dirty="0" err="1"/>
              <a:t>Healthchecks</a:t>
            </a:r>
            <a:r>
              <a:rPr sz="1700" dirty="0"/>
              <a:t> improve startup reliability for dependent services</a:t>
            </a:r>
          </a:p>
          <a:p>
            <a:pPr>
              <a:defRPr sz="1700"/>
            </a:pPr>
            <a:r>
              <a:rPr sz="1700" dirty="0"/>
              <a:t>Operational cycle: up, logs, exec, down, and volume cleanup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Container Registry (ACR)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ACR is a private OCI-compliant registry integrated with Azure IAM</a:t>
            </a:r>
          </a:p>
          <a:p>
            <a:pPr>
              <a:defRPr sz="1700"/>
            </a:pPr>
            <a:r>
              <a:rPr sz="1700" dirty="0"/>
              <a:t>Repository model supports environment and release tagging conventions</a:t>
            </a:r>
          </a:p>
          <a:p>
            <a:pPr>
              <a:defRPr sz="1700"/>
            </a:pPr>
            <a:r>
              <a:rPr sz="1700" dirty="0"/>
              <a:t>Webhooks can trigger app restarts or deployment automation on push events</a:t>
            </a:r>
          </a:p>
          <a:p>
            <a:pPr>
              <a:defRPr sz="1700"/>
            </a:pPr>
            <a:r>
              <a:rPr sz="1700" dirty="0"/>
              <a:t>ACR Tasks can build in cloud and remove dependency on local Docker agents</a:t>
            </a:r>
          </a:p>
          <a:p>
            <a:pPr>
              <a:defRPr sz="1700"/>
            </a:pPr>
            <a:r>
              <a:rPr sz="1700" dirty="0"/>
              <a:t>Use managed identity and </a:t>
            </a:r>
            <a:r>
              <a:rPr sz="1700" dirty="0" err="1"/>
              <a:t>AcrPull</a:t>
            </a:r>
            <a:r>
              <a:rPr sz="1700" dirty="0"/>
              <a:t> for runtime services instead of registry passwords</a:t>
            </a:r>
          </a:p>
          <a:p>
            <a:pPr>
              <a:defRPr sz="1700"/>
            </a:pPr>
            <a:r>
              <a:rPr sz="1700" dirty="0"/>
              <a:t>Content trust and scanning workflows reduce software supply-chain risks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ACR Security and Lifecycle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Disable anonymous pull and enforce least-privilege RBAC</a:t>
            </a:r>
          </a:p>
          <a:p>
            <a:pPr>
              <a:defRPr sz="1700"/>
            </a:pPr>
            <a:r>
              <a:rPr sz="1700" dirty="0"/>
              <a:t>Separate push and pull identities by responsibility boundary</a:t>
            </a:r>
          </a:p>
          <a:p>
            <a:pPr>
              <a:defRPr sz="1700"/>
            </a:pPr>
            <a:r>
              <a:rPr sz="1700" dirty="0"/>
              <a:t>Use retention policies to clean stale tags and reduce storage costs</a:t>
            </a:r>
          </a:p>
          <a:p>
            <a:pPr>
              <a:defRPr sz="1700"/>
            </a:pPr>
            <a:r>
              <a:rPr sz="1700" dirty="0"/>
              <a:t>Promote immutable versions across environments instead of rebuilding</a:t>
            </a:r>
          </a:p>
          <a:p>
            <a:pPr>
              <a:defRPr sz="1700"/>
            </a:pPr>
            <a:r>
              <a:rPr sz="1700" dirty="0"/>
              <a:t>Audit access and image pull patterns for anomaly detection</a:t>
            </a:r>
          </a:p>
          <a:p>
            <a:pPr>
              <a:defRPr sz="1700"/>
            </a:pPr>
            <a:r>
              <a:rPr sz="1700" dirty="0"/>
              <a:t>Integrate with CI quality gates before publishing production tags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Container Runtime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Web App for Containers: managed PaaS for HTTP workloads</a:t>
            </a:r>
          </a:p>
          <a:p>
            <a:pPr>
              <a:defRPr sz="1700"/>
            </a:pPr>
            <a:r>
              <a:rPr sz="1700" dirty="0"/>
              <a:t>Azure Container Instances: fast single-container execution without cluster ops</a:t>
            </a:r>
          </a:p>
          <a:p>
            <a:pPr>
              <a:defRPr sz="1700"/>
            </a:pPr>
            <a:r>
              <a:rPr sz="1700" dirty="0"/>
              <a:t>Azure Container Apps: managed microservices with event-driven autoscaling</a:t>
            </a:r>
          </a:p>
          <a:p>
            <a:pPr>
              <a:defRPr sz="1700"/>
            </a:pPr>
            <a:r>
              <a:rPr sz="1700" dirty="0"/>
              <a:t>Azure Kubernetes Service: full Kubernetes control for complex production systems</a:t>
            </a:r>
          </a:p>
          <a:p>
            <a:pPr>
              <a:defRPr sz="1700"/>
            </a:pPr>
            <a:r>
              <a:rPr sz="1700" dirty="0"/>
              <a:t>Decision dimensions: operational overhead, scaling model, and platform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 for Containers Theoretical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Runs containerized web workloads on App Service plan compute</a:t>
            </a:r>
          </a:p>
          <a:p>
            <a:pPr>
              <a:defRPr sz="1700"/>
            </a:pPr>
            <a:r>
              <a:rPr sz="1700" dirty="0"/>
              <a:t>Container image source can be ACR, Docker Hub, or private registry</a:t>
            </a:r>
          </a:p>
          <a:p>
            <a:pPr>
              <a:defRPr sz="1700"/>
            </a:pPr>
            <a:r>
              <a:rPr sz="1700" dirty="0"/>
              <a:t>Built-in TLS termination, deployment slots, and platform diagnostics</a:t>
            </a:r>
          </a:p>
          <a:p>
            <a:pPr>
              <a:defRPr sz="1700"/>
            </a:pPr>
            <a:r>
              <a:rPr sz="1700" dirty="0"/>
              <a:t>Scale-up changes SKU resources; scale-out increases instance count</a:t>
            </a:r>
          </a:p>
          <a:p>
            <a:pPr>
              <a:defRPr sz="1700"/>
            </a:pPr>
            <a:r>
              <a:rPr sz="1700" dirty="0"/>
              <a:t>WEBSITES_PORT and startup behavior must match application listening port</a:t>
            </a:r>
          </a:p>
          <a:p>
            <a:pPr>
              <a:defRPr sz="1700"/>
            </a:pPr>
            <a:r>
              <a:rPr sz="1700" dirty="0"/>
              <a:t>Best fit for teams that prioritize velocity over cluster-level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Container Instances (ACI) Theoretical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Serverless container runtime with per-second billing characteristics</a:t>
            </a:r>
          </a:p>
          <a:p>
            <a:pPr>
              <a:defRPr sz="1700"/>
            </a:pPr>
            <a:r>
              <a:rPr sz="1700" dirty="0"/>
              <a:t>No control plane management and no Kubernetes dependency</a:t>
            </a:r>
          </a:p>
          <a:p>
            <a:pPr>
              <a:defRPr sz="1700"/>
            </a:pPr>
            <a:r>
              <a:rPr sz="1700" dirty="0"/>
              <a:t>Supports single container and basic container group scenarios</a:t>
            </a:r>
          </a:p>
          <a:p>
            <a:pPr>
              <a:defRPr sz="1700"/>
            </a:pPr>
            <a:r>
              <a:rPr sz="1700" dirty="0"/>
              <a:t>Useful for burst workloads, scheduled jobs, and temporary execution</a:t>
            </a:r>
          </a:p>
          <a:p>
            <a:pPr>
              <a:defRPr sz="1700"/>
            </a:pPr>
            <a:r>
              <a:rPr sz="1700" dirty="0"/>
              <a:t>Networking can be public or </a:t>
            </a:r>
            <a:r>
              <a:rPr sz="1700" dirty="0" err="1"/>
              <a:t>VNet</a:t>
            </a:r>
            <a:r>
              <a:rPr sz="1700" dirty="0"/>
              <a:t>-integrated depending on architecture</a:t>
            </a:r>
          </a:p>
          <a:p>
            <a:pPr>
              <a:defRPr sz="1700"/>
            </a:pPr>
            <a:r>
              <a:rPr sz="1700" dirty="0"/>
              <a:t>Less suitable for advanced traffic management and long-lived platform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Kubernetes Service (AKS) Theoretical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Managed Kubernetes control plane with configurable node pools</a:t>
            </a:r>
          </a:p>
          <a:p>
            <a:pPr>
              <a:defRPr sz="1700"/>
            </a:pPr>
            <a:r>
              <a:rPr sz="1700" dirty="0"/>
              <a:t>Pods, deployments, services, and ingress form the runtime abstraction</a:t>
            </a:r>
          </a:p>
          <a:p>
            <a:pPr>
              <a:defRPr sz="1700"/>
            </a:pPr>
            <a:r>
              <a:rPr sz="1700" dirty="0"/>
              <a:t>Enables advanced rollout strategies: blue-green and canary</a:t>
            </a:r>
          </a:p>
          <a:p>
            <a:pPr>
              <a:defRPr sz="1700"/>
            </a:pPr>
            <a:r>
              <a:rPr sz="1700" dirty="0"/>
              <a:t>Supports autoscaling at pod and node levels (HPA and cluster </a:t>
            </a:r>
            <a:r>
              <a:rPr sz="1700" dirty="0" err="1"/>
              <a:t>autoscaler</a:t>
            </a:r>
            <a:r>
              <a:rPr sz="1700" dirty="0"/>
              <a:t>)</a:t>
            </a:r>
          </a:p>
          <a:p>
            <a:pPr>
              <a:defRPr sz="1700"/>
            </a:pPr>
            <a:r>
              <a:rPr sz="1700" dirty="0"/>
              <a:t>Strong fit for multi-team microservice platforms with strict SLOs</a:t>
            </a:r>
          </a:p>
          <a:p>
            <a:pPr>
              <a:defRPr sz="1700"/>
            </a:pPr>
            <a:r>
              <a:rPr sz="1700" dirty="0"/>
              <a:t>Requires mature operations for observability, security, and upgrade cadence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Hands-on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Create </a:t>
            </a:r>
            <a:r>
              <a:rPr sz="1700" dirty="0" err="1"/>
              <a:t>Dockerfile</a:t>
            </a:r>
            <a:r>
              <a:rPr sz="1700" dirty="0"/>
              <a:t> and validate local runtime behavior</a:t>
            </a:r>
          </a:p>
          <a:p>
            <a:pPr>
              <a:defRPr sz="1700"/>
            </a:pPr>
            <a:r>
              <a:rPr sz="1700" dirty="0"/>
              <a:t>Run the stack with docker-compose for repeatable local testing</a:t>
            </a:r>
          </a:p>
          <a:p>
            <a:pPr>
              <a:defRPr sz="1700"/>
            </a:pPr>
            <a:r>
              <a:rPr sz="1700" dirty="0"/>
              <a:t>Build and tag release image for ACR</a:t>
            </a:r>
          </a:p>
          <a:p>
            <a:pPr>
              <a:defRPr sz="1700"/>
            </a:pPr>
            <a:r>
              <a:rPr sz="1700" dirty="0"/>
              <a:t>Push image to ACR and verify repository state</a:t>
            </a:r>
          </a:p>
          <a:p>
            <a:pPr>
              <a:defRPr sz="1700"/>
            </a:pPr>
            <a:r>
              <a:rPr sz="1700" dirty="0"/>
              <a:t>Configure Web App for Containers with managed identity and </a:t>
            </a:r>
            <a:r>
              <a:rPr sz="1700" dirty="0" err="1"/>
              <a:t>AcrPull</a:t>
            </a:r>
            <a:endParaRPr sz="1700" dirty="0"/>
          </a:p>
          <a:p>
            <a:pPr>
              <a:defRPr sz="1700"/>
            </a:pPr>
            <a:r>
              <a:rPr sz="1700" dirty="0"/>
              <a:t>Enable continuous deployment using registry webhook events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Learning Goals</a:t>
            </a:r>
            <a:r>
              <a:rPr lang="en-US" dirty="0"/>
              <a:t> Microsoft Entra ID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Understand Microsoft Entra ID role in enterprise identity architecture</a:t>
            </a:r>
          </a:p>
          <a:p>
            <a:pPr>
              <a:defRPr sz="1700"/>
            </a:pPr>
            <a:r>
              <a:rPr sz="1700" dirty="0"/>
              <a:t>Implement OpenID Connect sign-in for web applications</a:t>
            </a:r>
          </a:p>
          <a:p>
            <a:pPr>
              <a:defRPr sz="1700"/>
            </a:pPr>
            <a:r>
              <a:rPr sz="1700" dirty="0"/>
              <a:t>Configure app registration, redirect URIs, and credentials safely</a:t>
            </a:r>
          </a:p>
          <a:p>
            <a:pPr>
              <a:defRPr sz="1700"/>
            </a:pPr>
            <a:r>
              <a:rPr sz="1700" dirty="0"/>
              <a:t>Apply B2B collaboration for external users with governance controls</a:t>
            </a:r>
          </a:p>
          <a:p>
            <a:pPr>
              <a:defRPr sz="1700"/>
            </a:pPr>
            <a:r>
              <a:rPr sz="1700" dirty="0"/>
              <a:t>Validate claims-based authorization behavior in application code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Microsoft Entra ID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Centralized identity and access management service in Azure</a:t>
            </a:r>
          </a:p>
          <a:p>
            <a:pPr>
              <a:defRPr sz="1700"/>
            </a:pPr>
            <a:r>
              <a:rPr sz="1700" dirty="0"/>
              <a:t>Supports workforce identities, applications, and conditional access</a:t>
            </a:r>
          </a:p>
          <a:p>
            <a:pPr>
              <a:defRPr sz="1700"/>
            </a:pPr>
            <a:r>
              <a:rPr sz="1700" dirty="0"/>
              <a:t>Authentication confirms identity; authorization enforces permissions</a:t>
            </a:r>
          </a:p>
          <a:p>
            <a:pPr>
              <a:defRPr sz="1700"/>
            </a:pPr>
            <a:r>
              <a:rPr sz="1700" dirty="0"/>
              <a:t>Open standards: OAuth 2.0, OpenID Connect, and SAML</a:t>
            </a:r>
          </a:p>
          <a:p>
            <a:pPr>
              <a:defRPr sz="1700"/>
            </a:pPr>
            <a:r>
              <a:rPr sz="1700" dirty="0"/>
              <a:t>Integrates with app registrations, enterprise apps, and security policy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OpenID Connect Flow for Web 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User is redirected to Entra sign-in endpoint</a:t>
            </a:r>
          </a:p>
          <a:p>
            <a:pPr>
              <a:defRPr sz="1700"/>
            </a:pPr>
            <a:r>
              <a:rPr sz="1700" dirty="0"/>
              <a:t>App receives authorization code at registered redirect URI</a:t>
            </a:r>
          </a:p>
          <a:p>
            <a:pPr>
              <a:defRPr sz="1700"/>
            </a:pPr>
            <a:r>
              <a:rPr sz="1700" dirty="0"/>
              <a:t>Middleware exchanges code for tokens via secure backchannel</a:t>
            </a:r>
          </a:p>
          <a:p>
            <a:pPr>
              <a:defRPr sz="1700"/>
            </a:pPr>
            <a:r>
              <a:rPr sz="1700" dirty="0"/>
              <a:t>ID token establishes user session and identity claims</a:t>
            </a:r>
          </a:p>
          <a:p>
            <a:pPr>
              <a:defRPr sz="1700"/>
            </a:pPr>
            <a:r>
              <a:rPr sz="1700" dirty="0"/>
              <a:t>Access token is used only for protected downstream APIs</a:t>
            </a:r>
          </a:p>
          <a:p>
            <a:pPr>
              <a:defRPr sz="1700"/>
            </a:pPr>
            <a:r>
              <a:rPr sz="1700" dirty="0"/>
              <a:t>Token validation must check signature, issuer, audience, and expiry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Registration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Core identifiers: Tenant ID, Client ID, and redirect URI</a:t>
            </a:r>
          </a:p>
          <a:p>
            <a:pPr>
              <a:defRPr sz="1700"/>
            </a:pPr>
            <a:r>
              <a:rPr sz="1700" dirty="0"/>
              <a:t>Platform setup differs for Web, SPA, and native clients</a:t>
            </a:r>
          </a:p>
          <a:p>
            <a:pPr>
              <a:defRPr sz="1700"/>
            </a:pPr>
            <a:r>
              <a:rPr sz="1700" dirty="0"/>
              <a:t>Credentials can be client secret or certificate-based</a:t>
            </a:r>
          </a:p>
          <a:p>
            <a:pPr>
              <a:defRPr sz="1700"/>
            </a:pPr>
            <a:r>
              <a:rPr sz="1700" dirty="0"/>
              <a:t>Use minimum API permissions and explicit admin consent flow</a:t>
            </a:r>
          </a:p>
          <a:p>
            <a:pPr>
              <a:defRPr sz="1700"/>
            </a:pPr>
            <a:r>
              <a:rPr sz="1700" dirty="0"/>
              <a:t>Store secrets in Key Vault or secure secret store, never in source control</a:t>
            </a:r>
          </a:p>
          <a:p>
            <a:pPr>
              <a:defRPr sz="1700"/>
            </a:pPr>
            <a:r>
              <a:rPr sz="1700" dirty="0"/>
              <a:t>Plan credential rotation and break-glass recovery procedures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Microsoft Entra ID B2B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External users are represented as guest identities in your tenant</a:t>
            </a:r>
          </a:p>
          <a:p>
            <a:pPr>
              <a:defRPr sz="1700"/>
            </a:pPr>
            <a:r>
              <a:rPr sz="1700" dirty="0"/>
              <a:t>Access can be assigned through groups and RBAC-aligned app roles</a:t>
            </a:r>
          </a:p>
          <a:p>
            <a:pPr>
              <a:defRPr sz="1700"/>
            </a:pPr>
            <a:r>
              <a:rPr sz="1700" dirty="0"/>
              <a:t>Conditional access can enforce MFA, device trust, and sign-in risk policy</a:t>
            </a:r>
          </a:p>
          <a:p>
            <a:pPr>
              <a:defRPr sz="1700"/>
            </a:pPr>
            <a:r>
              <a:rPr sz="1700" dirty="0"/>
              <a:t>Access reviews remove stale guest permissions over time</a:t>
            </a:r>
          </a:p>
          <a:p>
            <a:pPr>
              <a:defRPr sz="1700"/>
            </a:pPr>
            <a:r>
              <a:rPr sz="1700" dirty="0"/>
              <a:t>Audit logs and risky sign-ins support security operations monitoring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Hands-on Path: Authentication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Register web app in Entra and configure callback endpoint</a:t>
            </a:r>
          </a:p>
          <a:p>
            <a:pPr>
              <a:defRPr sz="1700"/>
            </a:pPr>
            <a:r>
              <a:rPr sz="1700" dirty="0"/>
              <a:t>Integrate </a:t>
            </a:r>
            <a:r>
              <a:rPr sz="1700" dirty="0" err="1"/>
              <a:t>Microsoft.Identity.Web</a:t>
            </a:r>
            <a:r>
              <a:rPr sz="1700" dirty="0"/>
              <a:t> in ASP.NET Core</a:t>
            </a:r>
          </a:p>
          <a:p>
            <a:pPr>
              <a:defRPr sz="1700"/>
            </a:pPr>
            <a:r>
              <a:rPr sz="1700" dirty="0"/>
              <a:t>Protect routes with authorization attributes and policy-based checks</a:t>
            </a:r>
          </a:p>
          <a:p>
            <a:pPr>
              <a:defRPr sz="1700"/>
            </a:pPr>
            <a:r>
              <a:rPr sz="1700" dirty="0"/>
              <a:t>Inspect claims to verify identity context and tenant boundaries</a:t>
            </a:r>
          </a:p>
          <a:p>
            <a:pPr>
              <a:defRPr sz="1700"/>
            </a:pPr>
            <a:r>
              <a:rPr sz="1700" dirty="0"/>
              <a:t>Test guest sign-in scenario and role-driven access outcomes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AZ-900 Governance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Hierarchy: Management Group -&gt; Subscription -&gt; Resource Group -&gt; Resource</a:t>
            </a:r>
          </a:p>
          <a:p>
            <a:pPr>
              <a:defRPr sz="1700"/>
            </a:pPr>
            <a:r>
              <a:rPr sz="1700" dirty="0"/>
              <a:t>Subscriptions define billing and quota boundaries</a:t>
            </a:r>
          </a:p>
          <a:p>
            <a:pPr>
              <a:defRPr sz="1700"/>
            </a:pPr>
            <a:r>
              <a:rPr sz="1700" dirty="0"/>
              <a:t>Resource groups define lifecycle boundary for related assets</a:t>
            </a:r>
          </a:p>
          <a:p>
            <a:pPr>
              <a:defRPr sz="1700"/>
            </a:pPr>
            <a:r>
              <a:rPr sz="1700" dirty="0"/>
              <a:t>RBAC controls who can do what at each scope</a:t>
            </a:r>
          </a:p>
          <a:p>
            <a:pPr>
              <a:defRPr sz="1700"/>
            </a:pPr>
            <a:r>
              <a:rPr sz="1700" dirty="0"/>
              <a:t>Azure Policy controls what can be deployed and configured</a:t>
            </a:r>
          </a:p>
          <a:p>
            <a:pPr>
              <a:defRPr sz="1700"/>
            </a:pPr>
            <a:r>
              <a:rPr sz="1700" dirty="0"/>
              <a:t>Resource locks protect critical assets from accidental change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AZ-900 Cost and Control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Tagging enables chargeback, ownership, and governance reporting</a:t>
            </a:r>
          </a:p>
          <a:p>
            <a:pPr>
              <a:defRPr sz="1700"/>
            </a:pPr>
            <a:r>
              <a:rPr sz="1700" dirty="0"/>
              <a:t>Budgets and alerts provide proactive spend management</a:t>
            </a:r>
          </a:p>
          <a:p>
            <a:pPr>
              <a:defRPr sz="1700"/>
            </a:pPr>
            <a:r>
              <a:rPr sz="1700" dirty="0"/>
              <a:t>Global vs regional service scope appears in many exam questions</a:t>
            </a:r>
          </a:p>
          <a:p>
            <a:pPr>
              <a:defRPr sz="1700"/>
            </a:pPr>
            <a:r>
              <a:rPr sz="1700" dirty="0"/>
              <a:t>Shared responsibility model defines cloud provider vs customer duties</a:t>
            </a:r>
          </a:p>
          <a:p>
            <a:pPr>
              <a:defRPr sz="1700"/>
            </a:pPr>
            <a:r>
              <a:rPr sz="1700" dirty="0"/>
              <a:t>Governance is strongest when RBAC, Policy, and cost controls are combined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 and Real-World Readiness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700" dirty="0"/>
              <a:t>Be able to explain container runtime options and tradeoffs</a:t>
            </a:r>
          </a:p>
          <a:p>
            <a:pPr>
              <a:defRPr sz="1700"/>
            </a:pPr>
            <a:r>
              <a:rPr sz="1700" dirty="0"/>
              <a:t>Be able to describe OpenID Connect and app registration essentials</a:t>
            </a:r>
          </a:p>
          <a:p>
            <a:pPr>
              <a:defRPr sz="1700"/>
            </a:pPr>
            <a:r>
              <a:rPr sz="1700" dirty="0"/>
              <a:t>Be able to map RBAC and Policy decisions to governance outcomes</a:t>
            </a:r>
          </a:p>
          <a:p>
            <a:pPr>
              <a:defRPr sz="1700"/>
            </a:pPr>
            <a:r>
              <a:rPr sz="1700" dirty="0"/>
              <a:t>Practice portal tasks and short CLI scenarios before AZ-900</a:t>
            </a:r>
          </a:p>
          <a:p>
            <a:pPr>
              <a:defRPr sz="1700"/>
            </a:pPr>
            <a:r>
              <a:rPr sz="1700" dirty="0"/>
              <a:t>Translate theory into one mini-project: build, deploy, secure, and govern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288</TotalTime>
  <Words>7877</Words>
  <Application>Microsoft Office PowerPoint</Application>
  <PresentationFormat>Widescreen</PresentationFormat>
  <Paragraphs>327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Gill Sans MT</vt:lpstr>
      <vt:lpstr>Gallery</vt:lpstr>
      <vt:lpstr>Azure Containers, Authentication, and AZ-900 Essentials</vt:lpstr>
      <vt:lpstr>Agenda</vt:lpstr>
      <vt:lpstr>Docker Fundamentals in Depth</vt:lpstr>
      <vt:lpstr>Dockerfile Engineering Best Practices</vt:lpstr>
      <vt:lpstr>docker-compose for Local Systems</vt:lpstr>
      <vt:lpstr>Azure Container Registry (ACR) Deep Dive</vt:lpstr>
      <vt:lpstr>ACR Security and Lifecycle Management</vt:lpstr>
      <vt:lpstr>Azure Container Runtime Options</vt:lpstr>
      <vt:lpstr>Web App for Containers Theoretical Model</vt:lpstr>
      <vt:lpstr>Azure Container Instances (ACI) Theoretical Model</vt:lpstr>
      <vt:lpstr>Azure Kubernetes Service (AKS) Theoretical Model</vt:lpstr>
      <vt:lpstr>Hands-on Path</vt:lpstr>
      <vt:lpstr>Learning Goals Microsoft Entra ID </vt:lpstr>
      <vt:lpstr>Microsoft Entra ID Fundamentals</vt:lpstr>
      <vt:lpstr>OpenID Connect Flow for Web Apps</vt:lpstr>
      <vt:lpstr>App Registration Deep Dive</vt:lpstr>
      <vt:lpstr>Microsoft Entra ID B2B Architecture</vt:lpstr>
      <vt:lpstr>Hands-on Path: Authentication Implementation</vt:lpstr>
      <vt:lpstr>AZ-900 Governance Foundation</vt:lpstr>
      <vt:lpstr>AZ-900 Cost and Control Concepts</vt:lpstr>
      <vt:lpstr>Exam and Real-World Readiness Checklist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Maksim Lioshyn</cp:lastModifiedBy>
  <cp:revision>39</cp:revision>
  <dcterms:created xsi:type="dcterms:W3CDTF">2013-01-27T09:14:16Z</dcterms:created>
  <dcterms:modified xsi:type="dcterms:W3CDTF">2026-06-15T15:41:18Z</dcterms:modified>
  <cp:category/>
</cp:coreProperties>
</file>